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총매출</c:v>
                </c:pt>
              </c:strCache>
            </c:strRef>
          </c:tx>
          <c:spPr>
            <a:solidFill>
              <a:srgbClr val="0F2647"/>
            </a:solidFill>
            <a:ln w="31750" cap="flat">
              <a:solidFill>
                <a:srgbClr val="0F26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2647"/>
              </a:solidFill>
              <a:ln w="9525" cap="flat">
                <a:solidFill>
                  <a:srgbClr val="0F26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25.09</c:v>
                  </c:pt>
                  <c:pt idx="1">
                    <c:v>25.10</c:v>
                  </c:pt>
                  <c:pt idx="2">
                    <c:v>25.11</c:v>
                  </c:pt>
                  <c:pt idx="3">
                    <c:v>25.12</c:v>
                  </c:pt>
                  <c:pt idx="4">
                    <c:v>26.01</c:v>
                  </c:pt>
                  <c:pt idx="5">
                    <c:v>26.02</c:v>
                  </c:pt>
                  <c:pt idx="6">
                    <c:v>26.03</c:v>
                  </c:pt>
                  <c:pt idx="7">
                    <c:v>26.04</c:v>
                  </c:pt>
                  <c:pt idx="8">
                    <c:v>26.05</c:v>
                  </c:pt>
                  <c:pt idx="9">
                    <c:v>26.06</c:v>
                  </c:pt>
                  <c:pt idx="10">
                    <c:v>26.07</c:v>
                  </c:pt>
                  <c:pt idx="11">
                    <c:v>26.08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64975620</c:v>
                </c:pt>
                <c:pt idx="1">
                  <c:v>49932380</c:v>
                </c:pt>
                <c:pt idx="2">
                  <c:v>65859345</c:v>
                </c:pt>
                <c:pt idx="3">
                  <c:v>72295610</c:v>
                </c:pt>
                <c:pt idx="4">
                  <c:v>80711800</c:v>
                </c:pt>
                <c:pt idx="5">
                  <c:v>58514650</c:v>
                </c:pt>
                <c:pt idx="6">
                  <c:v>79263285</c:v>
                </c:pt>
                <c:pt idx="7">
                  <c:v>72145145</c:v>
                </c:pt>
                <c:pt idx="8">
                  <c:v>89872065</c:v>
                </c:pt>
                <c:pt idx="9">
                  <c:v>83638555</c:v>
                </c:pt>
                <c:pt idx="10">
                  <c:v>77029450</c:v>
                </c:pt>
                <c:pt idx="11">
                  <c:v>75045580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영업비용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25.09</c:v>
                  </c:pt>
                  <c:pt idx="1">
                    <c:v>25.10</c:v>
                  </c:pt>
                  <c:pt idx="2">
                    <c:v>25.11</c:v>
                  </c:pt>
                  <c:pt idx="3">
                    <c:v>25.12</c:v>
                  </c:pt>
                  <c:pt idx="4">
                    <c:v>26.01</c:v>
                  </c:pt>
                  <c:pt idx="5">
                    <c:v>26.02</c:v>
                  </c:pt>
                  <c:pt idx="6">
                    <c:v>26.03</c:v>
                  </c:pt>
                  <c:pt idx="7">
                    <c:v>26.04</c:v>
                  </c:pt>
                  <c:pt idx="8">
                    <c:v>26.05</c:v>
                  </c:pt>
                  <c:pt idx="9">
                    <c:v>26.06</c:v>
                  </c:pt>
                  <c:pt idx="10">
                    <c:v>26.07</c:v>
                  </c:pt>
                  <c:pt idx="11">
                    <c:v>26.08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88219750</c:v>
                </c:pt>
                <c:pt idx="1">
                  <c:v>86038027</c:v>
                </c:pt>
                <c:pt idx="2">
                  <c:v>62229684</c:v>
                </c:pt>
                <c:pt idx="3">
                  <c:v>67548210</c:v>
                </c:pt>
                <c:pt idx="4">
                  <c:v>70338524</c:v>
                </c:pt>
                <c:pt idx="5">
                  <c:v>82584837</c:v>
                </c:pt>
                <c:pt idx="6">
                  <c:v>70961860</c:v>
                </c:pt>
                <c:pt idx="7">
                  <c:v>63793546</c:v>
                </c:pt>
                <c:pt idx="8">
                  <c:v>59745896</c:v>
                </c:pt>
                <c:pt idx="9">
                  <c:v>76780449</c:v>
                </c:pt>
                <c:pt idx="10">
                  <c:v>94554314</c:v>
                </c:pt>
                <c:pt idx="11">
                  <c:v>73371083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,,&quot;백만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/sessions/happy-laughing-euler/mnt/outputs/ceo_deck/icons/b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9966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경영현황 보고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1년 실적 현황과 개선 방안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2025년 9월 ~ 2026년 8월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진단  →  핵심 이슈  →  개선 방안  →  실행 계획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 2026-09-01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6126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ERP2.0 · 경영보고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보고 드릴 내용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55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109728" cy="141732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029968"/>
            <a:ext cx="822960" cy="822960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9" name="Image 0" descr="/sessions/happy-laughing-euler/mnt/outputs/ceo_deck/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4942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19019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063240" y="18836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현황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063240" y="2423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실적 요약 · 월별 추이 · 비용/거래처 구조 · 확인 필요 이슈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364992"/>
            <a:ext cx="11155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364992"/>
            <a:ext cx="109728" cy="1417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3657600"/>
            <a:ext cx="822960" cy="82296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6" name="Image 1" descr="/sessions/happy-laughing-euler/mnt/outputs/ceo_deck/icon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87705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65960" y="35295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063240" y="351129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방안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063240" y="40507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다각화 · 비용 관리 · 현금흐름 모니터링 · 스크랩 매출 공식화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02920" y="4992624"/>
            <a:ext cx="11155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4992624"/>
            <a:ext cx="109728" cy="1417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18"/>
          <p:cNvSpPr/>
          <p:nvPr/>
        </p:nvSpPr>
        <p:spPr>
          <a:xfrm>
            <a:off x="868680" y="5285232"/>
            <a:ext cx="822960" cy="82296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3" name="Image 2" descr="/sessions/happy-laughing-euler/mnt/outputs/ceo_deck/icons/clipbo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5504688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965960" y="51572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3063240" y="51389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계획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3063240" y="5678424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· 중기 · 장기 과제 정리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현황 · 실적 요약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1년 실적 요약 (2025.09~2026.08)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3566160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09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총매출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869,283,485원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매출 + 스크랩 매출 포함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15087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508760"/>
            <a:ext cx="3566160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709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영업비용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2011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896,166,180원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498848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 실제출금 기준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37576" y="15087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7576" y="1508760"/>
            <a:ext cx="35661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1709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영업손익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2011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(26,882,695)원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66176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미포함 시 (222,706,845)원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11155680" cy="1188720"/>
          </a:xfrm>
          <a:prstGeom prst="rect">
            <a:avLst/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749040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3" name="Image 0" descr="/sessions/happy-laughing-euler/mnt/outputs/ceo_deck/icons/recy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968496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91640" y="3639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스크랩(고철) 매출 신규 확인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91640" y="3977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그동안 파악되지 않았던 우리은행 별도계좌(스크랩 전용)에서 연간 147,824,150원 입금을 확인. 통장 외 현금 수입(월 400만원 추정) 포함 시 연간 약 195,824,150원 규모.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" y="4892040"/>
            <a:ext cx="11155680" cy="1188720"/>
          </a:xfrm>
          <a:prstGeom prst="rect">
            <a:avLst/>
          </a:prstGeom>
          <a:solidFill>
            <a:srgbClr val="E8F5E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5120640"/>
            <a:ext cx="731520" cy="7315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8" name="Image 1" descr="/sessions/happy-laughing-euler/mnt/outputs/ceo_deck/icons/wall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5340096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691640" y="5010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은행 계좌 잔액은 증가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691640" y="53492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하나은행 6,728,340원 → 64,516,597원, 우리은행 8,963,200원 → 19,616,417원 (합산 +68,441,474원). 다만 세무환급·투자자산 매도 등 일회성 유입 영향이 커, 최근 3개월은 현금이 줄어드는 추세입니다 (다음 슬라이드 참고).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현황 · 월별 추이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매출·비용·손익 추이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11155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434840"/>
            <a:ext cx="11155680" cy="1691640"/>
          </a:xfrm>
          <a:prstGeom prst="rect">
            <a:avLst/>
          </a:prstGeom>
          <a:solidFill>
            <a:srgbClr val="FDEBEB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663440"/>
            <a:ext cx="777240" cy="7772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9" name="Image 0" descr="/sessions/happy-laughing-euler/mnt/outputs/ceo_deck/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88289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최근 3개월(6~8월), 현금흐름이 계속 나빠지는 추세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737360" y="4937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합산 현금은 +68,650,474원 증가했지만, 이는 2월 세무환급(+26.2M)과 5월 투자자산 매도(+42.8M) 두 달의 일회성 유입 때문입니다. 이 두 달을 빼면 나머지 10개월 합계는 사실상 0원(-262,343원) 수준이며, 6~8월은 -5,315,233원 → -6,523,747원 → -16,691,484원으로 매달 현금이 줄고 그 폭도 커지고 있습니다.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현황 · 구조 분석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구조 및 거래처 집중도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영업비용 상위 항목 (연간)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669280" cy="26517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005840"/>
              </a:tblGrid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항목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금액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비중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인건비-급여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423,859,400원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이자비용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88,110,056원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인건비-4대보험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73,057,160원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수도광열비-전기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64,929,770원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카드대금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60,680,954원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기타 (23개 항목)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185,528,840원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4652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거래처 집중도 (연간)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783080"/>
          <a:ext cx="5212080" cy="2651760"/>
        </p:xfrm>
        <a:graphic>
          <a:graphicData uri="http://schemas.openxmlformats.org/drawingml/2006/table">
            <a:tbl>
              <a:tblPr/>
              <a:tblGrid>
                <a:gridCol w="3657600"/>
                <a:gridCol w="1554480"/>
              </a:tblGrid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거래처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비중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(주)대한강재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(주)유창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대산공업(주)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정현철강(주)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기타 5개사 (상위8사 내)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외 26개사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9160"/>
            <a:ext cx="11155680" cy="1417320"/>
          </a:xfrm>
          <a:prstGeom prst="rect">
            <a:avLst/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4937760"/>
            <a:ext cx="777240" cy="77724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2" name="Image 0" descr="/sessions/happy-laughing-euler/mnt/outputs/ceo_deck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515721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4846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상위 8개사가 매출의 96.6% — 특히 대한강재 1개사 의존도 60.3%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737360" y="519379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인건비(급여+4대보험) 비중이 55.5%로 고정비 성격 비용이 절반 이상을 차지합니다. 카드대금은 최근 급증 추세로 별도 확인이 필요합니다.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현황 · 확인 필요 이슈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확인이 필요한 항목들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0" descr="/sessions/happy-laughing-euler/mnt/outputs/ceo_deck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6642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대표자(남은우) 관련 특수항목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100,816,970원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46888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대액 출금·정기적금·용도미상 3건. 급여로 단정하지 않고 별도표기, 확인 필요.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4630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4" name="Image 1" descr="/sessions/happy-laughing-euler/mnt/outputs/ceo_deck/icons/balanc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6642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설비투자(CAPEX)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269480" y="2011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130,530,450원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92240" y="246888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라인 도입(호이스트·언코일러·레벨링기계). 비용이 아닌 자산취득으로 이미 처리.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402336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4251960"/>
            <a:ext cx="685800" cy="6858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0" name="Image 2" descr="/sessions/happy-laughing-euler/mnt/outputs/ceo_deck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71416"/>
            <a:ext cx="246888" cy="2468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2245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기타(확인필요) 반복 항목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554480" y="4572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27,215,210원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77240" y="502920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적요만으로 계정과목 특정이 어려운 소액 거래 124건 + 매달 동일 금액 반복되는 5건(578,000원/월).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0" y="402336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46520" y="4251960"/>
            <a:ext cx="685800" cy="6858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6" name="Image 3" descr="/sessions/happy-laughing-euler/mnt/outputs/ceo_deck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471416"/>
            <a:ext cx="246888" cy="246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42245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카드대금 급증 · 4대보험 변동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6492240" y="502920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7→8월 카드대금 3.8배 증가, 국민건강보험료 1,492,360원 감소 — 원인 확인 권장.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2103120"/>
            <a:ext cx="1097280" cy="109728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/sessions/happy-laughing-euler/mnt/outputs/ceo_deck/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23225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방안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진단을 바탕으로 한 4가지 실행 과제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개선방안 ·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거래처 다각화로 의존도 완화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731520"/>
          </a:xfrm>
          <a:prstGeom prst="rect">
            <a:avLst/>
          </a:prstGeom>
          <a:solidFill>
            <a:srgbClr val="EAF0FA"/>
          </a:solidFill>
          <a:ln w="12700">
            <a:solidFill>
              <a:srgbClr val="2D5D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현황: (주)대한강재 1개사 의존도 60.3%, 상위 8개사 96.6% — 특정 거래처 물량 변동 리스크 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457200" cy="45720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41401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2~3위 거래처((주)유창 8.7%, 대산공업 5.6%, 정현철강 5.5%) 대상 추가 물량 제안 및 협의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9125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SLITING/SLITING2/LEVELLING 3개 작업유형 중 LEVELLING(15.2%) 비중 확대 — 신규 라인 활용도 제고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457200" cy="45720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96849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거래처 발굴 목표 설정 (예: 1년 내 상위 1개사 비중 60%→45% 수준으로 완화)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457200" cy="457200"/>
          </a:xfrm>
          <a:prstGeom prst="ellipse">
            <a:avLst/>
          </a:prstGeom>
          <a:solidFill>
            <a:srgbClr val="2D5DA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74573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거래처별 매출 비중을 분기별로 모니터링하는 간단한 대시보드 운영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개선방안 ·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관리 및 항목 재분류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5440680" cy="9144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83080"/>
            <a:ext cx="685800" cy="68580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9" name="Image 0" descr="/sessions/happy-laughing-euler/mnt/outputs/ceo_deck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78308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카드대금 급증 원인 확인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25603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7→8월 3.8배 증가(1,003,383원→3,812,134원) — 사용 내역 검토 및 예산 관리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46304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463040"/>
            <a:ext cx="5440680" cy="9144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1783080"/>
            <a:ext cx="685800" cy="68580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15" name="Image 1" descr="/sessions/happy-laughing-euler/mnt/outputs/ceo_deck/icons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02536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78308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반복되는 미확인 항목 재분류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92240" y="25603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매달 동일 578,000원 반복되는 5건 — 정기 구독/회비로 추정, 정확한 계정과목 확인 후 재분류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402336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4023360"/>
            <a:ext cx="5440680" cy="9144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20" name="Shape 16"/>
          <p:cNvSpPr/>
          <p:nvPr/>
        </p:nvSpPr>
        <p:spPr>
          <a:xfrm>
            <a:off x="731520" y="4343400"/>
            <a:ext cx="685800" cy="68580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21" name="Image 2" descr="/sessions/happy-laughing-euler/mnt/outputs/ceo_deck/icons/balanc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62856"/>
            <a:ext cx="246888" cy="2468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434340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4대보험료 변동 확인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77240" y="51206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국민건강보험료 1,492,360원 감소 — 보수총액 정산 여부 등 담당자 확인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0" y="402336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17920" y="4023360"/>
            <a:ext cx="5440680" cy="91440"/>
          </a:xfrm>
          <a:prstGeom prst="rect">
            <a:avLst/>
          </a:prstGeom>
          <a:solidFill>
            <a:srgbClr val="6B5CA5"/>
          </a:solidFill>
          <a:ln/>
        </p:spPr>
      </p:sp>
      <p:sp>
        <p:nvSpPr>
          <p:cNvPr id="26" name="Shape 21"/>
          <p:cNvSpPr/>
          <p:nvPr/>
        </p:nvSpPr>
        <p:spPr>
          <a:xfrm>
            <a:off x="6446520" y="4343400"/>
            <a:ext cx="685800" cy="685800"/>
          </a:xfrm>
          <a:prstGeom prst="ellipse">
            <a:avLst/>
          </a:prstGeom>
          <a:solidFill>
            <a:srgbClr val="6B5CA5"/>
          </a:solidFill>
          <a:ln/>
        </p:spPr>
      </p:sp>
      <p:pic>
        <p:nvPicPr>
          <p:cNvPr id="27" name="Image 3" descr="/sessions/happy-laughing-euler/mnt/outputs/ceo_deck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562856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69480" y="434340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대표자 관련 항목 정리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492240" y="51206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100,816,970원(3건) — 급여/가지급금/개인자금 여부를 명확히 구분해 회계 처리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개선방안 ·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현금흐름 모니터링 체계화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731520"/>
          </a:xfrm>
          <a:prstGeom prst="rect">
            <a:avLst/>
          </a:prstGeom>
          <a:solidFill>
            <a:srgbClr val="FDEBEB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현황: 최근 3개월(6~8월) 현금이 매달 줄고 있고, 그 폭도 커지는 추세 (3개월 합계 -28,530,464원)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41401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매출·비용·손익·계좌잔액을 한눈에 보는 경영 대시보드 정례화 (매월 1회 보고)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9125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"세무환급·투자자산 매도" 같은 일회성 유입에 기대지 않고, 영업활동만으로 손익분기점 도달 여부를 별도로 추적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96849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 유출 조기 경보 기준선 설정 (예: 2개월 연속 순유출 시 즉시 검토)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74573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매출을 포함한 통합 현금흐름표 작성으로 실제 자금 사정을 더 정확히 파악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개선방안 ·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스크랩(고철) 매출 공식화 및 투명화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731520"/>
          </a:xfrm>
          <a:prstGeom prst="rect">
            <a:avLst/>
          </a:prstGeom>
          <a:solidFill>
            <a:srgbClr val="E8F5E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현황: 연간 약 195,824,150원 규모(은행입금 147,824,150원 + 현금 추정 48,000,000원)이나 회계·세무 처리 여부 불명확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41401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매출을 정식 매출로 인식하여 월별 실적에 반영 (그린ERP 또는 별도 장부에 등록)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9125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통장 외 현금 수입(월 400만원 추정)의 세무 신고 여부 확인 — 미신고 시 가산세 등 리스크 점검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96849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판매대금 입금 계좌를 회사 공식 계좌로 등록하고 자금 흐름을 투명하게 관리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745736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매입처(제일계량증명업소 등)와의 거래를 계량증명서 기준으로 월별 정산·대사(對査)하는 절차 마련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실행 계획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단기 · 중기 · 장기 실행 과제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356616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단기 (1개월 내)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95144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카드대금 급증 원인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63824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4대보험료 변동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32504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86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미확인 항목 5건 재분류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901184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54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계좌 공식 등록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70248" y="150876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0248" y="1508760"/>
            <a:ext cx="3566160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4453128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중기 (3개월 내)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98848" y="2295144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2148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대표자 관련 항목 100.8M 정리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98848" y="3163824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경영 대시보드 정례화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8848" y="4032504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3886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2~3위 거래처 물량 확대 협의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98848" y="4901184"/>
            <a:ext cx="82296" cy="822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4754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 유출 경보 기준선 설정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37576" y="150876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7576" y="1508760"/>
            <a:ext cx="3566160" cy="5029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Text 28"/>
          <p:cNvSpPr/>
          <p:nvPr/>
        </p:nvSpPr>
        <p:spPr>
          <a:xfrm>
            <a:off x="8220456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장기 (6개월 내)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66176" y="2295144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2" name="Text 30"/>
          <p:cNvSpPr/>
          <p:nvPr/>
        </p:nvSpPr>
        <p:spPr>
          <a:xfrm>
            <a:off x="8449056" y="2148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다각화(상위1사 60%→45%)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66176" y="3163824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매출 세무처리 정상화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66176" y="4032504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6" name="Text 34"/>
          <p:cNvSpPr/>
          <p:nvPr/>
        </p:nvSpPr>
        <p:spPr>
          <a:xfrm>
            <a:off x="8449056" y="3886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LEVELLING 비중 확대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66176" y="4901184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8" name="Text 36"/>
          <p:cNvSpPr/>
          <p:nvPr/>
        </p:nvSpPr>
        <p:spPr>
          <a:xfrm>
            <a:off x="8449056" y="4754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1회 회계사 결산 검증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경영현황 보고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2026-09-01T02:39:52Z</dcterms:created>
  <dcterms:modified xsi:type="dcterms:W3CDTF">2026-09-01T02:39:52Z</dcterms:modified>
</cp:coreProperties>
</file>