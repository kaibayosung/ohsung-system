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SMART ERP 2.0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4231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스마트 ERP 2.0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다시 설계한 44년 전통 제조기업의 업무 화면 · 전체 서비스 32선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화면 내 회사명 · 금액 · 수치는 전시를 위한 가상의 예시입니다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한국공학대학교 산학협동관 전시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32  ·  주문접수 자동화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신규서비스 통합 흐름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배차 · 코일확정까지 전체 흐름을 한 화면에서 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엔팩스 FAX 수신함과 AI 자동인식을 그대로 재사용한 v2 통합 버전입니다.</a:t>
            </a:r>
            <a:endParaRPr lang="en-US" sz="1700" dirty="0"/>
          </a:p>
        </p:txBody>
      </p:sp>
      <p:pic>
        <p:nvPicPr>
          <p:cNvPr id="5" name="Image 0" descr="exhibit32v2/order-flow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32  ·  주문접수 자동화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문서인식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주문서 이미지에서 텍스트를 자동으로 읽어냅니다.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필드별 인식 신뢰도를 표시해 낮은 항목은 담당자 확인을 유도합니다.</a:t>
            </a:r>
            <a:endParaRPr lang="en-US" sz="1700" dirty="0"/>
          </a:p>
        </p:txBody>
      </p:sp>
      <p:pic>
        <p:nvPicPr>
          <p:cNvPr id="5" name="Image 0" descr="exhibit32v2/o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32  ·  주문접수 자동화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카카오톡 주문접수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자동으로 접수합니다.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내용을 자동 파싱해 거래처 · 품명 · 중량을 바로 정리합니다.</a:t>
            </a:r>
            <a:endParaRPr lang="en-US" sz="1700" dirty="0"/>
          </a:p>
        </p:txBody>
      </p:sp>
      <p:pic>
        <p:nvPicPr>
          <p:cNvPr id="5" name="Image 0" descr="exhibit32v2/kak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32  ·  주문접수 자동화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FAX 작업요청서 접수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팩스로 온 작업요청서를 자동 인식해 초안을 만듭니다.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운영 중인 엔팩스 수신함 데이터를 그대로 사용합니다.</a:t>
            </a:r>
            <a:endParaRPr lang="en-US" sz="1700" dirty="0"/>
          </a:p>
        </p:txBody>
      </p:sp>
      <p:pic>
        <p:nvPicPr>
          <p:cNvPr id="5" name="Image 0" descr="exhibit32v2/fax-jo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32  ·  주문접수 자동화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코일확정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지게차 기사가 태블릿에서 코일을 바로 확정합니다.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스캔 또는 코일ID 검색으로 실물 코일을 지정합니다.</a:t>
            </a:r>
            <a:endParaRPr lang="en-US" sz="1700" dirty="0"/>
          </a:p>
        </p:txBody>
      </p:sp>
      <p:pic>
        <p:nvPicPr>
          <p:cNvPr id="5" name="Image 0" descr="exhibit32v2/field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세퍼레이터 셋팅 계산기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가공규격에 맞춰 스페이서 조합을 자동 계산합니다.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①·②·③ 스테이션별 보정값을 반영합니다.</a:t>
            </a:r>
            <a:endParaRPr lang="en-US" sz="1700" dirty="0"/>
          </a:p>
        </p:txBody>
      </p:sp>
      <p:pic>
        <p:nvPicPr>
          <p:cNvPr id="5" name="Image 0" descr="exhibit32v2/separator-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세퍼레이터 태블릿 키오스크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실제 배포되어 있는 키오스크 화면입니다.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가닥폭 + 보정값을 큰 글씨로 계산해 바로 보여줍니다.</a:t>
            </a:r>
            <a:endParaRPr lang="en-US" sz="1700" dirty="0"/>
          </a:p>
        </p:txBody>
      </p:sp>
      <p:pic>
        <p:nvPicPr>
          <p:cNvPr id="5" name="Image 0" descr="exhibit32v2/separator-kio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배포 서비스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작업현황 대시보드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· 슬리팅1 · 슬리팅2 작업현황을 날짜별로 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10분 간격으로 실측 데이터와 자동 동기화됩니다.</a:t>
            </a:r>
            <a:endParaRPr lang="en-US" sz="1700" dirty="0"/>
          </a:p>
        </p:txBody>
      </p:sp>
      <p:pic>
        <p:nvPicPr>
          <p:cNvPr id="5" name="Image 0" descr="exhibit32v2/leveler-work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작업현황 대시보드 2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라인별 오늘 생산금액과 완료 가능 여부를 예측합니다.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소요시간 기반으로 오늘 안에 끝낼 수 있는지 계산합니다.</a:t>
            </a:r>
            <a:endParaRPr lang="en-US" sz="1700" dirty="0"/>
          </a:p>
        </p:txBody>
      </p:sp>
      <p:pic>
        <p:nvPicPr>
          <p:cNvPr id="5" name="Image 0" descr="exhibit32v2/work-status-boar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 작업 상세 분석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구간별 속도 · 텐션 변화와 동일 사양 대비 편차를 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하나를 선택하면 실측 프로파일이 즉시 계산됩니다.</a:t>
            </a:r>
            <a:endParaRPr lang="en-US" sz="1700" dirty="0"/>
          </a:p>
        </p:txBody>
      </p:sp>
      <p:pic>
        <p:nvPicPr>
          <p:cNvPr id="5" name="Image 0" descr="exhibit32v2/coil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 코일 상세분석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수 추정, 길이 정확도, 박스별 현황을 확인합니다.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 대비 정상/주의 여부를 링 그래프로 바로 보여줍니다.</a:t>
            </a:r>
            <a:endParaRPr lang="en-US" sz="1700" dirty="0"/>
          </a:p>
        </p:txBody>
      </p:sp>
      <p:pic>
        <p:nvPicPr>
          <p:cNvPr id="5" name="Image 0" descr="exhibit32v2/leveling-coil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공정×ERP 통합 대시보드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 타임라인, 부하율, 그린ERP 동기화를 한 화면에 모읍니다.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코일별 부하율을 막대그래프로 비교해 이상 구간을 찾습니다.</a:t>
            </a:r>
            <a:endParaRPr lang="en-US" sz="1700" dirty="0"/>
          </a:p>
        </p:txBody>
      </p:sp>
      <p:pic>
        <p:nvPicPr>
          <p:cNvPr id="5" name="Image 0" descr="exhibit32v2/leveling-process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 현황 모니터링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행정 로그로 이상 구간을 실시간으로 탐지합니다.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가동률 · 정상판정비율 · 저속비율을 도넛 그래프로 봅니다.</a:t>
            </a:r>
            <a:endParaRPr lang="en-US" sz="1700" dirty="0"/>
          </a:p>
        </p:txBody>
      </p:sp>
      <p:pic>
        <p:nvPicPr>
          <p:cNvPr id="5" name="Image 0" descr="exhibit32v2/leveling-stroke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통합 관제 (NMS)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지시서와 PLC 실측 데이터를 관제센터 화면으로 엮습니다.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진행률 · 가동률 · 실시간 속도를 20초마다 자동 갱신합니다.</a:t>
            </a:r>
            <a:endParaRPr lang="en-US" sz="1700" dirty="0"/>
          </a:p>
        </p:txBody>
      </p:sp>
      <p:pic>
        <p:nvPicPr>
          <p:cNvPr id="5" name="Image 0" descr="exhibit32v2/leveling-line-n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텐션 컨트롤러 원격 모니터링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+ OCR로 통신 포트 없는 설비값을 폰으로 확인합니다.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범위 이탈 여부를 즉시 배지로 표시합니다.</a:t>
            </a:r>
            <a:endParaRPr lang="en-US" sz="1700" dirty="0"/>
          </a:p>
        </p:txBody>
      </p:sp>
      <p:pic>
        <p:nvPicPr>
          <p:cNvPr id="5" name="Image 0" descr="exhibit32v2/taper-tension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데이터 화면 (실측 연동 준비중)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 작업 가이드 (외국인 근로자용)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길이에 따른 텐션 설정값을 큰 숫자로 안내합니다.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· 중간 · 종료 구간별 색상 카드로 한눈에 보여줍니다.</a:t>
            </a:r>
            <a:endParaRPr lang="en-US" sz="1700" dirty="0"/>
          </a:p>
        </p:txBody>
      </p:sp>
      <p:pic>
        <p:nvPicPr>
          <p:cNvPr id="5" name="Image 0" descr="exhibit32v2/taper-tension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데이터 화면 (실측 연동 준비중)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상세 조회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 · 가감속시간 · 속도를 실측 데이터 그대로 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행정별 속도 추이를 그래프로 확인할 수 있습니다.</a:t>
            </a:r>
            <a:endParaRPr lang="en-US" sz="1700" dirty="0"/>
          </a:p>
        </p:txBody>
      </p:sp>
      <p:pic>
        <p:nvPicPr>
          <p:cNvPr id="5" name="Image 0" descr="exhibit32v2/leveling-plc-vie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타임라인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작업지시서, 박스별 진행, PLC 값을 시간순으로 모아 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 단계를 진행 스텝바로, 가동률을 그래프로 함께 봅니다.</a:t>
            </a:r>
            <a:endParaRPr lang="en-US" sz="1700" dirty="0"/>
          </a:p>
        </p:txBody>
      </p:sp>
      <p:pic>
        <p:nvPicPr>
          <p:cNvPr id="5" name="Image 0" descr="exhibit32v2/leveling-integrated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487" y="2212848"/>
            <a:ext cx="2690721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전체 데이터 (HMI 미러)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HMI 데이터를 5초마다 그대로 미러링합니다.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HMI 화면과 동일한 항목 배치로 대조 확인이 쉽습니다.</a:t>
            </a:r>
            <a:endParaRPr lang="en-US" sz="1700" dirty="0"/>
          </a:p>
        </p:txBody>
      </p:sp>
      <p:pic>
        <p:nvPicPr>
          <p:cNvPr id="5" name="Image 0" descr="exhibit32v2/leveling-realtime-h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0487" y="2212848"/>
            <a:ext cx="2690721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텐션 데이터 수신 확인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값이 끊김없이 쌓이고 있는지 자동으로 확인합니다.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누적/오늘 저장 건수와 최근 수신 커버리지를 보여줍니다.</a:t>
            </a:r>
            <a:endParaRPr lang="en-US" sz="1700" dirty="0"/>
          </a:p>
        </p:txBody>
      </p:sp>
      <p:pic>
        <p:nvPicPr>
          <p:cNvPr id="5" name="Image 0" descr="exhibit32v2/taper-tension-ingestion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5229" y="2212848"/>
            <a:ext cx="2541237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작업현황 대시보드 3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모바일 반응형으로 라인별 진행률을 보여줍니다.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없이 링크로 바로 열 수 있는 공개 대시보드입니다.</a:t>
            </a:r>
            <a:endParaRPr lang="en-US" sz="1700" dirty="0"/>
          </a:p>
        </p:txBody>
      </p:sp>
      <p:pic>
        <p:nvPicPr>
          <p:cNvPr id="5" name="Image 0" descr="exhibit32v2/work-status-boar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헬퍼 (지난 작업 기반 추천)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사양 완료 코일 데이터로 권장 속도 · 텐션을 추천합니다.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가동시간까지 함께 계산해 보여줍니다.</a:t>
            </a:r>
            <a:endParaRPr lang="en-US" sz="1700" dirty="0"/>
          </a:p>
        </p:txBody>
      </p:sp>
      <p:pic>
        <p:nvPicPr>
          <p:cNvPr id="5" name="Image 0" descr="exhibit32v2/coil-ai-hel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헬퍼 (작업용 실시간 비교)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진행 중인 속도 · 텐션을 권장치와 실시간 비교합니다.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4존 텐션을 적정 · 느림 · 빠름으로 바로 판정합니다.</a:t>
            </a:r>
            <a:endParaRPr lang="en-US" sz="1700" dirty="0"/>
          </a:p>
        </p:txBody>
      </p:sp>
      <p:pic>
        <p:nvPicPr>
          <p:cNvPr id="5" name="Image 0" descr="exhibit32v2/coil-ai-helper-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헬퍼 모바일 (한국어)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 폰으로 바로 보는 AI 헬퍼 화면입니다.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속도 · 텐션 비교를 큰 글씨로 확인할 수 있습니다.</a:t>
            </a:r>
            <a:endParaRPr lang="en-US" sz="1700" dirty="0"/>
          </a:p>
        </p:txBody>
      </p:sp>
      <p:pic>
        <p:nvPicPr>
          <p:cNvPr id="5" name="Image 0" descr="exhibit32v2/ai-helper-mobile-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  ·  생산현장 도구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 Mobile (English)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real-time recommendations for foreign field workers.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speed and tension comparison in large, simple text.</a:t>
            </a:r>
            <a:endParaRPr lang="en-US" sz="1700" dirty="0"/>
          </a:p>
        </p:txBody>
      </p:sp>
      <p:pic>
        <p:nvPicPr>
          <p:cNvPr id="5" name="Image 0" descr="exhibit32v2/ai-helper-mobil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  ·  영업 지원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영업대상 고객사 리스트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맡겨둔 거래처 중 최근 작업이 뜸한 곳을 찾아줍니다.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휴면일수 기준으로 위험 · 주의 · 정상 등급을 자동 분류합니다.</a:t>
            </a:r>
            <a:endParaRPr lang="en-US" sz="1700" dirty="0"/>
          </a:p>
        </p:txBody>
      </p:sp>
      <p:pic>
        <p:nvPicPr>
          <p:cNvPr id="5" name="Image 0" descr="exhibit32v2/sales-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  ·  고객사 시연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주문 현황 트래커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출고완료까지 5단계 진행상황을 한눈에 보여줍니다.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거래처를 선택하면 그 회사 입장에서 보이는 화면을 미리 봅니다.</a:t>
            </a:r>
            <a:endParaRPr lang="en-US" sz="1700" dirty="0"/>
          </a:p>
        </p:txBody>
      </p:sp>
      <p:pic>
        <p:nvPicPr>
          <p:cNvPr id="5" name="Image 0" descr="exhibit32v2/customer-order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  ·  고객사 시연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거래처 챗봇 상담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현황 · 미수금 · 출고 여부를 자연어로 물어보면 바로 답합니다.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실데이터를 근거로 자유 질문에 답변합니다.</a:t>
            </a:r>
            <a:endParaRPr lang="en-US" sz="1700" dirty="0"/>
          </a:p>
        </p:txBody>
      </p:sp>
      <p:pic>
        <p:nvPicPr>
          <p:cNvPr id="5" name="Image 0" descr="exhibit32v2/customer-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  ·  창고 관리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코일창고 3D 뷰어 · 출고관리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보관 코일을 3D/평면도로 보고 출고까지 처리합니다.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현장에 배포되어 있는 서비스입니다.</a:t>
            </a:r>
            <a:endParaRPr lang="en-US" sz="1700" dirty="0"/>
          </a:p>
        </p:txBody>
      </p:sp>
      <p:pic>
        <p:nvPicPr>
          <p:cNvPr id="5" name="Image 0" descr="exhibit32v2/warehouse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172" y="2212848"/>
            <a:ext cx="2653350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배포 서비스 (예시 수치로 재구성)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  ·  설비 진단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장애 원인 분석 (AI)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이력과 CCTV를 AI가 분석해 사고 원인을 30분 내로 규명합니다.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슬리터 사고 사례를 재구성한 샘플 화면입니다.</a:t>
            </a:r>
            <a:endParaRPr lang="en-US" sz="1700" dirty="0"/>
          </a:p>
        </p:txBody>
      </p:sp>
      <p:pic>
        <p:nvPicPr>
          <p:cNvPr id="5" name="Image 0" descr="exhibit32v2/incident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데이터 화면 (실측 연동 준비중)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  ·  경영 · 재무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계좌 손익 통합 대시보드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통장 거래내역과 매출을 합쳐 월간 손익을 자동 계산합니다.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 · 통장 출금 · 이자를 골라서 합산할 수 있습니다.</a:t>
            </a:r>
            <a:endParaRPr lang="en-US" sz="1700" dirty="0"/>
          </a:p>
        </p:txBody>
      </p:sp>
      <p:pic>
        <p:nvPicPr>
          <p:cNvPr id="5" name="Image 0" descr="exhibit32v2/cashflow-pn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  ·  경영 · 재무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거래명세서 입금 확인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2646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명세서와 통장 내역을 맞춰 입금 여부를 자동으로 분류합니다.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미입금 건만 따로 걸러서 확인할 수 있습니다.</a:t>
            </a:r>
            <a:endParaRPr lang="en-US" sz="1700" dirty="0"/>
          </a:p>
        </p:txBody>
      </p:sp>
      <p:pic>
        <p:nvPicPr>
          <p:cNvPr id="5" name="Image 0" descr="exhibit32v2/deposit-reconc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45" y="2212848"/>
            <a:ext cx="6559004" cy="42976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528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SMART ERP 2.0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(주)  |  경기도 시흥시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2026-08-27T01:03:03Z</dcterms:created>
  <dcterms:modified xsi:type="dcterms:W3CDTF">2026-08-27T01:03:03Z</dcterms:modified>
</cp:coreProperties>
</file>