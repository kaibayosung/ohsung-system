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osungsteel.servehttp.com:8095/admin/login" TargetMode="External"/><Relationship Id="rId3" Type="http://schemas.openxmlformats.org/officeDocument/2006/relationships/hyperlink" Target="http://osungsteel.servehttp.com:8095/admin/login" TargetMode="External"/><Relationship Id="rId5" Type="http://schemas.openxmlformats.org/officeDocument/2006/relationships/hyperlink" Target="https://ohsung-system.vercel.app/separator" TargetMode="External"/><Relationship Id="rId6" Type="http://schemas.openxmlformats.org/officeDocument/2006/relationships/hyperlink" Target="https://ohsung-system.vercel.app/separator" TargetMode="External"/><Relationship Id="rId1" Type="http://schemas.openxmlformats.org/officeDocument/2006/relationships/image" Target="../media/image-5-1.png"/><Relationship Id="rId4" Type="http://schemas.openxmlformats.org/officeDocument/2006/relationships/image" Target="../media/image-5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hyperlink" Target="https://ohsung-system.vercel.app" TargetMode="External"/><Relationship Id="rId6" Type="http://schemas.openxmlformats.org/officeDocument/2006/relationships/hyperlink" Target="https://ohsung-system.vercel.app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ohsung-system.vercel.app/portal" TargetMode="External"/><Relationship Id="rId3" Type="http://schemas.openxmlformats.org/officeDocument/2006/relationships/hyperlink" Target="https://ohsung-system.vercel.app/portal" TargetMode="External"/><Relationship Id="rId5" Type="http://schemas.openxmlformats.org/officeDocument/2006/relationships/hyperlink" Target="https://ohsung-system.vercel.app" TargetMode="External"/><Relationship Id="rId6" Type="http://schemas.openxmlformats.org/officeDocument/2006/relationships/hyperlink" Target="https://ohsung-system.vercel.app" TargetMode="External"/><Relationship Id="rId8" Type="http://schemas.openxmlformats.org/officeDocument/2006/relationships/hyperlink" Target="https://ohsung-system.vercel.app" TargetMode="External"/><Relationship Id="rId9" Type="http://schemas.openxmlformats.org/officeDocument/2006/relationships/hyperlink" Target="https://ohsung-system.vercel.app" TargetMode="External"/><Relationship Id="rId1" Type="http://schemas.openxmlformats.org/officeDocument/2006/relationships/image" Target="../media/image-7-1.png"/><Relationship Id="rId4" Type="http://schemas.openxmlformats.org/officeDocument/2006/relationships/image" Target="../media/image-7-2.png"/><Relationship Id="rId7" Type="http://schemas.openxmlformats.org/officeDocument/2006/relationships/image" Target="../media/image-7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4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2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5.png"/><Relationship Id="rId7" Type="http://schemas.openxmlformats.org/officeDocument/2006/relationships/image" Target="../media/image-10-5.png"/><Relationship Id="rId8" Type="http://schemas.openxmlformats.org/officeDocument/2006/relationships/image" Target="../media/image-10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ohsung-system.vercel.app" TargetMode="Externa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377440"/>
            <a:ext cx="5943600" cy="5943600"/>
          </a:xfrm>
          <a:prstGeom prst="ellipse">
            <a:avLst/>
          </a:prstGeom>
          <a:solidFill>
            <a:srgbClr val="0A152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645920"/>
            <a:ext cx="3840480" cy="3840480"/>
          </a:xfrm>
          <a:prstGeom prst="ellipse">
            <a:avLst/>
          </a:prstGeom>
          <a:solidFill>
            <a:srgbClr val="16283F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4" name="Image 0" descr="/sessions/wonderful-affectionate-thompson/mnt/outputs/icons/industry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4846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AX 현황 및 계획 보고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121408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장비의 한계를 넘어, 데이터와 AI로 완성하는 오성철강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1983년부터 이어온 44년의 노하우 — 장비 투자 실패를 거쳐, AI 3차례의 도전 끝에 지금 여기까지 왔습니다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2026. 07. 31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63825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 ERP 2.0 · AX 현황 및 계획 보고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1983년부터, 자동차·건축용 정밀 탄소강 가공 외길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749040" cy="3703320"/>
          </a:xfrm>
          <a:prstGeom prst="roundRect">
            <a:avLst>
              <a:gd name="adj" fmla="val 2469"/>
            </a:avLst>
          </a:prstGeom>
          <a:solidFill>
            <a:srgbClr val="16283F"/>
          </a:solidFill>
          <a:ln/>
        </p:spPr>
      </p:sp>
      <p:pic>
        <p:nvPicPr>
          <p:cNvPr id="5" name="Image 0" descr="/sessions/wonderful-affectionate-thompson/mnt/outputs/icons/industry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7744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017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1983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914400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설립 연도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4343400"/>
            <a:ext cx="3017520" cy="0"/>
          </a:xfrm>
          <a:prstGeom prst="line">
            <a:avLst/>
          </a:prstGeom>
          <a:noFill/>
          <a:ln w="12700">
            <a:solidFill>
              <a:srgbClr val="2A3F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526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44년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째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정밀 탄소강 가공 외길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4617720" y="205740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오성철강 코일센터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617720" y="260604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자동차 및 건축용 정밀 탄소강을 가공하는 전문 코일센터로, 1983년 창업 이래 44년간 슬리팅·레벨링 공정의 현장 노하우를 쌓아왔습니다.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617720" y="3566160"/>
            <a:ext cx="512064" cy="512064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13" name="Image 1" descr="/sessions/wonderful-affectionate-thompson/mnt/outputs/icons/cube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288" y="3632728"/>
            <a:ext cx="378927" cy="37892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3547872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공정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303520" y="3877056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슬리팅(코일 폭 절단) · 레벨링(평탄화) — 자동차·건축 산업의 소재 전 단계를 담당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617720" y="4352544"/>
            <a:ext cx="512064" cy="512064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17" name="Image 2" descr="/sessions/wonderful-affectionate-thompson/mnt/outputs/icons/handshak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288" y="4419112"/>
            <a:ext cx="378927" cy="37892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03520" y="4334256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기반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303520" y="4663440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대한강재 등 다수 거래처가 재고를 맡기고 정기적으로 가공을 의뢰하는 신뢰 기반 사업 구조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4617720" y="5138928"/>
            <a:ext cx="512064" cy="512064"/>
          </a:xfrm>
          <a:prstGeom prst="ellipse">
            <a:avLst/>
          </a:prstGeom>
          <a:solidFill>
            <a:srgbClr val="FDECD6"/>
          </a:solidFill>
          <a:ln/>
        </p:spPr>
      </p:sp>
      <p:pic>
        <p:nvPicPr>
          <p:cNvPr id="21" name="Image 3" descr="/sessions/wonderful-affectionate-thompson/mnt/outputs/icons/history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4288" y="5205496"/>
            <a:ext cx="378927" cy="3789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3520" y="5120640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44년의 자산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303520" y="5449824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숫자로 남지 않은 숙련공의 감각·판단력 — 이번 AX 전략의 출발점이자 지켜야 할 핵심 자산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SITUATION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44년의 노하우, 그러나 다가온 3가지 위기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2697480"/>
          </a:xfrm>
          <a:prstGeom prst="roundRect">
            <a:avLst>
              <a:gd name="adj" fmla="val 3051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8600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sessions/wonderful-affectionate-thompson/mnt/outputs/icons/tool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93" y="2366833"/>
            <a:ext cx="460126" cy="4601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장비 노후화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라인 설비의 노후화가 진행되면서, 정밀도와 가동 안정성 유지에 점점 더 많은 비용이 듭니다.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2011680"/>
            <a:ext cx="3611880" cy="2697480"/>
          </a:xfrm>
          <a:prstGeom prst="roundRect">
            <a:avLst>
              <a:gd name="adj" fmla="val 3051"/>
            </a:avLst>
          </a:prstGeom>
          <a:solidFill>
            <a:srgbClr val="F4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28600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sessions/wonderful-affectionate-thompson/mnt/outputs/icons/us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553" y="2366833"/>
            <a:ext cx="460126" cy="4601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기능인 고령화 · 기술 단절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17720" y="3657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숙련공의 은퇴가 다가오지만, 그 감각과 판단력을 다음 세대(외국인 근로자 포함)에게 전수할 방법이 없습니다.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2011680"/>
            <a:ext cx="3611880" cy="2697480"/>
          </a:xfrm>
          <a:prstGeom prst="roundRect">
            <a:avLst>
              <a:gd name="adj" fmla="val 3051"/>
            </a:avLst>
          </a:prstGeom>
          <a:solidFill>
            <a:srgbClr val="F4F6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0" y="228600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sessions/wonderful-affectionate-thompson/mnt/outputs/icons/chartlin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313" y="2366833"/>
            <a:ext cx="460126" cy="4601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고객 서비스 확대 요구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12480" y="3657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고품질·고객서비스 확대에 대한 시장 요구는 커지는데, 기존 방식으로는 이를 따라가지 못하고 있습니다.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029200"/>
            <a:ext cx="11201400" cy="1005840"/>
          </a:xfrm>
          <a:prstGeom prst="roundRect">
            <a:avLst>
              <a:gd name="adj" fmla="val 8182"/>
            </a:avLst>
          </a:prstGeom>
          <a:solidFill>
            <a:srgbClr val="FBE6E4"/>
          </a:solidFill>
          <a:ln/>
        </p:spPr>
      </p:sp>
      <p:sp>
        <p:nvSpPr>
          <p:cNvPr id="20" name="Text 15"/>
          <p:cNvSpPr/>
          <p:nvPr/>
        </p:nvSpPr>
        <p:spPr>
          <a:xfrm>
            <a:off x="868680" y="5029200"/>
            <a:ext cx="10561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pPr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C8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이대로면 사업 중단 우려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A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세 가지 문제가 동시에 겹치며, 기존 방식의 연장선으로는 더 이상 버티기 어려운 상황입니다.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1차 도전 — 신규 장비 도입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006840" y="694944"/>
            <a:ext cx="1938528" cy="310896"/>
          </a:xfrm>
          <a:prstGeom prst="roundRect">
            <a:avLst>
              <a:gd name="adj" fmla="val 17647"/>
            </a:avLst>
          </a:prstGeom>
          <a:solidFill>
            <a:srgbClr val="FBE6E4"/>
          </a:solidFill>
          <a:ln/>
        </p:spPr>
      </p:sp>
      <p:sp>
        <p:nvSpPr>
          <p:cNvPr id="5" name="Text 3"/>
          <p:cNvSpPr/>
          <p:nvPr/>
        </p:nvSpPr>
        <p:spPr>
          <a:xfrm>
            <a:off x="9006840" y="694944"/>
            <a:ext cx="193852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사업성 확보 실패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95728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E4F3E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95728"/>
            <a:ext cx="658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09928" y="21671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 최신 장비 도입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2130552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 선진 설비를 국내 최초 수준으로 도입하는 데 성공했습니다.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538728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38728"/>
            <a:ext cx="658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09928" y="33101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공정·동일 장비의 생산성 한계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3273552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기존과 같은 방식의 공정을 그대로 자동화하는 것만으로는, 부분적인 생산성 향상 이상을 만들어내지 못했습니다.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681728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FBE6E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681728"/>
            <a:ext cx="658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09928" y="44531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 투자 대비 사업성 부족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4416552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 자체에 대한 대규모 투자만으로는 회수 가능한 사업 모델을 만들 수 없다는 결론에 도달했습니다.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다음 전환점: 장비가 아닌 데이터와 AI로 방향을 바꿉니다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CHALLENGE 1 · 제품 경쟁력 강화 · 생산성 향상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타사가 못하는 차별화 서비스, AI로 시작하다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3337560"/>
          </a:xfrm>
          <a:prstGeom prst="roundRect">
            <a:avLst>
              <a:gd name="adj" fmla="val 2740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40280"/>
            <a:ext cx="621792" cy="621792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6" name="Image 0" descr="/sessions/wonderful-affectionate-thompson/mnt/outputs/icons/ey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513" y="2321113"/>
            <a:ext cx="460126" cy="4601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24942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슬리팅 표면 검사 AI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45920" y="261518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SAIGE VIMS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090672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분당 250m로 지나가는 철판의 스크래치·찌그러짐·에지 웨이브를 AI 비전이 실시간으로 탐지합니다. 사람 눈으로는 절대 불가능한 속도의 전수 검사입니다.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96112" y="4206240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40690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결함 자동 검출·분류</a:t>
            </a:r>
            <a:endParaRPr lang="en-US" sz="1230" dirty="0"/>
          </a:p>
        </p:txBody>
      </p:sp>
      <p:sp>
        <p:nvSpPr>
          <p:cNvPr id="12" name="Shape 9"/>
          <p:cNvSpPr/>
          <p:nvPr/>
        </p:nvSpPr>
        <p:spPr>
          <a:xfrm>
            <a:off x="896112" y="4535424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43982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코일별 결함 위치·전후 영상 자동 저장</a:t>
            </a:r>
            <a:endParaRPr lang="en-US" sz="1230" dirty="0"/>
          </a:p>
        </p:txBody>
      </p:sp>
      <p:sp>
        <p:nvSpPr>
          <p:cNvPr id="14" name="Shape 11"/>
          <p:cNvSpPr/>
          <p:nvPr/>
        </p:nvSpPr>
        <p:spPr>
          <a:xfrm>
            <a:off x="896112" y="4864608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47274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원소재 불량 vs 가공 불량 책임소재 구분</a:t>
            </a:r>
            <a:endParaRPr lang="en-US" sz="1230" dirty="0"/>
          </a:p>
        </p:txBody>
      </p:sp>
      <p:sp>
        <p:nvSpPr>
          <p:cNvPr id="16" name="Text 13"/>
          <p:cNvSpPr/>
          <p:nvPr/>
        </p:nvSpPr>
        <p:spPr>
          <a:xfrm>
            <a:off x="868680" y="489204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품질검사시스템 바로가기  </a:t>
            </a:r>
            <a:pPr indent="0" marL="0">
              <a:buNone/>
            </a:pPr>
            <a:r>
              <a:rPr lang="en-US" sz="115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http://osungsteel.servehttp.com:8095/admin/login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63640" y="1920240"/>
            <a:ext cx="5349240" cy="3337560"/>
          </a:xfrm>
          <a:prstGeom prst="roundRect">
            <a:avLst>
              <a:gd name="adj" fmla="val 2740"/>
            </a:avLst>
          </a:prstGeom>
          <a:solidFill>
            <a:srgbClr val="F4F6FA"/>
          </a:solidFill>
          <a:ln/>
        </p:spPr>
      </p:sp>
      <p:sp>
        <p:nvSpPr>
          <p:cNvPr id="18" name="Shape 15"/>
          <p:cNvSpPr/>
          <p:nvPr/>
        </p:nvSpPr>
        <p:spPr>
          <a:xfrm>
            <a:off x="6583680" y="2240280"/>
            <a:ext cx="621792" cy="621792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19" name="Image 1" descr="/sessions/wonderful-affectionate-thompson/mnt/outputs/icons/tablet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513" y="2321113"/>
            <a:ext cx="460126" cy="46012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60920" y="224942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Helper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7360920" y="261518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세퍼레이터 태블릿 키오스크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583680" y="3090672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40년 공장장의 손끝 감각으로 계산하던 스페이서 조합을, 태블릿이 큰 글씨로 바로 알려줍니다. 외국인 근로자도 숙련공의 노하우를 즉시 흡수합니다.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611112" y="4206240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24" name="Text 20"/>
          <p:cNvSpPr/>
          <p:nvPr/>
        </p:nvSpPr>
        <p:spPr>
          <a:xfrm>
            <a:off x="6812280" y="40690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가공규격 → 스페이서 조합 자동 계산</a:t>
            </a:r>
            <a:endParaRPr lang="en-US" sz="1230" dirty="0"/>
          </a:p>
        </p:txBody>
      </p:sp>
      <p:sp>
        <p:nvSpPr>
          <p:cNvPr id="25" name="Shape 21"/>
          <p:cNvSpPr/>
          <p:nvPr/>
        </p:nvSpPr>
        <p:spPr>
          <a:xfrm>
            <a:off x="6611112" y="4535424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26" name="Text 22"/>
          <p:cNvSpPr/>
          <p:nvPr/>
        </p:nvSpPr>
        <p:spPr>
          <a:xfrm>
            <a:off x="6812280" y="43982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슬리터2 현장에 실배포되어 매일 사용 중</a:t>
            </a:r>
            <a:endParaRPr lang="en-US" sz="1230" dirty="0"/>
          </a:p>
        </p:txBody>
      </p:sp>
      <p:sp>
        <p:nvSpPr>
          <p:cNvPr id="27" name="Shape 23"/>
          <p:cNvSpPr/>
          <p:nvPr/>
        </p:nvSpPr>
        <p:spPr>
          <a:xfrm>
            <a:off x="6611112" y="4864608"/>
            <a:ext cx="73152" cy="731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28" name="Text 24"/>
          <p:cNvSpPr/>
          <p:nvPr/>
        </p:nvSpPr>
        <p:spPr>
          <a:xfrm>
            <a:off x="6812280" y="47274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숙련도와 무관하게 동일한 정확도 확보</a:t>
            </a:r>
            <a:endParaRPr lang="en-US" sz="1230" dirty="0"/>
          </a:p>
        </p:txBody>
      </p:sp>
      <p:sp>
        <p:nvSpPr>
          <p:cNvPr id="29" name="Text 25"/>
          <p:cNvSpPr/>
          <p:nvPr/>
        </p:nvSpPr>
        <p:spPr>
          <a:xfrm>
            <a:off x="6583680" y="489204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태블릿 키오스크 바로가기  </a:t>
            </a:r>
            <a:pPr indent="0" marL="0">
              <a:buNone/>
            </a:pPr>
            <a:r>
              <a:rPr lang="en-US" sz="115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https://ohsung-system.vercel.app/separator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548640" y="544068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FDECD6"/>
          </a:solidFill>
          <a:ln/>
        </p:spPr>
      </p:sp>
      <p:sp>
        <p:nvSpPr>
          <p:cNvPr id="31" name="Text 27"/>
          <p:cNvSpPr/>
          <p:nvPr/>
        </p:nvSpPr>
        <p:spPr>
          <a:xfrm>
            <a:off x="868680" y="54406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숙제 — </a:t>
            </a:r>
            <a:pPr indent="0" marL="0">
              <a:buNone/>
            </a:pPr>
            <a:r>
              <a:rPr lang="en-US" sz="1300" dirty="0">
                <a:solidFill>
                  <a:srgbClr val="6B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서비스는 만들었지만, 여러 시스템에 따로 입력해야 하는 ‘사용상 편의성 부재’ 문제가 남았습니다.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CHALLENGE 2 · 사용성 확보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여러 시스템에 흩어진 데이터를 하나로 — RPA와 대시보드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4251960"/>
          </a:xfrm>
          <a:prstGeom prst="roundRect">
            <a:avLst>
              <a:gd name="adj" fmla="val 2151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12848"/>
            <a:ext cx="566928" cy="56692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6" name="Image 0" descr="/sessions/wonderful-affectionate-thompson/mnt/outputs/icons/sync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381" y="2286549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9456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RPA Agent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00200" y="25603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 피로도 해결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0175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플랫폼(그린ERP)과 자체 ERP2.0을 사람이 손으로 옮겨 적을 필요 없이, 10분 주기로 자동 동기화합니다.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39776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34,707건  </a:t>
            </a:r>
            <a:pPr indent="0" marL="0">
              <a:buNone/>
            </a:pPr>
            <a:r>
              <a:rPr lang="en-US" sz="1200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그린ERP 자동 동기화 (입고·출고·재고 등)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68680" y="454456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14,513건  </a:t>
            </a:r>
            <a:pPr indent="0" marL="0">
              <a:buNone/>
            </a:pPr>
            <a:r>
              <a:rPr lang="en-US" sz="1200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자체 ERP2.0 누적 데이터 (거래처 146개사)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68680" y="5669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RPA Agent는 이미 상용 서비스로 매일 자동 실행되고 있습니다.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63640" y="1920240"/>
            <a:ext cx="5349240" cy="4251960"/>
          </a:xfrm>
          <a:prstGeom prst="roundRect">
            <a:avLst>
              <a:gd name="adj" fmla="val 2151"/>
            </a:avLst>
          </a:prstGeom>
          <a:solidFill>
            <a:srgbClr val="F4F6FA"/>
          </a:solidFill>
          <a:ln/>
        </p:spPr>
      </p:sp>
      <p:sp>
        <p:nvSpPr>
          <p:cNvPr id="14" name="Shape 11"/>
          <p:cNvSpPr/>
          <p:nvPr/>
        </p:nvSpPr>
        <p:spPr>
          <a:xfrm>
            <a:off x="6583680" y="2212848"/>
            <a:ext cx="566928" cy="566928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15" name="Image 1" descr="/sessions/wonderful-affectionate-thompson/mnt/outputs/icons/chartbar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381" y="2286549"/>
            <a:ext cx="419527" cy="41952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15200" y="219456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대시보드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315200" y="25603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누구나 데이터를 볼 수 있는 환경</a:t>
            </a:r>
            <a:endParaRPr lang="en-US" sz="1250" dirty="0"/>
          </a:p>
        </p:txBody>
      </p:sp>
      <p:pic>
        <p:nvPicPr>
          <p:cNvPr id="18" name="Image 2" descr="/sessions/wonderful-affectionate-thompson/mnt/outputs/icons/chartlin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01752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95160" y="2962656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대표님 경영보고 5종 — 데일리 리포트 · 월간분석 · 대표님 브리핑 · 카톡용 일일요약 · 접속로그</a:t>
            </a:r>
            <a:endParaRPr lang="en-US" sz="1230" dirty="0"/>
          </a:p>
        </p:txBody>
      </p:sp>
      <p:pic>
        <p:nvPicPr>
          <p:cNvPr id="20" name="Image 3" descr="/sessions/wonderful-affectionate-thompson/mnt/outputs/icons/boxes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913632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95160" y="385876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생산현장 도구 — 세퍼레이터 계산기 · 코일창고 3D 뷰어 · 영업대상 고객사 리스트 · 장애원인분석(AI)</a:t>
            </a:r>
            <a:endParaRPr lang="en-US" sz="1230" dirty="0"/>
          </a:p>
        </p:txBody>
      </p:sp>
      <p:sp>
        <p:nvSpPr>
          <p:cNvPr id="22" name="Text 16"/>
          <p:cNvSpPr/>
          <p:nvPr/>
        </p:nvSpPr>
        <p:spPr>
          <a:xfrm>
            <a:off x="6583680" y="530352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메인 ERP 바로가기  </a:t>
            </a:r>
            <a:pPr indent="0" marL="0">
              <a:buNone/>
            </a:pPr>
            <a:r>
              <a:rPr lang="en-US" sz="115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583680" y="5669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후 상단 메뉴에서 각 리포트 확인 · [오성철강 연구실]에서 프로토타입 확인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CHALLENGE 3 · 마케팅 및 서비스 혁신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24시간 열린 창구 — 고객 접점을 AI로 넓히다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22199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sessions/wonderful-affectionate-thompson/mnt/outputs/icons/buildin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750" y="2298070"/>
            <a:ext cx="433060" cy="4330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72768" y="213055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4F3EA"/>
          </a:solidFill>
          <a:ln/>
        </p:spPr>
      </p:sp>
      <p:sp>
        <p:nvSpPr>
          <p:cNvPr id="8" name="Text 5"/>
          <p:cNvSpPr/>
          <p:nvPr/>
        </p:nvSpPr>
        <p:spPr>
          <a:xfrm>
            <a:off x="1572768" y="2130552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운영중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551176" y="1993392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 포털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72768" y="2441448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거래처가 직접 미출고 현황을 조회·인쇄하고 FAX로 받아볼 수 있는 24시간 창구입니다. 그린ERP 원본 양식 그대로 제공합니다.</a:t>
            </a:r>
            <a:endParaRPr lang="en-US" sz="1230" dirty="0"/>
          </a:p>
        </p:txBody>
      </p:sp>
      <p:sp>
        <p:nvSpPr>
          <p:cNvPr id="11" name="Text 8"/>
          <p:cNvSpPr/>
          <p:nvPr/>
        </p:nvSpPr>
        <p:spPr>
          <a:xfrm>
            <a:off x="7955280" y="24688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고객사 포털 바로가기  </a:t>
            </a:r>
            <a:pPr indent="0" marL="0">
              <a:buNone/>
            </a:pPr>
            <a:r>
              <a:rPr lang="en-US" sz="115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https://ohsung-system.vercel.app/portal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447288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/>
        </p:spPr>
      </p:sp>
      <p:sp>
        <p:nvSpPr>
          <p:cNvPr id="13" name="Shape 10"/>
          <p:cNvSpPr/>
          <p:nvPr/>
        </p:nvSpPr>
        <p:spPr>
          <a:xfrm>
            <a:off x="804672" y="37033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sessions/wonderful-affectionate-thompson/mnt/outputs/icons/comment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750" y="3779398"/>
            <a:ext cx="433060" cy="4330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572768" y="361188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16" name="Text 12"/>
          <p:cNvSpPr/>
          <p:nvPr/>
        </p:nvSpPr>
        <p:spPr>
          <a:xfrm>
            <a:off x="1572768" y="3611880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연구실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551176" y="347472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· OCR 24시간 주문접수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572768" y="3922776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채널로 들어온 주문을 자동 접수하고, 팩스로 받은 주문서 이미지도 OCR로 읽어 바로 발주 초안을 만듭니다.</a:t>
            </a:r>
            <a:endParaRPr lang="en-US" sz="1230" dirty="0"/>
          </a:p>
        </p:txBody>
      </p:sp>
      <p:sp>
        <p:nvSpPr>
          <p:cNvPr id="19" name="Text 15"/>
          <p:cNvSpPr/>
          <p:nvPr/>
        </p:nvSpPr>
        <p:spPr>
          <a:xfrm>
            <a:off x="7955280" y="39502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연구실에서 프로토타입 확인  </a:t>
            </a:r>
            <a:pPr indent="0" marL="0">
              <a:buNone/>
            </a:pPr>
            <a:r>
              <a:rPr lang="en-US" sz="115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48640" y="4928616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/>
        </p:spPr>
      </p:sp>
      <p:sp>
        <p:nvSpPr>
          <p:cNvPr id="21" name="Shape 17"/>
          <p:cNvSpPr/>
          <p:nvPr/>
        </p:nvSpPr>
        <p:spPr>
          <a:xfrm>
            <a:off x="804672" y="518464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/sessions/wonderful-affectionate-thompson/mnt/outputs/icons/fax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750" y="5260726"/>
            <a:ext cx="433060" cy="43306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1572768" y="509320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24" name="Text 19"/>
          <p:cNvSpPr/>
          <p:nvPr/>
        </p:nvSpPr>
        <p:spPr>
          <a:xfrm>
            <a:off x="1572768" y="5093208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연구실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2551176" y="4956048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 작업요청서 접수 · 현장 코일확정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572768" y="5404104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팩스 작업요청서를 자동 인식해 초안을 만들고, 지게차 기사가 태블릿에서 코일을 확정하는 흐름까지 하나로 이었습니다.</a:t>
            </a:r>
            <a:endParaRPr lang="en-US" sz="1230" dirty="0"/>
          </a:p>
        </p:txBody>
      </p:sp>
      <p:sp>
        <p:nvSpPr>
          <p:cNvPr id="27" name="Text 22"/>
          <p:cNvSpPr/>
          <p:nvPr/>
        </p:nvSpPr>
        <p:spPr>
          <a:xfrm>
            <a:off x="7955280" y="54315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연구실에서 프로토타입 확인  </a:t>
            </a:r>
            <a:pPr indent="0" marL="0">
              <a:buNone/>
            </a:pPr>
            <a:r>
              <a:rPr lang="en-US" sz="1150" u="sng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오성철강 서비스맵 — 하나의 ERP, 네 갈래의 서비스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522976" y="1051560"/>
            <a:ext cx="1143000" cy="1143000"/>
          </a:xfrm>
          <a:prstGeom prst="ellipse">
            <a:avLst/>
          </a:prstGeom>
          <a:solidFill>
            <a:srgbClr val="16283F"/>
          </a:solidFill>
          <a:ln w="25400">
            <a:solidFill>
              <a:srgbClr val="E8830F"/>
            </a:solidFill>
            <a:prstDash val="solid"/>
          </a:ln>
        </p:spPr>
      </p:sp>
      <p:pic>
        <p:nvPicPr>
          <p:cNvPr id="5" name="Image 0" descr="/sessions/wonderful-affectionate-thompson/mnt/outputs/icons/industry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5020" y="1216152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22976" y="16733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2.0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094476" y="2194560"/>
            <a:ext cx="-4274820" cy="137160"/>
          </a:xfrm>
          <a:prstGeom prst="line">
            <a:avLst/>
          </a:prstGeom>
          <a:noFill/>
          <a:ln w="19050">
            <a:solidFill>
              <a:srgbClr val="8592A6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457200" y="2331720"/>
            <a:ext cx="2724912" cy="3227832"/>
          </a:xfrm>
          <a:prstGeom prst="roundRect">
            <a:avLst>
              <a:gd name="adj" fmla="val 3020"/>
            </a:avLst>
          </a:prstGeom>
          <a:solidFill>
            <a:srgbClr val="F4F6FA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2331720"/>
            <a:ext cx="2724912" cy="530352"/>
          </a:xfrm>
          <a:prstGeom prst="roundRect">
            <a:avLst>
              <a:gd name="adj" fmla="val 15517"/>
            </a:avLst>
          </a:prstGeom>
          <a:solidFill>
            <a:srgbClr val="1C7A4D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2596896"/>
            <a:ext cx="2724912" cy="265176"/>
          </a:xfrm>
          <a:prstGeom prst="rect">
            <a:avLst/>
          </a:prstGeom>
          <a:solidFill>
            <a:srgbClr val="1C7A4D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233172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상용 서비스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1792" y="293522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4F3EA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" y="2935224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운영중</a:t>
            </a:r>
            <a:endParaRPr lang="en-US" sz="1100" dirty="0"/>
          </a:p>
        </p:txBody>
      </p:sp>
      <p:pic>
        <p:nvPicPr>
          <p:cNvPr id="14" name="Image 1" descr="/sessions/wonderful-affectionate-thompson/mnt/outputs/icons/boxes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282696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14400" y="3218688"/>
            <a:ext cx="21031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워크플로우 관리 — 입고 FAX · 작업일보</a:t>
            </a:r>
            <a:endParaRPr lang="en-US" sz="1000" dirty="0"/>
          </a:p>
        </p:txBody>
      </p:sp>
      <p:pic>
        <p:nvPicPr>
          <p:cNvPr id="16" name="Image 2" descr="/sessions/wonderful-affectionate-thompson/mnt/outputs/icons/moneybill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68046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" y="3616452"/>
            <a:ext cx="21031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관리 — 영업 워크플로우 · 스크랩매출</a:t>
            </a:r>
            <a:endParaRPr lang="en-US" sz="1000" dirty="0"/>
          </a:p>
        </p:txBody>
      </p:sp>
      <p:pic>
        <p:nvPicPr>
          <p:cNvPr id="18" name="Image 3" descr="/sessions/wonderful-affectionate-thompson/mnt/outputs/icons/filealt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078224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4014216"/>
            <a:ext cx="21031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관리 — 지출결의서 · 일계표</a:t>
            </a:r>
            <a:endParaRPr lang="en-US" sz="1000" dirty="0"/>
          </a:p>
        </p:txBody>
      </p:sp>
      <p:pic>
        <p:nvPicPr>
          <p:cNvPr id="20" name="Image 4" descr="/sessions/wonderful-affectionate-thompson/mnt/outputs/icons/chartline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475988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14400" y="4411980"/>
            <a:ext cx="21031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대표님 경영보고 5종</a:t>
            </a:r>
            <a:endParaRPr lang="en-US" sz="1000" dirty="0"/>
          </a:p>
        </p:txBody>
      </p:sp>
      <p:pic>
        <p:nvPicPr>
          <p:cNvPr id="22" name="Image 5" descr="/sessions/wonderful-affectionate-thompson/mnt/outputs/icons/building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873752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14400" y="4809744"/>
            <a:ext cx="21031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 포털</a:t>
            </a:r>
            <a:endParaRPr lang="en-US" sz="1000" dirty="0"/>
          </a:p>
        </p:txBody>
      </p:sp>
      <p:pic>
        <p:nvPicPr>
          <p:cNvPr id="24" name="Image 6" descr="/sessions/wonderful-affectionate-thompson/mnt/outputs/icons/key_amb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5271516"/>
            <a:ext cx="219456" cy="21945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14400" y="5207508"/>
            <a:ext cx="21031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관리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6094476" y="2194560"/>
            <a:ext cx="-1421892" cy="137160"/>
          </a:xfrm>
          <a:prstGeom prst="line">
            <a:avLst/>
          </a:prstGeom>
          <a:noFill/>
          <a:ln w="19050">
            <a:solidFill>
              <a:srgbClr val="8592A6"/>
            </a:solidFill>
            <a:prstDash val="dash"/>
          </a:ln>
        </p:spPr>
      </p:sp>
      <p:sp>
        <p:nvSpPr>
          <p:cNvPr id="27" name="Shape 18"/>
          <p:cNvSpPr/>
          <p:nvPr/>
        </p:nvSpPr>
        <p:spPr>
          <a:xfrm>
            <a:off x="3310128" y="2331720"/>
            <a:ext cx="2724912" cy="2034540"/>
          </a:xfrm>
          <a:prstGeom prst="roundRect">
            <a:avLst>
              <a:gd name="adj" fmla="val 4045"/>
            </a:avLst>
          </a:prstGeom>
          <a:solidFill>
            <a:srgbClr val="F4F6FA"/>
          </a:solidFill>
          <a:ln/>
        </p:spPr>
      </p:sp>
      <p:sp>
        <p:nvSpPr>
          <p:cNvPr id="28" name="Shape 19"/>
          <p:cNvSpPr/>
          <p:nvPr/>
        </p:nvSpPr>
        <p:spPr>
          <a:xfrm>
            <a:off x="3310128" y="2331720"/>
            <a:ext cx="2724912" cy="530352"/>
          </a:xfrm>
          <a:prstGeom prst="roundRect">
            <a:avLst>
              <a:gd name="adj" fmla="val 15517"/>
            </a:avLst>
          </a:prstGeom>
          <a:solidFill>
            <a:srgbClr val="3672B0"/>
          </a:solidFill>
          <a:ln/>
        </p:spPr>
      </p:sp>
      <p:sp>
        <p:nvSpPr>
          <p:cNvPr id="29" name="Shape 20"/>
          <p:cNvSpPr/>
          <p:nvPr/>
        </p:nvSpPr>
        <p:spPr>
          <a:xfrm>
            <a:off x="3310128" y="2596896"/>
            <a:ext cx="2724912" cy="265176"/>
          </a:xfrm>
          <a:prstGeom prst="rect">
            <a:avLst/>
          </a:prstGeom>
          <a:solidFill>
            <a:srgbClr val="3672B0"/>
          </a:solidFill>
          <a:ln/>
        </p:spPr>
      </p:sp>
      <p:sp>
        <p:nvSpPr>
          <p:cNvPr id="30" name="Text 21"/>
          <p:cNvSpPr/>
          <p:nvPr/>
        </p:nvSpPr>
        <p:spPr>
          <a:xfrm>
            <a:off x="3474720" y="233172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현장 배포 서비스</a:t>
            </a:r>
            <a:endParaRPr lang="en-US" sz="1400" dirty="0"/>
          </a:p>
        </p:txBody>
      </p:sp>
      <p:sp>
        <p:nvSpPr>
          <p:cNvPr id="31" name="Shape 22"/>
          <p:cNvSpPr/>
          <p:nvPr/>
        </p:nvSpPr>
        <p:spPr>
          <a:xfrm>
            <a:off x="3474720" y="293522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6EEF8"/>
          </a:solidFill>
          <a:ln/>
        </p:spPr>
      </p:sp>
      <p:sp>
        <p:nvSpPr>
          <p:cNvPr id="32" name="Text 23"/>
          <p:cNvSpPr/>
          <p:nvPr/>
        </p:nvSpPr>
        <p:spPr>
          <a:xfrm>
            <a:off x="3474720" y="2935224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실배포</a:t>
            </a:r>
            <a:endParaRPr lang="en-US" sz="1100" dirty="0"/>
          </a:p>
        </p:txBody>
      </p:sp>
      <p:pic>
        <p:nvPicPr>
          <p:cNvPr id="33" name="Image 7" descr="/sessions/wonderful-affectionate-thompson/mnt/outputs/icons/tablet_amb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3282696"/>
            <a:ext cx="219456" cy="219456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767328" y="3218688"/>
            <a:ext cx="21031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세퍼레이터 태블릿 키오스크</a:t>
            </a:r>
            <a:endParaRPr lang="en-US" sz="1000" dirty="0"/>
          </a:p>
        </p:txBody>
      </p:sp>
      <p:pic>
        <p:nvPicPr>
          <p:cNvPr id="35" name="Image 8" descr="/sessions/wonderful-affectionate-thompson/mnt/outputs/icons/cube_amb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0" y="3680460"/>
            <a:ext cx="219456" cy="21945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3767328" y="3616452"/>
            <a:ext cx="21031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코일창고 3D 뷰어 · 출고관리</a:t>
            </a:r>
            <a:endParaRPr lang="en-US" sz="1000" dirty="0"/>
          </a:p>
        </p:txBody>
      </p:sp>
      <p:pic>
        <p:nvPicPr>
          <p:cNvPr id="37" name="Image 9" descr="/sessions/wonderful-affectionate-thompson/mnt/outputs/icons/satellite_amb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4720" y="4078224"/>
            <a:ext cx="219456" cy="219456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3767328" y="4014216"/>
            <a:ext cx="21031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슬리팅2 실시간 NMS</a:t>
            </a:r>
            <a:endParaRPr lang="en-US" sz="1000" dirty="0"/>
          </a:p>
        </p:txBody>
      </p:sp>
      <p:sp>
        <p:nvSpPr>
          <p:cNvPr id="39" name="Shape 27"/>
          <p:cNvSpPr/>
          <p:nvPr/>
        </p:nvSpPr>
        <p:spPr>
          <a:xfrm>
            <a:off x="6094476" y="2194560"/>
            <a:ext cx="1431036" cy="137160"/>
          </a:xfrm>
          <a:prstGeom prst="line">
            <a:avLst/>
          </a:prstGeom>
          <a:noFill/>
          <a:ln w="19050">
            <a:solidFill>
              <a:srgbClr val="8592A6"/>
            </a:solidFill>
            <a:prstDash val="dash"/>
          </a:ln>
        </p:spPr>
      </p:sp>
      <p:sp>
        <p:nvSpPr>
          <p:cNvPr id="40" name="Shape 28"/>
          <p:cNvSpPr/>
          <p:nvPr/>
        </p:nvSpPr>
        <p:spPr>
          <a:xfrm>
            <a:off x="6163056" y="2331720"/>
            <a:ext cx="2724912" cy="4023360"/>
          </a:xfrm>
          <a:prstGeom prst="roundRect">
            <a:avLst>
              <a:gd name="adj" fmla="val 3020"/>
            </a:avLst>
          </a:prstGeom>
          <a:solidFill>
            <a:srgbClr val="F4F6FA"/>
          </a:solidFill>
          <a:ln/>
        </p:spPr>
      </p:sp>
      <p:sp>
        <p:nvSpPr>
          <p:cNvPr id="41" name="Shape 29"/>
          <p:cNvSpPr/>
          <p:nvPr/>
        </p:nvSpPr>
        <p:spPr>
          <a:xfrm>
            <a:off x="6163056" y="2331720"/>
            <a:ext cx="2724912" cy="530352"/>
          </a:xfrm>
          <a:prstGeom prst="roundRect">
            <a:avLst>
              <a:gd name="adj" fmla="val 15517"/>
            </a:avLst>
          </a:prstGeom>
          <a:solidFill>
            <a:srgbClr val="C46B06"/>
          </a:solidFill>
          <a:ln/>
        </p:spPr>
      </p:sp>
      <p:sp>
        <p:nvSpPr>
          <p:cNvPr id="42" name="Shape 30"/>
          <p:cNvSpPr/>
          <p:nvPr/>
        </p:nvSpPr>
        <p:spPr>
          <a:xfrm>
            <a:off x="6163056" y="2596896"/>
            <a:ext cx="2724912" cy="265176"/>
          </a:xfrm>
          <a:prstGeom prst="rect">
            <a:avLst/>
          </a:prstGeom>
          <a:solidFill>
            <a:srgbClr val="C46B06"/>
          </a:solidFill>
          <a:ln/>
        </p:spPr>
      </p:sp>
      <p:sp>
        <p:nvSpPr>
          <p:cNvPr id="43" name="Text 31"/>
          <p:cNvSpPr/>
          <p:nvPr/>
        </p:nvSpPr>
        <p:spPr>
          <a:xfrm>
            <a:off x="6327648" y="233172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연구실 프로토타입</a:t>
            </a:r>
            <a:endParaRPr lang="en-US" sz="1400" dirty="0"/>
          </a:p>
        </p:txBody>
      </p:sp>
      <p:sp>
        <p:nvSpPr>
          <p:cNvPr id="44" name="Shape 32"/>
          <p:cNvSpPr/>
          <p:nvPr/>
        </p:nvSpPr>
        <p:spPr>
          <a:xfrm>
            <a:off x="6327648" y="293522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DECD6"/>
          </a:solidFill>
          <a:ln/>
        </p:spPr>
      </p:sp>
      <p:sp>
        <p:nvSpPr>
          <p:cNvPr id="45" name="Text 33"/>
          <p:cNvSpPr/>
          <p:nvPr/>
        </p:nvSpPr>
        <p:spPr>
          <a:xfrm>
            <a:off x="6327648" y="2935224"/>
            <a:ext cx="8412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검증중</a:t>
            </a:r>
            <a:endParaRPr lang="en-US" sz="1100" dirty="0"/>
          </a:p>
        </p:txBody>
      </p:sp>
      <p:pic>
        <p:nvPicPr>
          <p:cNvPr id="46" name="Image 10" descr="/sessions/wonderful-affectionate-thompson/mnt/outputs/icons/link_ambe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7648" y="3282696"/>
            <a:ext cx="219456" cy="219456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6620256" y="3218688"/>
            <a:ext cx="21031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신규서비스 통합흐름 v2</a:t>
            </a:r>
            <a:endParaRPr lang="en-US" sz="1000" dirty="0"/>
          </a:p>
        </p:txBody>
      </p:sp>
      <p:pic>
        <p:nvPicPr>
          <p:cNvPr id="48" name="Image 11" descr="/sessions/wonderful-affectionate-thompson/mnt/outputs/icons/filealt_ambe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7648" y="3680460"/>
            <a:ext cx="219456" cy="219456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6620256" y="3616452"/>
            <a:ext cx="21031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문서인식</a:t>
            </a:r>
            <a:endParaRPr lang="en-US" sz="1000" dirty="0"/>
          </a:p>
        </p:txBody>
      </p:sp>
      <p:pic>
        <p:nvPicPr>
          <p:cNvPr id="50" name="Image 12" descr="/sessions/wonderful-affectionate-thompson/mnt/outputs/icons/comments_amber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7648" y="4078224"/>
            <a:ext cx="219456" cy="219456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6620256" y="4014216"/>
            <a:ext cx="21031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주문접수</a:t>
            </a:r>
            <a:endParaRPr lang="en-US" sz="1000" dirty="0"/>
          </a:p>
        </p:txBody>
      </p:sp>
      <p:pic>
        <p:nvPicPr>
          <p:cNvPr id="52" name="Image 13" descr="/sessions/wonderful-affectionate-thompson/mnt/outputs/icons/fax_ambe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7648" y="4475988"/>
            <a:ext cx="219456" cy="219456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6620256" y="4411980"/>
            <a:ext cx="21031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 작업요청서 접수</a:t>
            </a:r>
            <a:endParaRPr lang="en-US" sz="1000" dirty="0"/>
          </a:p>
        </p:txBody>
      </p:sp>
      <p:pic>
        <p:nvPicPr>
          <p:cNvPr id="54" name="Image 14" descr="/sessions/wonderful-affectionate-thompson/mnt/outputs/icons/truck_ambe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7648" y="4873752"/>
            <a:ext cx="219456" cy="219456"/>
          </a:xfrm>
          <a:prstGeom prst="rect">
            <a:avLst/>
          </a:prstGeom>
        </p:spPr>
      </p:pic>
      <p:sp>
        <p:nvSpPr>
          <p:cNvPr id="55" name="Text 38"/>
          <p:cNvSpPr/>
          <p:nvPr/>
        </p:nvSpPr>
        <p:spPr>
          <a:xfrm>
            <a:off x="6620256" y="4809744"/>
            <a:ext cx="21031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코일확정</a:t>
            </a:r>
            <a:endParaRPr lang="en-US" sz="1000" dirty="0"/>
          </a:p>
        </p:txBody>
      </p:sp>
      <p:pic>
        <p:nvPicPr>
          <p:cNvPr id="56" name="Image 15" descr="/sessions/wonderful-affectionate-thompson/mnt/outputs/icons/calculator_amber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7648" y="5271516"/>
            <a:ext cx="219456" cy="219456"/>
          </a:xfrm>
          <a:prstGeom prst="rect">
            <a:avLst/>
          </a:prstGeom>
        </p:spPr>
      </p:pic>
      <p:sp>
        <p:nvSpPr>
          <p:cNvPr id="57" name="Text 39"/>
          <p:cNvSpPr/>
          <p:nvPr/>
        </p:nvSpPr>
        <p:spPr>
          <a:xfrm>
            <a:off x="6620256" y="5207508"/>
            <a:ext cx="21031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세퍼레이터 셋팅 계산기</a:t>
            </a:r>
            <a:endParaRPr lang="en-US" sz="1000" dirty="0"/>
          </a:p>
        </p:txBody>
      </p:sp>
      <p:pic>
        <p:nvPicPr>
          <p:cNvPr id="58" name="Image 16" descr="/sessions/wonderful-affectionate-thompson/mnt/outputs/icons/clipboard_amber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7648" y="5669280"/>
            <a:ext cx="219456" cy="219456"/>
          </a:xfrm>
          <a:prstGeom prst="rect">
            <a:avLst/>
          </a:prstGeom>
        </p:spPr>
      </p:pic>
      <p:sp>
        <p:nvSpPr>
          <p:cNvPr id="59" name="Text 40"/>
          <p:cNvSpPr/>
          <p:nvPr/>
        </p:nvSpPr>
        <p:spPr>
          <a:xfrm>
            <a:off x="6620256" y="5605272"/>
            <a:ext cx="21031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영업대상 고객사 리스트</a:t>
            </a:r>
            <a:endParaRPr lang="en-US" sz="1000" dirty="0"/>
          </a:p>
        </p:txBody>
      </p:sp>
      <p:pic>
        <p:nvPicPr>
          <p:cNvPr id="60" name="Image 17" descr="/sessions/wonderful-affectionate-thompson/mnt/outputs/icons/warning_amber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7648" y="6067044"/>
            <a:ext cx="219456" cy="219456"/>
          </a:xfrm>
          <a:prstGeom prst="rect">
            <a:avLst/>
          </a:prstGeom>
        </p:spPr>
      </p:pic>
      <p:sp>
        <p:nvSpPr>
          <p:cNvPr id="61" name="Text 41"/>
          <p:cNvSpPr/>
          <p:nvPr/>
        </p:nvSpPr>
        <p:spPr>
          <a:xfrm>
            <a:off x="6620256" y="6003036"/>
            <a:ext cx="21031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장애원인분석 (AI)</a:t>
            </a:r>
            <a:endParaRPr lang="en-US" sz="1000" dirty="0"/>
          </a:p>
        </p:txBody>
      </p:sp>
      <p:sp>
        <p:nvSpPr>
          <p:cNvPr id="62" name="Shape 42"/>
          <p:cNvSpPr/>
          <p:nvPr/>
        </p:nvSpPr>
        <p:spPr>
          <a:xfrm>
            <a:off x="6094476" y="2194560"/>
            <a:ext cx="4283964" cy="137160"/>
          </a:xfrm>
          <a:prstGeom prst="line">
            <a:avLst/>
          </a:prstGeom>
          <a:noFill/>
          <a:ln w="19050">
            <a:solidFill>
              <a:srgbClr val="8592A6"/>
            </a:solidFill>
            <a:prstDash val="dash"/>
          </a:ln>
        </p:spPr>
      </p:sp>
      <p:sp>
        <p:nvSpPr>
          <p:cNvPr id="63" name="Shape 43"/>
          <p:cNvSpPr/>
          <p:nvPr/>
        </p:nvSpPr>
        <p:spPr>
          <a:xfrm>
            <a:off x="9015984" y="2331720"/>
            <a:ext cx="2724912" cy="2830068"/>
          </a:xfrm>
          <a:prstGeom prst="roundRect">
            <a:avLst>
              <a:gd name="adj" fmla="val 3020"/>
            </a:avLst>
          </a:prstGeom>
          <a:solidFill>
            <a:srgbClr val="F4F6FA"/>
          </a:solidFill>
          <a:ln/>
        </p:spPr>
      </p:sp>
      <p:sp>
        <p:nvSpPr>
          <p:cNvPr id="64" name="Shape 44"/>
          <p:cNvSpPr/>
          <p:nvPr/>
        </p:nvSpPr>
        <p:spPr>
          <a:xfrm>
            <a:off x="9015984" y="2331720"/>
            <a:ext cx="2724912" cy="530352"/>
          </a:xfrm>
          <a:prstGeom prst="roundRect">
            <a:avLst>
              <a:gd name="adj" fmla="val 15517"/>
            </a:avLst>
          </a:prstGeom>
          <a:solidFill>
            <a:srgbClr val="4D5C72"/>
          </a:solidFill>
          <a:ln/>
        </p:spPr>
      </p:sp>
      <p:sp>
        <p:nvSpPr>
          <p:cNvPr id="65" name="Shape 45"/>
          <p:cNvSpPr/>
          <p:nvPr/>
        </p:nvSpPr>
        <p:spPr>
          <a:xfrm>
            <a:off x="9015984" y="2596896"/>
            <a:ext cx="2724912" cy="265176"/>
          </a:xfrm>
          <a:prstGeom prst="rect">
            <a:avLst/>
          </a:prstGeom>
          <a:solidFill>
            <a:srgbClr val="4D5C72"/>
          </a:solidFill>
          <a:ln/>
        </p:spPr>
      </p:sp>
      <p:sp>
        <p:nvSpPr>
          <p:cNvPr id="66" name="Text 46"/>
          <p:cNvSpPr/>
          <p:nvPr/>
        </p:nvSpPr>
        <p:spPr>
          <a:xfrm>
            <a:off x="9180576" y="233172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사내 · 외부 연동</a:t>
            </a:r>
            <a:endParaRPr lang="en-US" sz="1400" dirty="0"/>
          </a:p>
        </p:txBody>
      </p:sp>
      <p:sp>
        <p:nvSpPr>
          <p:cNvPr id="67" name="Shape 47"/>
          <p:cNvSpPr/>
          <p:nvPr/>
        </p:nvSpPr>
        <p:spPr>
          <a:xfrm>
            <a:off x="9180576" y="2935224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E9EDF3"/>
          </a:solidFill>
          <a:ln/>
        </p:spPr>
      </p:sp>
      <p:sp>
        <p:nvSpPr>
          <p:cNvPr id="68" name="Text 48"/>
          <p:cNvSpPr/>
          <p:nvPr/>
        </p:nvSpPr>
        <p:spPr>
          <a:xfrm>
            <a:off x="9180576" y="2935224"/>
            <a:ext cx="658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연동</a:t>
            </a:r>
            <a:endParaRPr lang="en-US" sz="1100" dirty="0"/>
          </a:p>
        </p:txBody>
      </p:sp>
      <p:pic>
        <p:nvPicPr>
          <p:cNvPr id="69" name="Image 18" descr="/sessions/wonderful-affectionate-thompson/mnt/outputs/icons/chartbar_amber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80576" y="3282696"/>
            <a:ext cx="219456" cy="219456"/>
          </a:xfrm>
          <a:prstGeom prst="rect">
            <a:avLst/>
          </a:prstGeom>
        </p:spPr>
      </p:pic>
      <p:sp>
        <p:nvSpPr>
          <p:cNvPr id="70" name="Text 49"/>
          <p:cNvSpPr/>
          <p:nvPr/>
        </p:nvSpPr>
        <p:spPr>
          <a:xfrm>
            <a:off x="9473184" y="3218688"/>
            <a:ext cx="21031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 대시보드 · 작업선택 PAD</a:t>
            </a:r>
            <a:endParaRPr lang="en-US" sz="1000" dirty="0"/>
          </a:p>
        </p:txBody>
      </p:sp>
      <p:pic>
        <p:nvPicPr>
          <p:cNvPr id="71" name="Image 19" descr="/sessions/wonderful-affectionate-thompson/mnt/outputs/icons/database_amber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80576" y="3680460"/>
            <a:ext cx="219456" cy="219456"/>
          </a:xfrm>
          <a:prstGeom prst="rect">
            <a:avLst/>
          </a:prstGeom>
        </p:spPr>
      </p:pic>
      <p:sp>
        <p:nvSpPr>
          <p:cNvPr id="72" name="Text 50"/>
          <p:cNvSpPr/>
          <p:nvPr/>
        </p:nvSpPr>
        <p:spPr>
          <a:xfrm>
            <a:off x="9473184" y="3616452"/>
            <a:ext cx="21031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데이터 통합저장</a:t>
            </a:r>
            <a:endParaRPr lang="en-US" sz="1000" dirty="0"/>
          </a:p>
        </p:txBody>
      </p:sp>
      <p:pic>
        <p:nvPicPr>
          <p:cNvPr id="73" name="Image 20" descr="/sessions/wonderful-affectionate-thompson/mnt/outputs/icons/search_amber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80576" y="4078224"/>
            <a:ext cx="219456" cy="219456"/>
          </a:xfrm>
          <a:prstGeom prst="rect">
            <a:avLst/>
          </a:prstGeom>
        </p:spPr>
      </p:pic>
      <p:sp>
        <p:nvSpPr>
          <p:cNvPr id="74" name="Text 51"/>
          <p:cNvSpPr/>
          <p:nvPr/>
        </p:nvSpPr>
        <p:spPr>
          <a:xfrm>
            <a:off x="9473184" y="4014216"/>
            <a:ext cx="21031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품질검사시스템 (SAIGE VIMS)</a:t>
            </a:r>
            <a:endParaRPr lang="en-US" sz="1000" dirty="0"/>
          </a:p>
        </p:txBody>
      </p:sp>
      <p:pic>
        <p:nvPicPr>
          <p:cNvPr id="75" name="Image 21" descr="/sessions/wonderful-affectionate-thompson/mnt/outputs/icons/external_amber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80576" y="4475988"/>
            <a:ext cx="219456" cy="219456"/>
          </a:xfrm>
          <a:prstGeom prst="rect">
            <a:avLst/>
          </a:prstGeom>
        </p:spPr>
      </p:pic>
      <p:sp>
        <p:nvSpPr>
          <p:cNvPr id="76" name="Text 52"/>
          <p:cNvSpPr/>
          <p:nvPr/>
        </p:nvSpPr>
        <p:spPr>
          <a:xfrm>
            <a:off x="9473184" y="4411980"/>
            <a:ext cx="21031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그린피웹 ERP</a:t>
            </a:r>
            <a:endParaRPr lang="en-US" sz="1000" dirty="0"/>
          </a:p>
        </p:txBody>
      </p:sp>
      <p:pic>
        <p:nvPicPr>
          <p:cNvPr id="77" name="Image 22" descr="/sessions/wonderful-affectionate-thompson/mnt/outputs/icons/external_amber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80576" y="4873752"/>
            <a:ext cx="219456" cy="219456"/>
          </a:xfrm>
          <a:prstGeom prst="rect">
            <a:avLst/>
          </a:prstGeom>
        </p:spPr>
      </p:pic>
      <p:sp>
        <p:nvSpPr>
          <p:cNvPr id="78" name="Text 53"/>
          <p:cNvSpPr/>
          <p:nvPr/>
        </p:nvSpPr>
        <p:spPr>
          <a:xfrm>
            <a:off x="9473184" y="4809744"/>
            <a:ext cx="21031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enFax</a:t>
            </a:r>
            <a:endParaRPr lang="en-US" sz="1000" dirty="0"/>
          </a:p>
        </p:txBody>
      </p:sp>
      <p:sp>
        <p:nvSpPr>
          <p:cNvPr id="79" name="Text 54"/>
          <p:cNvSpPr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연구실 프로토타입은 ERP 로그인 후 [오성철강 연구실] 메뉴에서, 나머지는 각 서비스 화면에서 바로 확인할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LEFT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마지막 한 조각 — 레벨링 라인 품질측정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슬리팅은 AI 비전으로 이미 검사하고 있지만, 레벨링 라인은 아직 사람의 눈에만 의존하고 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16283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반월시화 AX사업  </a:t>
            </a:r>
            <a:pPr indent="0" marL="0">
              <a:buNone/>
            </a:pPr>
            <a:r>
              <a:rPr lang="en-US" sz="14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총사업비 5,500만 원 (정부출연금 4,950만 원)   |   2026.07 ~ 12 도입   |   공급사 (주)한줌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47548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346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0" y="28346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(AS-IS)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183880" y="28346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후 (TO-BE)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310128"/>
            <a:ext cx="11064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101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철판 전수 검사율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0" y="331012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10%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83880" y="331012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(인라인 연속 촬영)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50208"/>
            <a:ext cx="11064240" cy="64008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502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평탄도 · 표면 불량 검출률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0" y="395020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불가 (수작업)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83880" y="395020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이상 (3D 라인스캔 + 레이저)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590288"/>
            <a:ext cx="11064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5902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 정지 횟수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0" y="459028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코일당 1회 이상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83880" y="459028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0회 (무정지 자동검사)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230368"/>
            <a:ext cx="11064240" cy="64008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2303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품질데이터 기록 보관율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0" y="523036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83880" y="523036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(최소 1년 보존)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07161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46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라인 정지 없는 전수 검사로 생산성과 품질을 동시에 극대화합니다.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READINESS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데이터는 이미 충분합니다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레벨링 하나만 비어 있던 마지막 칸 — 나머지 데이터 자산은 이미 쌓였고, 신뢰성까지 직접 검증했습니다.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103120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7" name="Image 0" descr="/sessions/wonderful-affectionate-thompson/mnt/outputs/icons/databas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216255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6700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34,707</a:t>
            </a:r>
            <a:pPr indent="0" marL="0">
              <a:buNone/>
            </a:pPr>
            <a:r>
              <a:rPr lang="en-US" sz="11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77240" y="3090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입고·출고·재고, 10분 간격 자동 동기화</a:t>
            </a:r>
            <a:endParaRPr lang="en-US" sz="970" dirty="0"/>
          </a:p>
        </p:txBody>
      </p:sp>
      <p:sp>
        <p:nvSpPr>
          <p:cNvPr id="11" name="Shape 8"/>
          <p:cNvSpPr/>
          <p:nvPr/>
        </p:nvSpPr>
        <p:spPr>
          <a:xfrm>
            <a:off x="3429000" y="192024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/>
        </p:spPr>
      </p:sp>
      <p:sp>
        <p:nvSpPr>
          <p:cNvPr id="12" name="Shape 9"/>
          <p:cNvSpPr/>
          <p:nvPr/>
        </p:nvSpPr>
        <p:spPr>
          <a:xfrm>
            <a:off x="3630168" y="2103120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13" name="Image 1" descr="/sessions/wonderful-affectionate-thompson/mnt/outputs/icons/server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04" y="2162556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06240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ERP2.0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657600" y="26700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14,513</a:t>
            </a:r>
            <a:pPr indent="0" marL="0">
              <a:buNone/>
            </a:pPr>
            <a:r>
              <a:rPr lang="en-US" sz="11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3657600" y="3090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 146개사 · 출하 1,730건</a:t>
            </a:r>
            <a:endParaRPr lang="en-US" sz="970" dirty="0"/>
          </a:p>
        </p:txBody>
      </p:sp>
      <p:sp>
        <p:nvSpPr>
          <p:cNvPr id="17" name="Shape 13"/>
          <p:cNvSpPr/>
          <p:nvPr/>
        </p:nvSpPr>
        <p:spPr>
          <a:xfrm>
            <a:off x="6309360" y="192024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/>
        </p:spPr>
      </p:sp>
      <p:sp>
        <p:nvSpPr>
          <p:cNvPr id="18" name="Shape 14"/>
          <p:cNvSpPr/>
          <p:nvPr/>
        </p:nvSpPr>
        <p:spPr>
          <a:xfrm>
            <a:off x="6510528" y="2103120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19" name="Image 2" descr="/sessions/wonderful-affectionate-thompson/mnt/outputs/icons/chartbar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4" y="2162556"/>
            <a:ext cx="338328" cy="3383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86600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PLC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537960" y="26700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1,823,733</a:t>
            </a:r>
            <a:pPr indent="0" marL="0">
              <a:buNone/>
            </a:pPr>
            <a:r>
              <a:rPr lang="en-US" sz="11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2100" dirty="0"/>
          </a:p>
        </p:txBody>
      </p:sp>
      <p:sp>
        <p:nvSpPr>
          <p:cNvPr id="22" name="Text 17"/>
          <p:cNvSpPr/>
          <p:nvPr/>
        </p:nvSpPr>
        <p:spPr>
          <a:xfrm>
            <a:off x="6537960" y="3090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2초 간격 초정밀 실시간 운전 로그</a:t>
            </a:r>
            <a:endParaRPr lang="en-US" sz="970" dirty="0"/>
          </a:p>
        </p:txBody>
      </p:sp>
      <p:sp>
        <p:nvSpPr>
          <p:cNvPr id="23" name="Shape 18"/>
          <p:cNvSpPr/>
          <p:nvPr/>
        </p:nvSpPr>
        <p:spPr>
          <a:xfrm>
            <a:off x="9189720" y="1920240"/>
            <a:ext cx="2651760" cy="1691640"/>
          </a:xfrm>
          <a:prstGeom prst="roundRect">
            <a:avLst>
              <a:gd name="adj" fmla="val 4865"/>
            </a:avLst>
          </a:prstGeom>
          <a:solidFill>
            <a:srgbClr val="F4F6FA"/>
          </a:solidFill>
          <a:ln/>
        </p:spPr>
      </p:sp>
      <p:sp>
        <p:nvSpPr>
          <p:cNvPr id="24" name="Shape 19"/>
          <p:cNvSpPr/>
          <p:nvPr/>
        </p:nvSpPr>
        <p:spPr>
          <a:xfrm>
            <a:off x="9390888" y="2103120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pic>
        <p:nvPicPr>
          <p:cNvPr id="25" name="Image 3" descr="/sessions/wonderful-affectionate-thompson/mnt/outputs/icons/eye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0324" y="2162556"/>
            <a:ext cx="338328" cy="33832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966960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SAIGE VIMS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9418320" y="26700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1,954</a:t>
            </a:r>
            <a:pPr indent="0" marL="0">
              <a:buNone/>
            </a:pPr>
            <a:r>
              <a:rPr lang="en-US" sz="11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2100" dirty="0"/>
          </a:p>
        </p:txBody>
      </p:sp>
      <p:sp>
        <p:nvSpPr>
          <p:cNvPr id="28" name="Text 22"/>
          <p:cNvSpPr/>
          <p:nvPr/>
        </p:nvSpPr>
        <p:spPr>
          <a:xfrm>
            <a:off x="9418320" y="3090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결함 이벤트 88,059건 (슬리팅 표면검사)</a:t>
            </a:r>
            <a:endParaRPr lang="en-US" sz="970" dirty="0"/>
          </a:p>
        </p:txBody>
      </p:sp>
      <p:sp>
        <p:nvSpPr>
          <p:cNvPr id="29" name="Shape 23"/>
          <p:cNvSpPr/>
          <p:nvPr/>
        </p:nvSpPr>
        <p:spPr>
          <a:xfrm>
            <a:off x="548640" y="3749040"/>
            <a:ext cx="11292840" cy="713232"/>
          </a:xfrm>
          <a:prstGeom prst="roundRect">
            <a:avLst>
              <a:gd name="adj" fmla="val 10256"/>
            </a:avLst>
          </a:prstGeom>
          <a:solidFill>
            <a:srgbClr val="16283F"/>
          </a:solidFill>
          <a:ln/>
        </p:spPr>
      </p:sp>
      <p:sp>
        <p:nvSpPr>
          <p:cNvPr id="30" name="Text 24"/>
          <p:cNvSpPr/>
          <p:nvPr/>
        </p:nvSpPr>
        <p:spPr>
          <a:xfrm>
            <a:off x="822960" y="374904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데이터 자산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7680960" y="374904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1,872,953</a:t>
            </a:r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2400" dirty="0"/>
          </a:p>
        </p:txBody>
      </p:sp>
      <p:sp>
        <p:nvSpPr>
          <p:cNvPr id="32" name="Text 26"/>
          <p:cNvSpPr/>
          <p:nvPr/>
        </p:nvSpPr>
        <p:spPr>
          <a:xfrm>
            <a:off x="548640" y="470916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단순 축적이 아니라, 직접 검증했습니다</a:t>
            </a:r>
            <a:endParaRPr lang="en-US" sz="1650" dirty="0"/>
          </a:p>
        </p:txBody>
      </p:sp>
      <p:pic>
        <p:nvPicPr>
          <p:cNvPr id="33" name="Image 4" descr="/sessions/wonderful-affectionate-thompson/mnt/outputs/icons/check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5157216"/>
            <a:ext cx="201168" cy="20116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77824" y="508406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실API 직접 조사로 표면검사 시스템 규모(1,954건 · 결함 88,059건 · 2025-12~2026-07)를 재확인</a:t>
            </a:r>
            <a:endParaRPr lang="en-US" sz="1230" dirty="0"/>
          </a:p>
        </p:txBody>
      </p:sp>
      <p:pic>
        <p:nvPicPr>
          <p:cNvPr id="35" name="Image 5" descr="/sessions/wonderful-affectionate-thompson/mnt/outputs/icons/check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5522976"/>
            <a:ext cx="201168" cy="20116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77824" y="544982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모델 구성 확인 — 상단 카메라(5클래스, 학습완료) · 측면 카메라(2클래스, 학습중)</a:t>
            </a:r>
            <a:endParaRPr lang="en-US" sz="1230" dirty="0"/>
          </a:p>
        </p:txBody>
      </p:sp>
      <p:pic>
        <p:nvPicPr>
          <p:cNvPr id="37" name="Image 6" descr="/sessions/wonderful-affectionate-thompson/mnt/outputs/icons/check_amb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888736"/>
            <a:ext cx="201168" cy="20116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77824" y="581558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데모/테스트 데이터 혼입 이슈를 직접 발견 — 일부 코일은 결함의 최대 94.2%가 실결함 아닌 데모 데이터</a:t>
            </a:r>
            <a:endParaRPr lang="en-US" sz="1230" dirty="0"/>
          </a:p>
        </p:txBody>
      </p:sp>
      <p:pic>
        <p:nvPicPr>
          <p:cNvPr id="39" name="Image 7" descr="/sessions/wonderful-affectionate-thompson/mnt/outputs/icons/check_amb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254496"/>
            <a:ext cx="201168" cy="20116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877824" y="618134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두께측정 5개 코일 표본조사로 ‘두께측정 미가동’ 상태를 직접 확인 — 놓치지 않고 개선 과제로 반영</a:t>
            </a:r>
            <a:endParaRPr lang="en-US" sz="1230" dirty="0"/>
          </a:p>
        </p:txBody>
      </p:sp>
      <p:sp>
        <p:nvSpPr>
          <p:cNvPr id="41" name="Text 31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하나의 Coil ID로, 입고부터 출고까지 잇는다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레벨링 품질 데이터가 더해지면, 코일 하나의 전 생애가 처음으로 완전히 연결됩니다.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31136" y="228600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283F"/>
            </a:solidFill>
            <a:prstDash val="solid"/>
          </a:ln>
        </p:spPr>
      </p:sp>
      <p:pic>
        <p:nvPicPr>
          <p:cNvPr id="6" name="Image 0" descr="/sessions/wonderful-affectionate-thompson/mnt/outputs/icons/boxe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246888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31136" y="29077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입고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231136" y="32278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785616" y="3063240"/>
            <a:ext cx="502920" cy="0"/>
          </a:xfrm>
          <a:prstGeom prst="line">
            <a:avLst/>
          </a:prstGeom>
          <a:noFill/>
          <a:ln w="25400">
            <a:solidFill>
              <a:srgbClr val="8592A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88536" y="2286000"/>
            <a:ext cx="1554480" cy="1554480"/>
          </a:xfrm>
          <a:prstGeom prst="ellipse">
            <a:avLst/>
          </a:prstGeom>
          <a:solidFill>
            <a:srgbClr val="FDECD6"/>
          </a:solidFill>
          <a:ln w="31750">
            <a:solidFill>
              <a:srgbClr val="E8830F"/>
            </a:solidFill>
            <a:prstDash val="solid"/>
          </a:ln>
        </p:spPr>
      </p:sp>
      <p:pic>
        <p:nvPicPr>
          <p:cNvPr id="11" name="Image 1" descr="/sessions/wonderful-affectionate-thompson/mnt/outputs/icons/tools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46888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88536" y="29077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레벨링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288536" y="32278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+ 신규 AI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288536" y="1938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이번 신규 서비스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843016" y="3063240"/>
            <a:ext cx="502920" cy="0"/>
          </a:xfrm>
          <a:prstGeom prst="line">
            <a:avLst/>
          </a:prstGeom>
          <a:noFill/>
          <a:ln w="25400">
            <a:solidFill>
              <a:srgbClr val="8592A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45936" y="228600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283F"/>
            </a:solidFill>
            <a:prstDash val="solid"/>
          </a:ln>
        </p:spPr>
      </p:sp>
      <p:pic>
        <p:nvPicPr>
          <p:cNvPr id="17" name="Image 2" descr="/sessions/wonderful-affectionate-thompson/mnt/outputs/icons/ey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46888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5936" y="29077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슬리팅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45936" y="32278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SAIGE VIMS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900416" y="3063240"/>
            <a:ext cx="502920" cy="0"/>
          </a:xfrm>
          <a:prstGeom prst="line">
            <a:avLst/>
          </a:prstGeom>
          <a:noFill/>
          <a:ln w="25400">
            <a:solidFill>
              <a:srgbClr val="8592A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403336" y="2286000"/>
            <a:ext cx="1554480" cy="1554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283F"/>
            </a:solidFill>
            <a:prstDash val="solid"/>
          </a:ln>
        </p:spPr>
      </p:sp>
      <p:pic>
        <p:nvPicPr>
          <p:cNvPr id="22" name="Image 3" descr="/sessions/wonderful-affectionate-thompson/mnt/outputs/icons/tru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246888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03336" y="29077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출고/매출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403336" y="32278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2.0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47091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</p:spPr>
      </p:sp>
      <p:sp>
        <p:nvSpPr>
          <p:cNvPr id="26" name="Text 20"/>
          <p:cNvSpPr/>
          <p:nvPr/>
        </p:nvSpPr>
        <p:spPr>
          <a:xfrm>
            <a:off x="777240" y="48737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명확화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77240" y="523951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입고 시점 불량(소재)과 가공 불량을 완벽하게 분리해 분쟁을 줄입니다.</a:t>
            </a:r>
            <a:endParaRPr lang="en-US" sz="1230" dirty="0"/>
          </a:p>
        </p:txBody>
      </p:sp>
      <p:sp>
        <p:nvSpPr>
          <p:cNvPr id="28" name="Shape 22"/>
          <p:cNvSpPr/>
          <p:nvPr/>
        </p:nvSpPr>
        <p:spPr>
          <a:xfrm>
            <a:off x="4325112" y="47091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</p:spPr>
      </p:sp>
      <p:sp>
        <p:nvSpPr>
          <p:cNvPr id="29" name="Text 23"/>
          <p:cNvSpPr/>
          <p:nvPr/>
        </p:nvSpPr>
        <p:spPr>
          <a:xfrm>
            <a:off x="4553712" y="48737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 고도화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4553712" y="523951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포털에 코일별 정밀 품질 리포트를 증빙 자료로 자동 제공합니다.</a:t>
            </a:r>
            <a:endParaRPr lang="en-US" sz="1230" dirty="0"/>
          </a:p>
        </p:txBody>
      </p:sp>
      <p:sp>
        <p:nvSpPr>
          <p:cNvPr id="31" name="Shape 25"/>
          <p:cNvSpPr/>
          <p:nvPr/>
        </p:nvSpPr>
        <p:spPr>
          <a:xfrm>
            <a:off x="8101584" y="47091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</p:spPr>
      </p:sp>
      <p:sp>
        <p:nvSpPr>
          <p:cNvPr id="32" name="Text 26"/>
          <p:cNvSpPr/>
          <p:nvPr/>
        </p:nvSpPr>
        <p:spPr>
          <a:xfrm>
            <a:off x="8330184" y="48737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 산출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8330184" y="523951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 데이터와 연결해 정확한 ROI와 절감액을 도출합니다.</a:t>
            </a:r>
            <a:endParaRPr lang="en-US" sz="1230" dirty="0"/>
          </a:p>
        </p:txBody>
      </p:sp>
      <p:sp>
        <p:nvSpPr>
          <p:cNvPr id="34" name="Text 28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레벨링을 위해, 우리는 이렇게 갑니다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6283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13432"/>
            <a:ext cx="530352" cy="5303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13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22768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08760" y="25511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레벨러 AX 실증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0449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2026.07 ~ 12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35584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전수검사율 100% 달성 및 데이터 신뢰성 확보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4069080" y="3017520"/>
            <a:ext cx="256032" cy="0"/>
          </a:xfrm>
          <a:prstGeom prst="line">
            <a:avLst/>
          </a:prstGeom>
          <a:noFill/>
          <a:ln w="25400">
            <a:solidFill>
              <a:srgbClr val="8592A6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325112" y="20574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6283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99432" y="2313432"/>
            <a:ext cx="530352" cy="5303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14" name="Text 12"/>
          <p:cNvSpPr/>
          <p:nvPr/>
        </p:nvSpPr>
        <p:spPr>
          <a:xfrm>
            <a:off x="4599432" y="2313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85232" y="22768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85232" y="25511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연구실 서비스 연계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99432" y="30449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99432" y="335584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영업·현장 태블릿에 품질 이력 통합 대시보드 반영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7845552" y="3017520"/>
            <a:ext cx="256032" cy="0"/>
          </a:xfrm>
          <a:prstGeom prst="line">
            <a:avLst/>
          </a:prstGeom>
          <a:noFill/>
          <a:ln w="25400">
            <a:solidFill>
              <a:srgbClr val="8592A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101584" y="20574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6283F"/>
          </a:solidFill>
          <a:ln/>
        </p:spPr>
      </p:sp>
      <p:sp>
        <p:nvSpPr>
          <p:cNvPr id="21" name="Shape 19"/>
          <p:cNvSpPr/>
          <p:nvPr/>
        </p:nvSpPr>
        <p:spPr>
          <a:xfrm>
            <a:off x="8375904" y="2313432"/>
            <a:ext cx="530352" cy="530352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22" name="Text 20"/>
          <p:cNvSpPr/>
          <p:nvPr/>
        </p:nvSpPr>
        <p:spPr>
          <a:xfrm>
            <a:off x="8375904" y="2313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61704" y="22768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61704" y="25511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산업단지 확산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375904" y="30449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~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375904" y="335584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누적된 품질 + PLC 데이터로 예지보전 모델 구축</a:t>
            </a:r>
            <a:endParaRPr lang="en-US" sz="123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11073384" cy="150876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434840"/>
            <a:ext cx="104333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단순한 기업 내 자동화를 넘어, 중대재해를 예방하고 숙련공의 노하우를 디지털화하는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‘반월시화 산업단지 4,000여 개 코일 가공업체의 AI 제조혁신 표준 모델’로 도약하겠습니다.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0A1524"/>
          </a:solidFill>
          <a:ln/>
        </p:spPr>
      </p:sp>
      <p:pic>
        <p:nvPicPr>
          <p:cNvPr id="3" name="Image 0" descr="/sessions/wonderful-affectionate-thompson/mnt/outputs/icons/flag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02920"/>
            <a:ext cx="1234440" cy="1234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장비가 아니라, 데이터와 사람이 답이었습니다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22960" y="3291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도전(장비)의 실패에서 배워, AI 3차례의 도전으로 여기까지 왔습니다. 이제 마지막 한 조각, 레벨링 라인 품질측정만 남았습니다.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4572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44년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82296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노하우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520440" y="4572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1,872,953건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352044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데이터 자산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17920" y="4572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14+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621792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실서비스 · 프로토타입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915400" y="4572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2026.12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891540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레벨러 AX 실증 완료</a:t>
            </a:r>
            <a:endParaRPr lang="en-US" sz="1200" dirty="0"/>
          </a:p>
        </p:txBody>
      </p:sp>
      <p:sp>
        <p:nvSpPr>
          <p:cNvPr id="14" name="Text 11">
            <a:hlinkClick r:id="rId2" tooltip=""/>
          </p:cNvPr>
          <p:cNvSpPr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5A6C8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2026-07-29T15:57:33Z</dcterms:created>
  <dcterms:modified xsi:type="dcterms:W3CDTF">2026-07-29T15:57:33Z</dcterms:modified>
</cp:coreProperties>
</file>