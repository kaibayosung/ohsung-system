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 ·  SMART ERP 2.0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AI 도입 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공정 흐름 위에서 보는 AI 적용 현황과 ERP 2.0 통합 기능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0" cy="1234440"/>
          </a:xfrm>
          <a:prstGeom prst="line">
            <a:avLst/>
          </a:prstGeom>
          <a:noFill/>
          <a:ln w="12700">
            <a:solidFill>
              <a:srgbClr val="3B4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7   |   오성철강 코일센터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공정 흐름 × AI 적용 현황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공정에 AI를 적용하고 있고, 앞으로 어디에 적용할 것인가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3291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2F5EA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4152" y="274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적용완료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299448" y="3291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BF1D6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274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파일럿/일부구축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780776" y="3291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9ECF1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36808" y="274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제안(향후 적용)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" y="1298448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12801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· 상담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" y="1645920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전화로만 접수, 별도 기록 없음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85216" y="2231136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9ECF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23113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상담 어시스턴트 1차 응대 · 자동 기록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328416" y="1170432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56432" y="1298448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0" name="Text 18"/>
          <p:cNvSpPr/>
          <p:nvPr/>
        </p:nvSpPr>
        <p:spPr>
          <a:xfrm>
            <a:off x="3456432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22192" y="12801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 입고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1645920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이관요청서 · 송장 · 밀시트를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보고 수기 입력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456432" y="2231136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FBF1D6"/>
          </a:solidFill>
          <a:ln/>
        </p:spPr>
      </p:sp>
      <p:sp>
        <p:nvSpPr>
          <p:cNvPr id="25" name="Text 23"/>
          <p:cNvSpPr/>
          <p:nvPr/>
        </p:nvSpPr>
        <p:spPr>
          <a:xfrm>
            <a:off x="3529584" y="223113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 → ERP 재고 자동 반영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199632" y="1170432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27648" y="1298448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93408" y="12801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가공요청 · 코일선택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7648" y="1645920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두께만 전달, 코일 선택은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경험에 의존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327648" y="2231136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FBF1D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23113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추천엔진이 재고 · 규격 자동 매칭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9070848" y="1170432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98864" y="1298448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36" name="Text 34"/>
          <p:cNvSpPr/>
          <p:nvPr/>
        </p:nvSpPr>
        <p:spPr>
          <a:xfrm>
            <a:off x="9198864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64624" y="12801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 작성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98864" y="1645920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8864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코일 기준으로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 직접 작성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198864" y="2231136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2F5EA"/>
          </a:solidFill>
          <a:ln/>
        </p:spPr>
      </p:sp>
      <p:sp>
        <p:nvSpPr>
          <p:cNvPr id="41" name="Text 39"/>
          <p:cNvSpPr/>
          <p:nvPr/>
        </p:nvSpPr>
        <p:spPr>
          <a:xfrm>
            <a:off x="9272016" y="223113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선택 연동 자동 생성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9070848" y="3218688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98864" y="3346704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44" name="Text 42"/>
          <p:cNvSpPr/>
          <p:nvPr/>
        </p:nvSpPr>
        <p:spPr>
          <a:xfrm>
            <a:off x="9198864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564624" y="332841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코일이동 · 장비셋팅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198864" y="3694176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98864" y="37490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 나이프 · 세퍼레이터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셋팅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9198864" y="4279392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2F5EA"/>
          </a:solidFill>
          <a:ln/>
        </p:spPr>
      </p:sp>
      <p:sp>
        <p:nvSpPr>
          <p:cNvPr id="49" name="Text 47"/>
          <p:cNvSpPr/>
          <p:nvPr/>
        </p:nvSpPr>
        <p:spPr>
          <a:xfrm>
            <a:off x="9272016" y="427939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 최적 셋팅값 실시간 제시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(내비게이션 방식)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6199632" y="3218688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27648" y="3346704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52" name="Text 50"/>
          <p:cNvSpPr/>
          <p:nvPr/>
        </p:nvSpPr>
        <p:spPr>
          <a:xfrm>
            <a:off x="6327648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693408" y="332841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실행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327648" y="3694176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37490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대시보드에 작업 등록 후 가공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(PLC 데이터 저장)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6327648" y="4279392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2F5EA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427939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PLC+CCTV 기반 이상감지 · 사고분석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3328416" y="3218688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456432" y="3346704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60" name="Text 58"/>
          <p:cNvSpPr/>
          <p:nvPr/>
        </p:nvSpPr>
        <p:spPr>
          <a:xfrm>
            <a:off x="3456432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822192" y="332841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측정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456432" y="3694176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56432" y="37490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표면 불량을 사람이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육안 · 계측 확인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3456432" y="4279392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FBF1D6"/>
          </a:solidFill>
          <a:ln/>
        </p:spPr>
      </p:sp>
      <p:sp>
        <p:nvSpPr>
          <p:cNvPr id="65" name="Text 63"/>
          <p:cNvSpPr/>
          <p:nvPr/>
        </p:nvSpPr>
        <p:spPr>
          <a:xfrm>
            <a:off x="3529584" y="427939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결함 자동 탐지 · 분류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457200" y="3218688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85216" y="3346704"/>
            <a:ext cx="292608" cy="29260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68" name="Text 66"/>
          <p:cNvSpPr/>
          <p:nvPr/>
        </p:nvSpPr>
        <p:spPr>
          <a:xfrm>
            <a:off x="585216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50976" y="332841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작업완료 · 발송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85216" y="3694176"/>
            <a:ext cx="2359152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" y="374904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전화로 고객사에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통보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85216" y="4279392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2F5EA"/>
          </a:solidFill>
          <a:ln/>
        </p:spPr>
      </p:sp>
      <p:sp>
        <p:nvSpPr>
          <p:cNvPr id="73" name="Text 71"/>
          <p:cNvSpPr/>
          <p:nvPr/>
        </p:nvSpPr>
        <p:spPr>
          <a:xfrm>
            <a:off x="658368" y="427939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고객포털 실시간 조회 + 리포트 FAX 자동발송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3108960" y="1783080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75" name="Shape 73"/>
          <p:cNvSpPr/>
          <p:nvPr/>
        </p:nvSpPr>
        <p:spPr>
          <a:xfrm>
            <a:off x="5980176" y="1783080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76" name="Shape 74"/>
          <p:cNvSpPr/>
          <p:nvPr/>
        </p:nvSpPr>
        <p:spPr>
          <a:xfrm>
            <a:off x="8851392" y="1783080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77" name="Shape 75"/>
          <p:cNvSpPr/>
          <p:nvPr/>
        </p:nvSpPr>
        <p:spPr>
          <a:xfrm rot="10800000">
            <a:off x="3108960" y="3831336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78" name="Shape 76"/>
          <p:cNvSpPr/>
          <p:nvPr/>
        </p:nvSpPr>
        <p:spPr>
          <a:xfrm rot="10800000">
            <a:off x="5980176" y="3831336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79" name="Shape 77"/>
          <p:cNvSpPr/>
          <p:nvPr/>
        </p:nvSpPr>
        <p:spPr>
          <a:xfrm rot="10800000">
            <a:off x="8851392" y="3831336"/>
            <a:ext cx="182880" cy="256032"/>
          </a:xfrm>
          <a:prstGeom prst="chevron">
            <a:avLst/>
          </a:prstGeom>
          <a:solidFill>
            <a:srgbClr val="C7D1E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232136" y="2788920"/>
            <a:ext cx="292608" cy="521208"/>
          </a:xfrm>
          <a:prstGeom prst="downArrow">
            <a:avLst/>
          </a:prstGeom>
          <a:solidFill>
            <a:srgbClr val="E8830F"/>
          </a:solidFill>
          <a:ln/>
        </p:spPr>
      </p:sp>
      <p:sp>
        <p:nvSpPr>
          <p:cNvPr id="81" name="Shape 79"/>
          <p:cNvSpPr/>
          <p:nvPr/>
        </p:nvSpPr>
        <p:spPr>
          <a:xfrm>
            <a:off x="457200" y="4956048"/>
            <a:ext cx="11274552" cy="1609344"/>
          </a:xfrm>
          <a:prstGeom prst="roundRect">
            <a:avLst>
              <a:gd name="adj" fmla="val 5114"/>
            </a:avLst>
          </a:prstGeom>
          <a:solidFill>
            <a:srgbClr val="16283F"/>
          </a:solidFill>
          <a:ln/>
        </p:spPr>
      </p:sp>
      <p:sp>
        <p:nvSpPr>
          <p:cNvPr id="82" name="Text 80"/>
          <p:cNvSpPr/>
          <p:nvPr/>
        </p:nvSpPr>
        <p:spPr>
          <a:xfrm>
            <a:off x="685800" y="5047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스마트 ERP 2.0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685800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공정 데이터를 하나의 플랫폼으로 통합</a:t>
            </a:r>
            <a:endParaRPr lang="en-US" sz="860" dirty="0"/>
          </a:p>
        </p:txBody>
      </p:sp>
      <p:sp>
        <p:nvSpPr>
          <p:cNvPr id="84" name="Shape 82"/>
          <p:cNvSpPr/>
          <p:nvPr/>
        </p:nvSpPr>
        <p:spPr>
          <a:xfrm>
            <a:off x="3977640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50792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데이터허브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(RPA 자동동기화)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5248656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21808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현장운영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(작업지시 · 재고)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6519672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92824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· 설비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(AI비전 · PLC이상감지)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7790688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63840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경영리포트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(대표 브리핑 · 손익)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9061704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34856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고객포털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(조회 · FAX자동화)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10332720" y="5084064"/>
            <a:ext cx="1133856" cy="1353312"/>
          </a:xfrm>
          <a:prstGeom prst="roundRect">
            <a:avLst>
              <a:gd name="adj" fmla="val 4839"/>
            </a:avLst>
          </a:prstGeom>
          <a:solidFill>
            <a:srgbClr val="24406B"/>
          </a:solidFill>
          <a:ln w="9525">
            <a:solidFill>
              <a:srgbClr val="3B5A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405872" y="5084064"/>
            <a:ext cx="987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· 결재</a:t>
            </a:r>
            <a:endParaRPr lang="en-US" sz="7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(온라인 기안)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2.0 — 통합 플랫폼이 제공하는 기능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곳곳의 AI 기능을 하나로 묶어, 입고부터 발송까지 데이터가 끊기지 않고 이어집니다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5727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2F5EA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구축완료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76656" y="19568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허브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340864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ERP·PLC·FAX문서를 RPA가 자동 수집·정제해 하나의 DB로 통합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270248" y="1371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9704" y="15727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2F5EA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구축완료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489704" y="19568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운영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9704" y="2340864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 자동 생성, 코일 자동배정, AI Helper 셋팅 추천, 재고·입출고 실시간 관리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083296" y="1371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5727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BF1D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8302752" y="19568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· 설비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340864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품질측정(파일럿), PLC 기반 이상감지·사고 자동분석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" y="360273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2F5E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구축완료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76656" y="39867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리포트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" y="4370832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일일·월간 브리핑, 손익·고정비·매출 실시간 대시보드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270248" y="340156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9704" y="360273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2F5EA"/>
          </a:solidFill>
          <a:ln/>
        </p:spPr>
      </p:sp>
      <p:sp>
        <p:nvSpPr>
          <p:cNvPr id="26" name="Text 24"/>
          <p:cNvSpPr/>
          <p:nvPr/>
        </p:nvSpPr>
        <p:spPr>
          <a:xfrm>
            <a:off x="4489704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구축완료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489704" y="39867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9704" y="4370832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재고·작업내역을 직접 조회하고 리포트를 FAX로 즉시 수신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83296" y="340156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63500" dist="25400" dir="5400000">
              <a:srgbClr val="8592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60273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2F5EA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구축완료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8302752" y="39867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· 결재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4370832"/>
            <a:ext cx="31272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온라인 기안·승인, 은행계좌 연동 확인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AI 도입 맵   |   ERP 2.0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2026-07-25T08:55:59Z</dcterms:created>
  <dcterms:modified xsi:type="dcterms:W3CDTF">2026-07-25T08:55:59Z</dcterms:modified>
</cp:coreProperties>
</file>