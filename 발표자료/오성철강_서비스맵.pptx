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34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  ·  SERVICE 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03504"/>
            <a:ext cx="11091672" cy="1280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오성철강이 쓰는 </a:t>
            </a:r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54개 서비스</a:t>
            </a:r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 이름까지 전부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0" y="859536"/>
            <a:ext cx="100584" cy="100584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" name="Text 4"/>
          <p:cNvSpPr/>
          <p:nvPr/>
        </p:nvSpPr>
        <p:spPr>
          <a:xfrm>
            <a:off x="7927848" y="81381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동작 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0" y="859536"/>
            <a:ext cx="100584" cy="100584"/>
          </a:xfrm>
          <a:prstGeom prst="ellipse">
            <a:avLst/>
          </a:prstGeom>
          <a:solidFill>
            <a:srgbClr val="F5B544"/>
          </a:solidFill>
          <a:ln/>
        </p:spPr>
      </p:sp>
      <p:sp>
        <p:nvSpPr>
          <p:cNvPr id="8" name="Text 6"/>
          <p:cNvSpPr/>
          <p:nvPr/>
        </p:nvSpPr>
        <p:spPr>
          <a:xfrm>
            <a:off x="9299448" y="81381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515600" y="859536"/>
            <a:ext cx="100584" cy="100584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10" name="Text 8"/>
          <p:cNvSpPr/>
          <p:nvPr/>
        </p:nvSpPr>
        <p:spPr>
          <a:xfrm>
            <a:off x="10671048" y="81381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· 준비 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89888"/>
            <a:ext cx="2622042" cy="2212848"/>
          </a:xfrm>
          <a:prstGeom prst="roundRect">
            <a:avLst>
              <a:gd name="adj" fmla="val 2893"/>
            </a:avLst>
          </a:prstGeom>
          <a:solidFill>
            <a:srgbClr val="F2F8FC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89888"/>
            <a:ext cx="2622042" cy="320040"/>
          </a:xfrm>
          <a:prstGeom prst="roundRect">
            <a:avLst>
              <a:gd name="adj" fmla="val 20000"/>
            </a:avLst>
          </a:prstGeom>
          <a:solidFill>
            <a:srgbClr val="0E6BA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554480"/>
            <a:ext cx="2622042" cy="155448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1389888"/>
            <a:ext cx="19453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라인  ·  관제 / 분석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58618" y="138988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" y="1842516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" y="1760220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라인 통합 관제 (NMS)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" y="2098548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2016252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공정×ERP 대시보드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4088" y="235458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227228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공정 현황 모니터링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" y="2610612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2528316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통합 타임라인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" y="2866644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" y="2784348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코일 상세분석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4088" y="3122676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877824" y="3040380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PLC 상세 조회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4088" y="3378708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3296412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실시간 HMI 미러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749040"/>
            <a:ext cx="2622042" cy="1700784"/>
          </a:xfrm>
          <a:prstGeom prst="roundRect">
            <a:avLst>
              <a:gd name="adj" fmla="val 3763"/>
            </a:avLst>
          </a:prstGeom>
          <a:solidFill>
            <a:srgbClr val="F2F8FC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749040"/>
            <a:ext cx="2622042" cy="320040"/>
          </a:xfrm>
          <a:prstGeom prst="roundRect">
            <a:avLst>
              <a:gd name="adj" fmla="val 20000"/>
            </a:avLst>
          </a:prstGeom>
          <a:solidFill>
            <a:srgbClr val="0E6BA8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3913632"/>
            <a:ext cx="2622042" cy="155448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" y="3749040"/>
            <a:ext cx="19453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언코일러 텐션  ·  AI 인식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58618" y="3749040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4088" y="4201668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6" name="Text 34"/>
          <p:cNvSpPr/>
          <p:nvPr/>
        </p:nvSpPr>
        <p:spPr>
          <a:xfrm>
            <a:off x="877824" y="4119372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PR-DTC-3100 실시간 인식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4088" y="44577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24" y="437540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 데이터 수신 확인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04088" y="4713732"/>
            <a:ext cx="91440" cy="91440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40" name="Text 38"/>
          <p:cNvSpPr/>
          <p:nvPr/>
        </p:nvSpPr>
        <p:spPr>
          <a:xfrm>
            <a:off x="877824" y="4631436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테이퍼 텐션 원격 모니터링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4088" y="4969764"/>
            <a:ext cx="91440" cy="91440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42" name="Text 40"/>
          <p:cNvSpPr/>
          <p:nvPr/>
        </p:nvSpPr>
        <p:spPr>
          <a:xfrm>
            <a:off x="877824" y="4887468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작업 가이드 (외국인)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04088" y="5225796"/>
            <a:ext cx="91440" cy="91440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44" name="Text 42"/>
          <p:cNvSpPr/>
          <p:nvPr/>
        </p:nvSpPr>
        <p:spPr>
          <a:xfrm>
            <a:off x="877824" y="5143500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인식 검증 (개발용)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371850" y="1389888"/>
            <a:ext cx="2622042" cy="2468880"/>
          </a:xfrm>
          <a:prstGeom prst="roundRect">
            <a:avLst>
              <a:gd name="adj" fmla="val 2593"/>
            </a:avLst>
          </a:prstGeom>
          <a:solidFill>
            <a:srgbClr val="F5F5FF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71850" y="1389888"/>
            <a:ext cx="2622042" cy="3200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47" name="Shape 45"/>
          <p:cNvSpPr/>
          <p:nvPr/>
        </p:nvSpPr>
        <p:spPr>
          <a:xfrm>
            <a:off x="3371850" y="1554480"/>
            <a:ext cx="2622042" cy="1554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8" name="Text 46"/>
          <p:cNvSpPr/>
          <p:nvPr/>
        </p:nvSpPr>
        <p:spPr>
          <a:xfrm>
            <a:off x="3518154" y="1389888"/>
            <a:ext cx="19453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  ·  세퍼레이터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1828" y="138988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527298" y="1842516"/>
            <a:ext cx="91440" cy="91440"/>
          </a:xfrm>
          <a:prstGeom prst="ellipse">
            <a:avLst/>
          </a:prstGeom>
          <a:solidFill>
            <a:srgbClr val="F5B544"/>
          </a:solidFill>
          <a:ln/>
        </p:spPr>
      </p:sp>
      <p:sp>
        <p:nvSpPr>
          <p:cNvPr id="51" name="Text 49"/>
          <p:cNvSpPr/>
          <p:nvPr/>
        </p:nvSpPr>
        <p:spPr>
          <a:xfrm>
            <a:off x="3701034" y="1760220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태블릿 키오스크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527298" y="2098548"/>
            <a:ext cx="91440" cy="91440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53" name="Text 51"/>
          <p:cNvSpPr/>
          <p:nvPr/>
        </p:nvSpPr>
        <p:spPr>
          <a:xfrm>
            <a:off x="3701034" y="2016252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계산기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527298" y="235458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55" name="Text 53"/>
          <p:cNvSpPr/>
          <p:nvPr/>
        </p:nvSpPr>
        <p:spPr>
          <a:xfrm>
            <a:off x="3701034" y="227228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헬퍼 (지난작업 보기)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527298" y="2610612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57" name="Text 55"/>
          <p:cNvSpPr/>
          <p:nvPr/>
        </p:nvSpPr>
        <p:spPr>
          <a:xfrm>
            <a:off x="3701034" y="2528316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헬퍼 (작업용 실시간)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527298" y="2866644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59" name="Text 57"/>
          <p:cNvSpPr/>
          <p:nvPr/>
        </p:nvSpPr>
        <p:spPr>
          <a:xfrm>
            <a:off x="3701034" y="2784348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헬퍼 모바일 (KR / EN)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527298" y="3122676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1" name="Text 59"/>
          <p:cNvSpPr/>
          <p:nvPr/>
        </p:nvSpPr>
        <p:spPr>
          <a:xfrm>
            <a:off x="3701034" y="3040380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 운행 모니터 (KR / EN)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527298" y="3378708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3" name="Text 61"/>
          <p:cNvSpPr/>
          <p:nvPr/>
        </p:nvSpPr>
        <p:spPr>
          <a:xfrm>
            <a:off x="3701034" y="3296412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슬리터1/2 배정 변경 (KR / EN)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527298" y="363474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65" name="Text 63"/>
          <p:cNvSpPr/>
          <p:nvPr/>
        </p:nvSpPr>
        <p:spPr>
          <a:xfrm>
            <a:off x="3701034" y="355244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작업 상세 분석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371850" y="4005072"/>
            <a:ext cx="2622042" cy="1700784"/>
          </a:xfrm>
          <a:prstGeom prst="roundRect">
            <a:avLst>
              <a:gd name="adj" fmla="val 3763"/>
            </a:avLst>
          </a:prstGeom>
          <a:solidFill>
            <a:srgbClr val="F5F5FF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71850" y="4005072"/>
            <a:ext cx="2622042" cy="3200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68" name="Shape 66"/>
          <p:cNvSpPr/>
          <p:nvPr/>
        </p:nvSpPr>
        <p:spPr>
          <a:xfrm>
            <a:off x="3371850" y="4169664"/>
            <a:ext cx="2622042" cy="1554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9" name="Text 67"/>
          <p:cNvSpPr/>
          <p:nvPr/>
        </p:nvSpPr>
        <p:spPr>
          <a:xfrm>
            <a:off x="3518154" y="4005072"/>
            <a:ext cx="19453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작업현황  ·  현장 조회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481828" y="4005072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3527298" y="44577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72" name="Text 70"/>
          <p:cNvSpPr/>
          <p:nvPr/>
        </p:nvSpPr>
        <p:spPr>
          <a:xfrm>
            <a:off x="3701034" y="437540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작업현황 대시보드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3527298" y="4713732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74" name="Text 72"/>
          <p:cNvSpPr/>
          <p:nvPr/>
        </p:nvSpPr>
        <p:spPr>
          <a:xfrm>
            <a:off x="3701034" y="4631436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작업현황 대시보드 2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3527298" y="4969764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76" name="Text 74"/>
          <p:cNvSpPr/>
          <p:nvPr/>
        </p:nvSpPr>
        <p:spPr>
          <a:xfrm>
            <a:off x="3701034" y="4887468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작업현황 대시보드 3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527298" y="5225796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78" name="Text 76"/>
          <p:cNvSpPr/>
          <p:nvPr/>
        </p:nvSpPr>
        <p:spPr>
          <a:xfrm>
            <a:off x="3701034" y="5143500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확인 (거래처별 검색)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3527298" y="5481828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80" name="Text 78"/>
          <p:cNvSpPr/>
          <p:nvPr/>
        </p:nvSpPr>
        <p:spPr>
          <a:xfrm>
            <a:off x="3701034" y="5399532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원자재 코일 검색 (발주 매칭)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6195060" y="1389888"/>
            <a:ext cx="2622042" cy="1700784"/>
          </a:xfrm>
          <a:prstGeom prst="roundRect">
            <a:avLst>
              <a:gd name="adj" fmla="val 3763"/>
            </a:avLst>
          </a:prstGeom>
          <a:solidFill>
            <a:srgbClr val="FFFCF2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95060" y="1389888"/>
            <a:ext cx="2622042" cy="320040"/>
          </a:xfrm>
          <a:prstGeom prst="roundRect">
            <a:avLst>
              <a:gd name="adj" fmla="val 20000"/>
            </a:avLst>
          </a:prstGeom>
          <a:solidFill>
            <a:srgbClr val="B8860B"/>
          </a:solidFill>
          <a:ln/>
        </p:spPr>
      </p:sp>
      <p:sp>
        <p:nvSpPr>
          <p:cNvPr id="83" name="Shape 81"/>
          <p:cNvSpPr/>
          <p:nvPr/>
        </p:nvSpPr>
        <p:spPr>
          <a:xfrm>
            <a:off x="6195060" y="1554480"/>
            <a:ext cx="2622042" cy="1554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4" name="Text 82"/>
          <p:cNvSpPr/>
          <p:nvPr/>
        </p:nvSpPr>
        <p:spPr>
          <a:xfrm>
            <a:off x="6341364" y="1389888"/>
            <a:ext cx="19453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주문접수 자동화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8305038" y="138988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6350508" y="1842516"/>
            <a:ext cx="91440" cy="91440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87" name="Text 85"/>
          <p:cNvSpPr/>
          <p:nvPr/>
        </p:nvSpPr>
        <p:spPr>
          <a:xfrm>
            <a:off x="6524244" y="1760220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신규서비스 통합흐름 (v2)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6350508" y="2098548"/>
            <a:ext cx="91440" cy="91440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89" name="Text 87"/>
          <p:cNvSpPr/>
          <p:nvPr/>
        </p:nvSpPr>
        <p:spPr>
          <a:xfrm>
            <a:off x="6524244" y="2016252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FAX 작업요청서 접수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350508" y="2354580"/>
            <a:ext cx="91440" cy="91440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91" name="Text 89"/>
          <p:cNvSpPr/>
          <p:nvPr/>
        </p:nvSpPr>
        <p:spPr>
          <a:xfrm>
            <a:off x="6524244" y="227228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 주문접수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6350508" y="2610612"/>
            <a:ext cx="91440" cy="91440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93" name="Text 91"/>
          <p:cNvSpPr/>
          <p:nvPr/>
        </p:nvSpPr>
        <p:spPr>
          <a:xfrm>
            <a:off x="6524244" y="2528316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OCR 문서인식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6350508" y="2866644"/>
            <a:ext cx="91440" cy="91440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95" name="Text 93"/>
          <p:cNvSpPr/>
          <p:nvPr/>
        </p:nvSpPr>
        <p:spPr>
          <a:xfrm>
            <a:off x="6524244" y="2784348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코일확정 (지게차)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6195060" y="3236976"/>
            <a:ext cx="2622042" cy="1444752"/>
          </a:xfrm>
          <a:prstGeom prst="roundRect">
            <a:avLst>
              <a:gd name="adj" fmla="val 4430"/>
            </a:avLst>
          </a:prstGeom>
          <a:solidFill>
            <a:srgbClr val="FFFCF2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95060" y="3236976"/>
            <a:ext cx="2622042" cy="320040"/>
          </a:xfrm>
          <a:prstGeom prst="roundRect">
            <a:avLst>
              <a:gd name="adj" fmla="val 20000"/>
            </a:avLst>
          </a:prstGeom>
          <a:solidFill>
            <a:srgbClr val="B8860B"/>
          </a:solidFill>
          <a:ln/>
        </p:spPr>
      </p:sp>
      <p:sp>
        <p:nvSpPr>
          <p:cNvPr id="98" name="Shape 96"/>
          <p:cNvSpPr/>
          <p:nvPr/>
        </p:nvSpPr>
        <p:spPr>
          <a:xfrm>
            <a:off x="6195060" y="3401568"/>
            <a:ext cx="2622042" cy="1554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9" name="Text 97"/>
          <p:cNvSpPr/>
          <p:nvPr/>
        </p:nvSpPr>
        <p:spPr>
          <a:xfrm>
            <a:off x="6341364" y="3236976"/>
            <a:ext cx="19453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 ·  창고  ·  영업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8305038" y="3236976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6350508" y="3689604"/>
            <a:ext cx="91440" cy="91440"/>
          </a:xfrm>
          <a:prstGeom prst="ellipse">
            <a:avLst/>
          </a:prstGeom>
          <a:solidFill>
            <a:srgbClr val="F5B544"/>
          </a:solidFill>
          <a:ln/>
        </p:spPr>
      </p:sp>
      <p:sp>
        <p:nvSpPr>
          <p:cNvPr id="102" name="Text 100"/>
          <p:cNvSpPr/>
          <p:nvPr/>
        </p:nvSpPr>
        <p:spPr>
          <a:xfrm>
            <a:off x="6524244" y="3607308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코일창고 3D 뷰어 · 출고관리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6350508" y="3945636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04" name="Text 102"/>
          <p:cNvSpPr/>
          <p:nvPr/>
        </p:nvSpPr>
        <p:spPr>
          <a:xfrm>
            <a:off x="6524244" y="3863340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주문 현황 트래커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6350508" y="4201668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06" name="Text 104"/>
          <p:cNvSpPr/>
          <p:nvPr/>
        </p:nvSpPr>
        <p:spPr>
          <a:xfrm>
            <a:off x="6524244" y="4119372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챗봇 (대한강재)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6350508" y="44577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08" name="Text 106"/>
          <p:cNvSpPr/>
          <p:nvPr/>
        </p:nvSpPr>
        <p:spPr>
          <a:xfrm>
            <a:off x="6524244" y="437540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영업대상 고객사 리스트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6195060" y="4828032"/>
            <a:ext cx="2622042" cy="932688"/>
          </a:xfrm>
          <a:prstGeom prst="roundRect">
            <a:avLst>
              <a:gd name="adj" fmla="val 6863"/>
            </a:avLst>
          </a:prstGeom>
          <a:solidFill>
            <a:srgbClr val="F7F9FB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195060" y="4828032"/>
            <a:ext cx="2622042" cy="32004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195060" y="4992624"/>
            <a:ext cx="2622042" cy="1554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2" name="Text 110"/>
          <p:cNvSpPr/>
          <p:nvPr/>
        </p:nvSpPr>
        <p:spPr>
          <a:xfrm>
            <a:off x="6341364" y="4828032"/>
            <a:ext cx="19453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진단  ·  시스템 연동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8305038" y="4828032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6350508" y="5280660"/>
            <a:ext cx="91440" cy="91440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115" name="Text 113"/>
          <p:cNvSpPr/>
          <p:nvPr/>
        </p:nvSpPr>
        <p:spPr>
          <a:xfrm>
            <a:off x="6524244" y="519836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원인 분석 (AI)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6350508" y="5536692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17" name="Text 115"/>
          <p:cNvSpPr/>
          <p:nvPr/>
        </p:nvSpPr>
        <p:spPr>
          <a:xfrm>
            <a:off x="6524244" y="5454396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자동연동 모니터링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9018270" y="1389888"/>
            <a:ext cx="2622042" cy="3749040"/>
          </a:xfrm>
          <a:prstGeom prst="roundRect">
            <a:avLst>
              <a:gd name="adj" fmla="val 2441"/>
            </a:avLst>
          </a:prstGeom>
          <a:solidFill>
            <a:srgbClr val="F8FAFC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018270" y="1389888"/>
            <a:ext cx="2622042" cy="32004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9018270" y="1554480"/>
            <a:ext cx="2622042" cy="15544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21" name="Text 119"/>
          <p:cNvSpPr/>
          <p:nvPr/>
        </p:nvSpPr>
        <p:spPr>
          <a:xfrm>
            <a:off x="9164574" y="1389888"/>
            <a:ext cx="19453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2.0  ·  운영 화면</a:t>
            </a:r>
            <a:endParaRPr lang="en-US" sz="1050" dirty="0"/>
          </a:p>
        </p:txBody>
      </p:sp>
      <p:sp>
        <p:nvSpPr>
          <p:cNvPr id="122" name="Text 120"/>
          <p:cNvSpPr/>
          <p:nvPr/>
        </p:nvSpPr>
        <p:spPr>
          <a:xfrm>
            <a:off x="11128248" y="1389888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9173718" y="1842516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24" name="Text 122"/>
          <p:cNvSpPr/>
          <p:nvPr/>
        </p:nvSpPr>
        <p:spPr>
          <a:xfrm>
            <a:off x="9347454" y="1760220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FAX 리포트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9173718" y="2098548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26" name="Text 124"/>
          <p:cNvSpPr/>
          <p:nvPr/>
        </p:nvSpPr>
        <p:spPr>
          <a:xfrm>
            <a:off x="9347454" y="2016252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작업일보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9173718" y="235458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28" name="Text 126"/>
          <p:cNvSpPr/>
          <p:nvPr/>
        </p:nvSpPr>
        <p:spPr>
          <a:xfrm>
            <a:off x="9347454" y="227228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워크플로우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9173718" y="2610612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30" name="Text 128"/>
          <p:cNvSpPr/>
          <p:nvPr/>
        </p:nvSpPr>
        <p:spPr>
          <a:xfrm>
            <a:off x="9347454" y="2528316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스크랩 매출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9173718" y="2866644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32" name="Text 130"/>
          <p:cNvSpPr/>
          <p:nvPr/>
        </p:nvSpPr>
        <p:spPr>
          <a:xfrm>
            <a:off x="9347454" y="2784348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지출결의서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9173718" y="3122676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34" name="Text 132"/>
          <p:cNvSpPr/>
          <p:nvPr/>
        </p:nvSpPr>
        <p:spPr>
          <a:xfrm>
            <a:off x="9347454" y="3040380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일계표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9173718" y="3378708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36" name="Text 134"/>
          <p:cNvSpPr/>
          <p:nvPr/>
        </p:nvSpPr>
        <p:spPr>
          <a:xfrm>
            <a:off x="9347454" y="3296412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데일리 리포트</a:t>
            </a:r>
            <a:endParaRPr lang="en-US" sz="1050" dirty="0"/>
          </a:p>
        </p:txBody>
      </p:sp>
      <p:sp>
        <p:nvSpPr>
          <p:cNvPr id="137" name="Shape 135"/>
          <p:cNvSpPr/>
          <p:nvPr/>
        </p:nvSpPr>
        <p:spPr>
          <a:xfrm>
            <a:off x="9173718" y="363474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38" name="Text 136"/>
          <p:cNvSpPr/>
          <p:nvPr/>
        </p:nvSpPr>
        <p:spPr>
          <a:xfrm>
            <a:off x="9347454" y="355244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분석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9173718" y="3890772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40" name="Text 138"/>
          <p:cNvSpPr/>
          <p:nvPr/>
        </p:nvSpPr>
        <p:spPr>
          <a:xfrm>
            <a:off x="9347454" y="3808476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대표님 브리핑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9173718" y="4146804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42" name="Text 140"/>
          <p:cNvSpPr/>
          <p:nvPr/>
        </p:nvSpPr>
        <p:spPr>
          <a:xfrm>
            <a:off x="9347454" y="4064508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카톡용 일일 요약</a:t>
            </a:r>
            <a:endParaRPr lang="en-US" sz="1050" dirty="0"/>
          </a:p>
        </p:txBody>
      </p:sp>
      <p:sp>
        <p:nvSpPr>
          <p:cNvPr id="143" name="Shape 141"/>
          <p:cNvSpPr/>
          <p:nvPr/>
        </p:nvSpPr>
        <p:spPr>
          <a:xfrm>
            <a:off x="9173718" y="4402836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44" name="Text 142"/>
          <p:cNvSpPr/>
          <p:nvPr/>
        </p:nvSpPr>
        <p:spPr>
          <a:xfrm>
            <a:off x="9347454" y="4320540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 로그</a:t>
            </a:r>
            <a:endParaRPr lang="en-US" sz="1050" dirty="0"/>
          </a:p>
        </p:txBody>
      </p:sp>
      <p:sp>
        <p:nvSpPr>
          <p:cNvPr id="145" name="Shape 143"/>
          <p:cNvSpPr/>
          <p:nvPr/>
        </p:nvSpPr>
        <p:spPr>
          <a:xfrm>
            <a:off x="9173718" y="4658868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46" name="Text 144"/>
          <p:cNvSpPr/>
          <p:nvPr/>
        </p:nvSpPr>
        <p:spPr>
          <a:xfrm>
            <a:off x="9347454" y="4576572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포털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9173718" y="491490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48" name="Text 146"/>
          <p:cNvSpPr/>
          <p:nvPr/>
        </p:nvSpPr>
        <p:spPr>
          <a:xfrm>
            <a:off x="9347454" y="483260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관리</a:t>
            </a:r>
            <a:endParaRPr lang="en-US" sz="1050" dirty="0"/>
          </a:p>
        </p:txBody>
      </p:sp>
      <p:sp>
        <p:nvSpPr>
          <p:cNvPr id="149" name="Shape 147"/>
          <p:cNvSpPr/>
          <p:nvPr/>
        </p:nvSpPr>
        <p:spPr>
          <a:xfrm>
            <a:off x="9018270" y="5285232"/>
            <a:ext cx="2622042" cy="932688"/>
          </a:xfrm>
          <a:prstGeom prst="roundRect">
            <a:avLst>
              <a:gd name="adj" fmla="val 6863"/>
            </a:avLst>
          </a:prstGeom>
          <a:solidFill>
            <a:srgbClr val="F3FBF7"/>
          </a:solidFill>
          <a:ln w="15240">
            <a:solidFill>
              <a:srgbClr val="E4E9F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018270" y="5285232"/>
            <a:ext cx="2622042" cy="32004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018270" y="5449824"/>
            <a:ext cx="2622042" cy="15544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52" name="Text 150"/>
          <p:cNvSpPr/>
          <p:nvPr/>
        </p:nvSpPr>
        <p:spPr>
          <a:xfrm>
            <a:off x="9164574" y="5285232"/>
            <a:ext cx="194538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 ·  재무</a:t>
            </a:r>
            <a:endParaRPr lang="en-US" sz="1050" dirty="0"/>
          </a:p>
        </p:txBody>
      </p:sp>
      <p:sp>
        <p:nvSpPr>
          <p:cNvPr id="153" name="Text 151"/>
          <p:cNvSpPr/>
          <p:nvPr/>
        </p:nvSpPr>
        <p:spPr>
          <a:xfrm>
            <a:off x="11128248" y="5285232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  <p:sp>
        <p:nvSpPr>
          <p:cNvPr id="154" name="Shape 152"/>
          <p:cNvSpPr/>
          <p:nvPr/>
        </p:nvSpPr>
        <p:spPr>
          <a:xfrm>
            <a:off x="9173718" y="5737860"/>
            <a:ext cx="91440" cy="9144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155" name="Text 153"/>
          <p:cNvSpPr/>
          <p:nvPr/>
        </p:nvSpPr>
        <p:spPr>
          <a:xfrm>
            <a:off x="9347454" y="5655564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손익 통합 대시보드</a:t>
            </a:r>
            <a:endParaRPr lang="en-US" sz="1050" dirty="0"/>
          </a:p>
        </p:txBody>
      </p:sp>
      <p:sp>
        <p:nvSpPr>
          <p:cNvPr id="156" name="Shape 154"/>
          <p:cNvSpPr/>
          <p:nvPr/>
        </p:nvSpPr>
        <p:spPr>
          <a:xfrm>
            <a:off x="9173718" y="5993892"/>
            <a:ext cx="91440" cy="91440"/>
          </a:xfrm>
          <a:prstGeom prst="ellipse">
            <a:avLst/>
          </a:prstGeom>
          <a:solidFill>
            <a:srgbClr val="9AA4B2"/>
          </a:solidFill>
          <a:ln/>
        </p:spPr>
      </p:sp>
      <p:sp>
        <p:nvSpPr>
          <p:cNvPr id="157" name="Text 155"/>
          <p:cNvSpPr/>
          <p:nvPr/>
        </p:nvSpPr>
        <p:spPr>
          <a:xfrm>
            <a:off x="9347454" y="5911596"/>
            <a:ext cx="21648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거래명세서 입금 확인</a:t>
            </a:r>
            <a:endParaRPr lang="en-US" sz="1050" dirty="0"/>
          </a:p>
        </p:txBody>
      </p:sp>
      <p:sp>
        <p:nvSpPr>
          <p:cNvPr id="158" name="Shape 156"/>
          <p:cNvSpPr/>
          <p:nvPr/>
        </p:nvSpPr>
        <p:spPr>
          <a:xfrm>
            <a:off x="548640" y="6400800"/>
            <a:ext cx="11091672" cy="12802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159" name="Text 157"/>
          <p:cNvSpPr/>
          <p:nvPr/>
        </p:nvSpPr>
        <p:spPr>
          <a:xfrm>
            <a:off x="548640" y="64922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별첨  ·  서비스 맵      ERP 2.0 운영 13  +  오성철강 연구실 41  =  54    (영문판 3종은 한국어판과 한 줄로 표기)</a:t>
            </a:r>
            <a:endParaRPr lang="en-US" sz="950" dirty="0"/>
          </a:p>
        </p:txBody>
      </p:sp>
      <p:sp>
        <p:nvSpPr>
          <p:cNvPr id="160" name="Text 158"/>
          <p:cNvSpPr/>
          <p:nvPr/>
        </p:nvSpPr>
        <p:spPr>
          <a:xfrm>
            <a:off x="8897112" y="649224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spc="12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서비스 맵</dc:title>
  <dc:subject>PptxGenJS Presentation</dc:subject>
  <dc:creator>PptxGenJS</dc:creator>
  <cp:lastModifiedBy>PptxGenJS</cp:lastModifiedBy>
  <cp:revision>1</cp:revision>
  <dcterms:created xsi:type="dcterms:W3CDTF">2026-09-17T05:05:09Z</dcterms:created>
  <dcterms:modified xsi:type="dcterms:W3CDTF">2026-09-17T05:05:09Z</dcterms:modified>
</cp:coreProperties>
</file>