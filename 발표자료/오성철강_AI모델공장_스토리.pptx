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11887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spc="300" kern="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  — 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192024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1983년, 우리는 경기장을 지었습니다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32688" y="274320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40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2026년, 우리를 다시 짓습니다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932688" y="3785616"/>
            <a:ext cx="2926080" cy="12802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4023360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전통 제조업에서 제조 서비스 회사로  —  「자체개발형 AI 모델공장」 시범 지정 요청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32688" y="4937760"/>
            <a:ext cx="41148" cy="566928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919472"/>
            <a:ext cx="21899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97280" y="5303520"/>
            <a:ext cx="218998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창립 · 잠실 주경기장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61588" y="4937760"/>
            <a:ext cx="41148" cy="566928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13" name="Text 11"/>
          <p:cNvSpPr/>
          <p:nvPr/>
        </p:nvSpPr>
        <p:spPr>
          <a:xfrm>
            <a:off x="3726180" y="4919472"/>
            <a:ext cx="21899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43년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726180" y="5303520"/>
            <a:ext cx="218998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 현장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90488" y="4937760"/>
            <a:ext cx="41148" cy="566928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4919472"/>
            <a:ext cx="21899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28년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355080" y="5303520"/>
            <a:ext cx="218998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· ROBOT · IT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819388" y="4937760"/>
            <a:ext cx="41148" cy="566928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19" name="Text 17"/>
          <p:cNvSpPr/>
          <p:nvPr/>
        </p:nvSpPr>
        <p:spPr>
          <a:xfrm>
            <a:off x="8983980" y="4919472"/>
            <a:ext cx="218998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41개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983980" y="5303520"/>
            <a:ext cx="218998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개발 서비스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30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FOUNDED 1983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108722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짓는 일로 시작한 회사입니다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221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오성철강은 잠실 주경기장을 지으면서 창립했습니다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92024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64208" y="2286000"/>
            <a:ext cx="1920240" cy="1097280"/>
          </a:xfrm>
          <a:prstGeom prst="ellipse">
            <a:avLst/>
          </a:prstGeom>
          <a:solidFill>
            <a:srgbClr val="FFFFFF"/>
          </a:solidFill>
          <a:ln w="30480">
            <a:solidFill>
              <a:srgbClr val="4F46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48256" y="2468880"/>
            <a:ext cx="1152144" cy="731520"/>
          </a:xfrm>
          <a:prstGeom prst="ellipse">
            <a:avLst/>
          </a:prstGeom>
          <a:solidFill>
            <a:srgbClr val="EEF0FF"/>
          </a:solidFill>
          <a:ln w="15240">
            <a:solidFill>
              <a:srgbClr val="C7C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48256" y="2670048"/>
            <a:ext cx="11521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77824" y="3547872"/>
            <a:ext cx="349300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잠실 주경기장 시공  ·  오성철강 창립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18488" y="3877056"/>
            <a:ext cx="2011680" cy="274320"/>
          </a:xfrm>
          <a:prstGeom prst="roundRect">
            <a:avLst>
              <a:gd name="adj" fmla="val 46667"/>
            </a:avLst>
          </a:prstGeom>
          <a:solidFill>
            <a:srgbClr val="FFF8E8"/>
          </a:solidFill>
          <a:ln w="16510">
            <a:solidFill>
              <a:srgbClr val="FBD88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· 리모델링 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10328" y="1920240"/>
            <a:ext cx="6620256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194560"/>
            <a:ext cx="219456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52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</a:t>
            </a:r>
            <a:pPr indent="0" marL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년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5221224" y="3145536"/>
            <a:ext cx="599846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사이 세상은 바뀌었고,  회사와 기계와 사람은 그대로 오래되었습니다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221224" y="3511296"/>
            <a:ext cx="5998464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5221224" y="3675888"/>
            <a:ext cx="2871216" cy="768096"/>
          </a:xfrm>
          <a:prstGeom prst="roundRect">
            <a:avLst>
              <a:gd name="adj" fmla="val 9524"/>
            </a:avLst>
          </a:prstGeom>
          <a:solidFill>
            <a:srgbClr val="FFF8E8"/>
          </a:solidFill>
          <a:ln w="17780">
            <a:solidFill>
              <a:srgbClr val="FBD8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22392" y="378561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경기장은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22392" y="40233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리모델링 중입니다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348472" y="3675888"/>
            <a:ext cx="2871216" cy="768096"/>
          </a:xfrm>
          <a:prstGeom prst="roundRect">
            <a:avLst>
              <a:gd name="adj" fmla="val 9524"/>
            </a:avLst>
          </a:prstGeom>
          <a:solidFill>
            <a:srgbClr val="EEF0FF"/>
          </a:solidFill>
          <a:ln w="17780">
            <a:solidFill>
              <a:srgbClr val="C7C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49640" y="378561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오성철강도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49640" y="40233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태어날 준비를 하고 있습니다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" y="4828032"/>
            <a:ext cx="10872216" cy="822960"/>
          </a:xfrm>
          <a:prstGeom prst="roundRect">
            <a:avLst>
              <a:gd name="adj" fmla="val 10000"/>
            </a:avLst>
          </a:prstGeom>
          <a:solidFill>
            <a:srgbClr val="0B1220"/>
          </a:solidFill>
          <a:ln/>
        </p:spPr>
      </p:sp>
      <p:sp>
        <p:nvSpPr>
          <p:cNvPr id="23" name="Text 21"/>
          <p:cNvSpPr/>
          <p:nvPr/>
        </p:nvSpPr>
        <p:spPr>
          <a:xfrm>
            <a:off x="932688" y="4828032"/>
            <a:ext cx="103235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짓는 일로 시작한 회사가,  </a:t>
            </a:r>
            <a:pPr algn="ct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이번에는 스스로를 다시 짓습니다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8368" y="6345936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우리는 왜 여기까지 왔나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30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LONG WAY HOME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108722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돌아오는 길이 길었던 만큼, 가지고 돌아온 것도 있었습니다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221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오디세우스는 20년, </a:t>
            </a:r>
            <a:pPr indent="0" marL="0">
              <a:lnSpc>
                <a:spcPct val="114000"/>
              </a:lnSpc>
              <a:buNone/>
            </a:pPr>
            <a:r>
              <a:rPr lang="en-US" sz="28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저는 28년이 걸렸습니다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920240"/>
            <a:ext cx="5271516" cy="2615184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920240"/>
            <a:ext cx="5271516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157984"/>
            <a:ext cx="47228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b="1" spc="16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ODYSSEUS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32688" y="243230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오디세우스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43884" y="2377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34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20년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932688" y="2962656"/>
            <a:ext cx="3373483" cy="237744"/>
          </a:xfrm>
          <a:prstGeom prst="roundRect">
            <a:avLst>
              <a:gd name="adj" fmla="val 23077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364992"/>
            <a:ext cx="47228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모험 끝에 고향으로 돌아왔습니다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32688" y="3712464"/>
            <a:ext cx="4722876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651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3803904"/>
            <a:ext cx="443026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20년간의 노하우로,  떠나기 전보다 더 강력한 왕국을 만들었습니다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59068" y="1920240"/>
            <a:ext cx="5271516" cy="2615184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27940">
            <a:solidFill>
              <a:srgbClr val="C7C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9068" y="1920240"/>
            <a:ext cx="5271516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6533388" y="2157984"/>
            <a:ext cx="47228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RETURN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33388" y="243230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저는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244584" y="2377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34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28년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6533388" y="2962656"/>
            <a:ext cx="4722876" cy="237744"/>
          </a:xfrm>
          <a:prstGeom prst="roundRect">
            <a:avLst>
              <a:gd name="adj" fmla="val 23077"/>
            </a:avLst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6533388" y="3364992"/>
            <a:ext cx="47228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KT에서 IT · AI · ROBOT 전문기술을 익혔습니다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33388" y="3712464"/>
            <a:ext cx="4722876" cy="658368"/>
          </a:xfrm>
          <a:prstGeom prst="roundRect">
            <a:avLst>
              <a:gd name="adj" fmla="val 11111"/>
            </a:avLst>
          </a:prstGeom>
          <a:solidFill>
            <a:srgbClr val="EEF0FF"/>
          </a:solidFill>
          <a:ln w="16510">
            <a:solidFill>
              <a:srgbClr val="C7CB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9692" y="3803904"/>
            <a:ext cx="443026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43년 된 오성철강과 함께,  제조업과 AI를 결합한 새로운 회사로 거듭나겠습니다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" y="4791456"/>
            <a:ext cx="10872216" cy="841248"/>
          </a:xfrm>
          <a:prstGeom prst="roundRect">
            <a:avLst>
              <a:gd name="adj" fmla="val 9783"/>
            </a:avLst>
          </a:prstGeom>
          <a:solidFill>
            <a:srgbClr val="0B1220"/>
          </a:solidFill>
          <a:ln/>
        </p:spPr>
      </p:sp>
      <p:sp>
        <p:nvSpPr>
          <p:cNvPr id="25" name="Text 23"/>
          <p:cNvSpPr/>
          <p:nvPr/>
        </p:nvSpPr>
        <p:spPr>
          <a:xfrm>
            <a:off x="932688" y="4791456"/>
            <a:ext cx="103235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떠나 있던 시간이 낭비가 아니었던 이유는,  </a:t>
            </a:r>
            <a:pPr algn="ct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돌아올 곳이 남아 있었기 때문입니다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8368" y="6345936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우리는 왜 여기까지 왔나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101B31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566928"/>
            <a:ext cx="50292" cy="237744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530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spc="160" kern="0" dirty="0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I LEFT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58368" y="896112"/>
            <a:ext cx="108722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28년 동안 밖을 떠돌았던 이유입니다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1087221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열악한 제조 환경에서는, </a:t>
            </a:r>
            <a:pPr indent="0" marL="0">
              <a:lnSpc>
                <a:spcPct val="114000"/>
              </a:lnSpc>
              <a:buNone/>
            </a:pPr>
            <a:r>
              <a:rPr lang="en-US" sz="2800" b="1" dirty="0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꿈을 꾸기 어려웠습니다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58368" y="2029968"/>
            <a:ext cx="3471672" cy="2249424"/>
          </a:xfrm>
          <a:prstGeom prst="roundRect">
            <a:avLst>
              <a:gd name="adj" fmla="val 3659"/>
            </a:avLst>
          </a:prstGeom>
          <a:solidFill>
            <a:srgbClr val="121D33"/>
          </a:solidFill>
          <a:ln w="17780">
            <a:solidFill>
              <a:srgbClr val="2A3A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029968"/>
            <a:ext cx="3471672" cy="502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267712"/>
            <a:ext cx="566928" cy="274320"/>
          </a:xfrm>
          <a:prstGeom prst="roundRect">
            <a:avLst>
              <a:gd name="adj" fmla="val 46667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2651760"/>
            <a:ext cx="299618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공장장 한 사람만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6112" y="2962656"/>
            <a:ext cx="299618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운영할 수 있는 설비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96112" y="3346704"/>
            <a:ext cx="2996184" cy="10973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474720"/>
            <a:ext cx="299618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기준이 사람의 머릿속에만 있었습니다.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96112" y="3730752"/>
            <a:ext cx="299618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그분이 퇴직하면 회사의 기술도 같이 사라집니다.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58640" y="2029968"/>
            <a:ext cx="3471672" cy="2249424"/>
          </a:xfrm>
          <a:prstGeom prst="roundRect">
            <a:avLst>
              <a:gd name="adj" fmla="val 3659"/>
            </a:avLst>
          </a:prstGeom>
          <a:solidFill>
            <a:srgbClr val="121D33"/>
          </a:solidFill>
          <a:ln w="17780">
            <a:solidFill>
              <a:srgbClr val="2A3A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58640" y="2029968"/>
            <a:ext cx="3471672" cy="502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4596384" y="2267712"/>
            <a:ext cx="566928" cy="274320"/>
          </a:xfrm>
          <a:prstGeom prst="roundRect">
            <a:avLst>
              <a:gd name="adj" fmla="val 46667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96384" y="2651760"/>
            <a:ext cx="299618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회사만 할 수 있는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96384" y="2962656"/>
            <a:ext cx="299618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무기가 없음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96384" y="3346704"/>
            <a:ext cx="2996184" cy="10973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21" name="Text 19"/>
          <p:cNvSpPr/>
          <p:nvPr/>
        </p:nvSpPr>
        <p:spPr>
          <a:xfrm>
            <a:off x="4596384" y="3474720"/>
            <a:ext cx="299618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기계, 같은 공정.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96384" y="3730752"/>
            <a:ext cx="299618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단가 말고는 내세울 것이 없는 거래였습니다.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58912" y="2029968"/>
            <a:ext cx="3471672" cy="2249424"/>
          </a:xfrm>
          <a:prstGeom prst="roundRect">
            <a:avLst>
              <a:gd name="adj" fmla="val 3659"/>
            </a:avLst>
          </a:prstGeom>
          <a:solidFill>
            <a:srgbClr val="121D33"/>
          </a:solidFill>
          <a:ln w="17780">
            <a:solidFill>
              <a:srgbClr val="2A3A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58912" y="2029968"/>
            <a:ext cx="3471672" cy="502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8296656" y="2267712"/>
            <a:ext cx="566928" cy="274320"/>
          </a:xfrm>
          <a:prstGeom prst="roundRect">
            <a:avLst>
              <a:gd name="adj" fmla="val 46667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96656" y="2651760"/>
            <a:ext cx="299618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체감할 수 있는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96656" y="2962656"/>
            <a:ext cx="299618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서비스가 없음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296656" y="3346704"/>
            <a:ext cx="2996184" cy="10973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29" name="Text 27"/>
          <p:cNvSpPr/>
          <p:nvPr/>
        </p:nvSpPr>
        <p:spPr>
          <a:xfrm>
            <a:off x="8296656" y="3474720"/>
            <a:ext cx="299618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잘하는지 고객이 볼 방법이 없었습니다.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96656" y="3730752"/>
            <a:ext cx="299618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잘해도 알아주지 않았습니다.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" y="4663440"/>
            <a:ext cx="10872216" cy="914400"/>
          </a:xfrm>
          <a:prstGeom prst="roundRect">
            <a:avLst>
              <a:gd name="adj" fmla="val 9000"/>
            </a:avLst>
          </a:prstGeom>
          <a:solidFill>
            <a:srgbClr val="1A0A0A"/>
          </a:solidFill>
          <a:ln w="2286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688" y="4663440"/>
            <a:ext cx="103235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모든 것이 불가능했기 때문에,  </a:t>
            </a:r>
            <a:pPr algn="ctr"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오성철강은 늙어갔고 작아져 갔습니다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658368" y="6345936"/>
            <a:ext cx="10872216" cy="10973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spc="14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우리는 왜 여기까지 왔나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950" b="1" spc="12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50292" cy="2377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30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spc="160" kern="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AND THEN, AI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108722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구호가 아니라, 현장에서 매일 열리는 화면으로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221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이 셋을 </a:t>
            </a:r>
            <a:pPr indent="0" marL="0">
              <a:lnSpc>
                <a:spcPct val="114000"/>
              </a:lnSpc>
              <a:buNone/>
            </a:pPr>
            <a:r>
              <a:rPr lang="en-US" sz="2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바꾸기 시작했습니다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883664"/>
            <a:ext cx="10872216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048256"/>
            <a:ext cx="530352" cy="274320"/>
          </a:xfrm>
          <a:prstGeom prst="roundRect">
            <a:avLst>
              <a:gd name="adj" fmla="val 46667"/>
            </a:avLst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36192" y="2011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strike="sngStrike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공장장만 아는 설비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36192" y="235915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0" y="2331720"/>
            <a:ext cx="402336" cy="7315"/>
          </a:xfrm>
          <a:prstGeom prst="line">
            <a:avLst/>
          </a:prstGeom>
          <a:noFill/>
          <a:ln w="2794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663440" y="201168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화면이 계산하고, 화면이 판정합니다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63440" y="237744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01584" y="2029968"/>
            <a:ext cx="3209544" cy="603504"/>
          </a:xfrm>
          <a:prstGeom prst="roundRect">
            <a:avLst>
              <a:gd name="adj" fmla="val 12121"/>
            </a:avLst>
          </a:prstGeom>
          <a:solidFill>
            <a:srgbClr val="ECFDF5"/>
          </a:solidFill>
          <a:ln w="1651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888" y="2029968"/>
            <a:ext cx="29169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세퍼레이터 셋팅 키오스크  ·  AI 헬퍼 모바일(KR/EN)  ·  라인 통합관제 NMS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" y="2944368"/>
            <a:ext cx="10872216" cy="896112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3108960"/>
            <a:ext cx="530352" cy="274320"/>
          </a:xfrm>
          <a:prstGeom prst="roundRect">
            <a:avLst>
              <a:gd name="adj" fmla="val 46667"/>
            </a:avLst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36192" y="307238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strike="sngStrike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우리만의 무기가 없음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36192" y="34198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0" y="3392424"/>
            <a:ext cx="402336" cy="7315"/>
          </a:xfrm>
          <a:prstGeom prst="line">
            <a:avLst/>
          </a:prstGeom>
          <a:noFill/>
          <a:ln w="2794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4663440" y="307238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 촬영 · 2초 단위 기록 · AI 판별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663440" y="343814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101584" y="3090672"/>
            <a:ext cx="3209544" cy="603504"/>
          </a:xfrm>
          <a:prstGeom prst="roundRect">
            <a:avLst>
              <a:gd name="adj" fmla="val 12121"/>
            </a:avLst>
          </a:prstGeom>
          <a:solidFill>
            <a:srgbClr val="ECFDF5"/>
          </a:solidFill>
          <a:ln w="16510">
            <a:solidFill>
              <a:srgbClr val="6EE7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47888" y="3090672"/>
            <a:ext cx="29169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표면 전수검사  ·  장애 원인 분석  ·  품질 성적서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" y="4005072"/>
            <a:ext cx="10872216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4169664"/>
            <a:ext cx="530352" cy="274320"/>
          </a:xfrm>
          <a:prstGeom prst="roundRect">
            <a:avLst>
              <a:gd name="adj" fmla="val 46667"/>
            </a:avLst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536192" y="41330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strike="sngStrike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볼 방법이 없음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36192" y="448056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0" y="4453128"/>
            <a:ext cx="402336" cy="7315"/>
          </a:xfrm>
          <a:prstGeom prst="line">
            <a:avLst/>
          </a:prstGeom>
          <a:noFill/>
          <a:ln w="2794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4663440" y="413308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조회 · 발주 · 품질 확인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663440" y="449884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101584" y="4151376"/>
            <a:ext cx="3209544" cy="603504"/>
          </a:xfrm>
          <a:prstGeom prst="roundRect">
            <a:avLst>
              <a:gd name="adj" fmla="val 12121"/>
            </a:avLst>
          </a:prstGeom>
          <a:solidFill>
            <a:srgbClr val="ECFDF5"/>
          </a:solidFill>
          <a:ln w="16510">
            <a:solidFill>
              <a:srgbClr val="6EE7B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47888" y="4151376"/>
            <a:ext cx="291693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포털  ·  고객사 챗봇  ·  주문 현황 트래커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58368" y="5138928"/>
            <a:ext cx="10872216" cy="786384"/>
          </a:xfrm>
          <a:prstGeom prst="roundRect">
            <a:avLst>
              <a:gd name="adj" fmla="val 10465"/>
            </a:avLst>
          </a:prstGeom>
          <a:solidFill>
            <a:srgbClr val="0B1220"/>
          </a:solidFill>
          <a:ln/>
        </p:spPr>
      </p:sp>
      <p:sp>
        <p:nvSpPr>
          <p:cNvPr id="34" name="Text 32"/>
          <p:cNvSpPr/>
          <p:nvPr/>
        </p:nvSpPr>
        <p:spPr>
          <a:xfrm>
            <a:off x="932688" y="5138928"/>
            <a:ext cx="1032357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우리에게 도구가 아니라,  </a:t>
            </a:r>
            <a:pPr algn="ct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꿈을 꿀 수 있다는 가능성을 주었습니다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58368" y="6345936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우리는 왜 여기까지 왔나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1243584"/>
            <a:ext cx="50292" cy="237744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12070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spc="180" kern="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 CAN DREAM NOW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58368" y="1627632"/>
            <a:ext cx="108722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이로써 우리는, </a:t>
            </a:r>
            <a:pPr indent="0" marL="0">
              <a:lnSpc>
                <a:spcPct val="135000"/>
              </a:lnSpc>
              <a:buNone/>
            </a:pPr>
            <a:r>
              <a:rPr lang="en-US" sz="34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꿈을 꿀 수 있게 되었습니다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395728"/>
            <a:ext cx="108722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대한민국 중소 제조업에서 유일하게, 두 가지를 한 회사 안에 가지고 있습니다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2980944"/>
            <a:ext cx="3310128" cy="1755648"/>
          </a:xfrm>
          <a:prstGeom prst="roundRect">
            <a:avLst>
              <a:gd name="adj" fmla="val 5208"/>
            </a:avLst>
          </a:prstGeom>
          <a:solidFill>
            <a:srgbClr val="121D33"/>
          </a:solidFill>
          <a:ln w="17780">
            <a:solidFill>
              <a:srgbClr val="2A3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3291840"/>
            <a:ext cx="268833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5000" b="1" dirty="0">
                <a:solidFill>
                  <a:srgbClr val="7DD3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7DD3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년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969264" y="4169664"/>
            <a:ext cx="268833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· ROBOT · IT 전문기술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9264" y="4443984"/>
            <a:ext cx="268833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KT에서 익힌 기술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68496" y="3511296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4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4700016" y="2980944"/>
            <a:ext cx="3310128" cy="1755648"/>
          </a:xfrm>
          <a:prstGeom prst="roundRect">
            <a:avLst>
              <a:gd name="adj" fmla="val 5208"/>
            </a:avLst>
          </a:prstGeom>
          <a:solidFill>
            <a:srgbClr val="121D33"/>
          </a:solidFill>
          <a:ln w="17780">
            <a:solidFill>
              <a:srgbClr val="2A3A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3291840"/>
            <a:ext cx="268833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5000" b="1" dirty="0">
                <a:solidFill>
                  <a:srgbClr val="FBD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</a:t>
            </a:r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BD8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년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5010912" y="4169664"/>
            <a:ext cx="268833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 현장 전문기술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10912" y="4443984"/>
            <a:ext cx="268833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오성철강이 쌓아온 것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741664" y="2980944"/>
            <a:ext cx="2788920" cy="1755648"/>
          </a:xfrm>
          <a:prstGeom prst="roundRect">
            <a:avLst>
              <a:gd name="adj" fmla="val 5208"/>
            </a:avLst>
          </a:prstGeom>
          <a:solidFill>
            <a:srgbClr val="1A1406"/>
          </a:solidFill>
          <a:ln w="27940">
            <a:solidFill>
              <a:srgbClr val="F5B5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41664" y="3255264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6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741664" y="3749040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유일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741664" y="4242816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개발사 없이, 공장이 직접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" y="5138928"/>
            <a:ext cx="10872216" cy="786384"/>
          </a:xfrm>
          <a:prstGeom prst="roundRect">
            <a:avLst>
              <a:gd name="adj" fmla="val 10465"/>
            </a:avLst>
          </a:prstGeom>
          <a:solidFill>
            <a:srgbClr val="121D33"/>
          </a:solidFill>
          <a:ln w="17780">
            <a:solidFill>
              <a:srgbClr val="2A3A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5138928"/>
            <a:ext cx="1032357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이제 우리는 물어볼 수 있습니다.  </a:t>
            </a:r>
            <a:pPr algn="ct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발견은, 질문에서만 나옵니다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8368" y="6345936"/>
            <a:ext cx="10872216" cy="10973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spc="14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우리는 왜 여기까지 왔나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950" b="1" spc="12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50292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30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spc="160" kern="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AI PROJECTS FAIL  ·  01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108722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제조업 대상 AI 프로젝트가 실패하는 첫 번째 이유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221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정의가 </a:t>
            </a:r>
            <a:pPr indent="0" marL="0">
              <a:lnSpc>
                <a:spcPct val="114000"/>
              </a:lnSpc>
              <a:buNone/>
            </a:pPr>
            <a:r>
              <a:rPr lang="en-US" sz="2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어렵습니다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883664"/>
            <a:ext cx="2512314" cy="1389888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048256"/>
            <a:ext cx="210997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계약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9536" y="2450592"/>
            <a:ext cx="210997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범위 · 비용 · 일정을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59536" y="2706624"/>
            <a:ext cx="210997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전에 확정합니다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16402" y="2578608"/>
            <a:ext cx="182880" cy="7315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45002" y="1883664"/>
            <a:ext cx="2512314" cy="1389888"/>
          </a:xfrm>
          <a:prstGeom prst="roundRect">
            <a:avLst>
              <a:gd name="adj" fmla="val 5263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46170" y="2048256"/>
            <a:ext cx="210997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AI는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46170" y="2450592"/>
            <a:ext cx="210997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발견을 통해서만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46170" y="2706624"/>
            <a:ext cx="210997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모델이 만들어집니다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03036" y="2578608"/>
            <a:ext cx="182880" cy="7315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31636" y="1883664"/>
            <a:ext cx="2512314" cy="1389888"/>
          </a:xfrm>
          <a:prstGeom prst="roundRect">
            <a:avLst>
              <a:gd name="adj" fmla="val 5263"/>
            </a:avLst>
          </a:prstGeom>
          <a:solidFill>
            <a:srgbClr val="FFF8E8"/>
          </a:solidFill>
          <a:ln w="19050">
            <a:solidFill>
              <a:srgbClr val="FBD8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2804" y="2048256"/>
            <a:ext cx="210997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개발사 ≠ 제조사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32804" y="2450592"/>
            <a:ext cx="210997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제한된 기간 안에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32804" y="2706624"/>
            <a:ext cx="210997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프로젝트를 끝내야 합니다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789670" y="2578608"/>
            <a:ext cx="182880" cy="7315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18270" y="1883664"/>
            <a:ext cx="2512314" cy="1389888"/>
          </a:xfrm>
          <a:prstGeom prst="roundRect">
            <a:avLst>
              <a:gd name="adj" fmla="val 5263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19438" y="2048256"/>
            <a:ext cx="210997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19438" y="2450592"/>
            <a:ext cx="210997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AI를 통한 혁신 작업이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219438" y="2706624"/>
            <a:ext cx="210997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불가능해집니다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8368" y="3566160"/>
            <a:ext cx="10872216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7940">
            <a:solidFill>
              <a:srgbClr val="C7CB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566160"/>
            <a:ext cx="64008" cy="131673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7" name="Text 25"/>
          <p:cNvSpPr/>
          <p:nvPr/>
        </p:nvSpPr>
        <p:spPr>
          <a:xfrm>
            <a:off x="987552" y="3749040"/>
            <a:ext cx="102138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오성철강은 왜 성과가 났을까요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87552" y="4096512"/>
            <a:ext cx="102138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개발사와 제조사가 같은 회사이기 때문입니다.  연구실에 40여 개의 서비스를 만들어 하나씩 제조 현장에 적용해 보고,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87552" y="4407408"/>
            <a:ext cx="1021384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현장이 쓰지 않으면 버리고 다시 만들면서 최적의 모델을 찾았습니다.  계약서에 없던 발견을, 기간에 쫓기지 않고 할 수 있었습니다.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8368" y="5138928"/>
            <a:ext cx="10872216" cy="786384"/>
          </a:xfrm>
          <a:prstGeom prst="roundRect">
            <a:avLst>
              <a:gd name="adj" fmla="val 10465"/>
            </a:avLst>
          </a:prstGeom>
          <a:solidFill>
            <a:srgbClr val="0B1220"/>
          </a:solidFill>
          <a:ln/>
        </p:spPr>
      </p:sp>
      <p:sp>
        <p:nvSpPr>
          <p:cNvPr id="31" name="Text 29"/>
          <p:cNvSpPr/>
          <p:nvPr/>
        </p:nvSpPr>
        <p:spPr>
          <a:xfrm>
            <a:off x="932688" y="5138928"/>
            <a:ext cx="1032357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프로젝트는 계약으로 정의할 수 없습니다.  </a:t>
            </a:r>
            <a:pPr algn="ct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해보면서 발견하는 수밖에 없습니다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58368" y="6345936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왜 AI 프로젝트는 실패하는가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50292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30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spc="160" kern="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AI PROJECTS FAIL  ·  02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108722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제조업 대상 AI 프로젝트가 실패하는 두 번째 이유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221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프로젝트가 끝나면, </a:t>
            </a:r>
            <a:pPr indent="0" marL="0">
              <a:lnSpc>
                <a:spcPct val="114000"/>
              </a:lnSpc>
              <a:buNone/>
            </a:pPr>
            <a:r>
              <a:rPr lang="en-US" sz="2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업그레이드가 멈춥니다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883664"/>
            <a:ext cx="5289804" cy="1481328"/>
          </a:xfrm>
          <a:prstGeom prst="roundRect">
            <a:avLst>
              <a:gd name="adj" fmla="val 4938"/>
            </a:avLst>
          </a:prstGeom>
          <a:solidFill>
            <a:srgbClr val="FFF8E8"/>
          </a:solidFill>
          <a:ln w="19050">
            <a:solidFill>
              <a:srgbClr val="FBD8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066544"/>
            <a:ext cx="48143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 환경은 급속히 변합니다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487168"/>
            <a:ext cx="48143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소량 다품종인 중소 제조업 시장에서,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96112" y="2761488"/>
            <a:ext cx="48143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솔루션으로 모든 게 해결되는 일은 없습니다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40780" y="1883664"/>
            <a:ext cx="5289804" cy="1481328"/>
          </a:xfrm>
          <a:prstGeom prst="roundRect">
            <a:avLst>
              <a:gd name="adj" fmla="val 4938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8524" y="2066544"/>
            <a:ext cx="48143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업그레이드에는 추가 계약이 필요합니다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78524" y="2487168"/>
            <a:ext cx="48143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현실적으로 추가 계약은 잘 이뤄지지 않고,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78524" y="2761488"/>
            <a:ext cx="48143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결과 최적화 작업 자체가 멈춥니다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584448"/>
            <a:ext cx="5289804" cy="1389888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767328"/>
            <a:ext cx="48143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외주 개발 모델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96112" y="4096512"/>
            <a:ext cx="48143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종료  =  정지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96112" y="4553712"/>
            <a:ext cx="48143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현장이 바뀌어도 화면은 그대로 남습니다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40780" y="3584448"/>
            <a:ext cx="5289804" cy="1389888"/>
          </a:xfrm>
          <a:prstGeom prst="roundRect">
            <a:avLst>
              <a:gd name="adj" fmla="val 5263"/>
            </a:avLst>
          </a:prstGeom>
          <a:solidFill>
            <a:srgbClr val="EEF0FF"/>
          </a:solidFill>
          <a:ln w="2794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8524" y="3767328"/>
            <a:ext cx="48143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연구실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78524" y="4096512"/>
            <a:ext cx="48143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종료가  없습니다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78524" y="4553712"/>
            <a:ext cx="48143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현장이 불편하다고 하면 며칠 안에 고칩니다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" y="5175504"/>
            <a:ext cx="10872216" cy="749808"/>
          </a:xfrm>
          <a:prstGeom prst="roundRect">
            <a:avLst>
              <a:gd name="adj" fmla="val 10976"/>
            </a:avLst>
          </a:prstGeom>
          <a:solidFill>
            <a:srgbClr val="0B1220"/>
          </a:solidFill>
          <a:ln/>
        </p:spPr>
      </p:sp>
      <p:sp>
        <p:nvSpPr>
          <p:cNvPr id="23" name="Text 21"/>
          <p:cNvSpPr/>
          <p:nvPr/>
        </p:nvSpPr>
        <p:spPr>
          <a:xfrm>
            <a:off x="932688" y="5175504"/>
            <a:ext cx="103235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솔루션은 끝나지만,  </a:t>
            </a:r>
            <a:pPr algn="ct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공장은 끝나지 않습니다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8368" y="6345936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왜 AI 프로젝트는 실패하는가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30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OHSUNG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108722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개발사 없이, 공장이 직접 만들고 검증하는 구조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221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</a:t>
            </a:r>
            <a:pPr indent="0" marL="0">
              <a:lnSpc>
                <a:spcPct val="114000"/>
              </a:lnSpc>
              <a:buNone/>
            </a:pPr>
            <a:r>
              <a:rPr lang="en-US" sz="28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</a:t>
            </a:r>
            <a:pPr indent="0" marL="0">
              <a:lnSpc>
                <a:spcPct val="114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847088"/>
            <a:ext cx="5289804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847088"/>
            <a:ext cx="5289804" cy="502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048256"/>
            <a:ext cx="402336" cy="274320"/>
          </a:xfrm>
          <a:prstGeom prst="roundRect">
            <a:avLst>
              <a:gd name="adj" fmla="val 46667"/>
            </a:avLst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08176" y="2029968"/>
            <a:ext cx="430225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개발사 없이 개발 가능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2487168"/>
            <a:ext cx="48143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43년 제조 전문가와 28년 AI/ROBOT 전문가를 함께 보유합니다.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6112" y="2761488"/>
            <a:ext cx="48143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개발사와 제조사가 따로 있어 생기는 분할손이 없습니다.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40780" y="1847088"/>
            <a:ext cx="5289804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0780" y="1847088"/>
            <a:ext cx="5289804" cy="5029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4" name="Text 12"/>
          <p:cNvSpPr/>
          <p:nvPr/>
        </p:nvSpPr>
        <p:spPr>
          <a:xfrm>
            <a:off x="6478524" y="2048256"/>
            <a:ext cx="402336" cy="274320"/>
          </a:xfrm>
          <a:prstGeom prst="roundRect">
            <a:avLst>
              <a:gd name="adj" fmla="val 46667"/>
            </a:avLst>
          </a:prstGeom>
          <a:solidFill>
            <a:srgbClr val="0284C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90588" y="2029968"/>
            <a:ext cx="430225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수집 기반 완료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78524" y="2487168"/>
            <a:ext cx="48143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 공정 중 2개 공정에 Vision 품질 데이터와 PLC 데이터가 있습니다.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78524" y="2761488"/>
            <a:ext cx="48143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· 장비 운용 · 가공 규격 — 기반이 이미 완료되어 있습니다.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" y="3401568"/>
            <a:ext cx="528980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401568"/>
            <a:ext cx="5289804" cy="502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" y="3602736"/>
            <a:ext cx="402336" cy="274320"/>
          </a:xfrm>
          <a:prstGeom prst="roundRect">
            <a:avLst>
              <a:gd name="adj" fmla="val 46667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08176" y="3584448"/>
            <a:ext cx="430225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임직원들의 참여 의지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96112" y="4005072"/>
            <a:ext cx="2306574" cy="603504"/>
          </a:xfrm>
          <a:prstGeom prst="roundRect">
            <a:avLst>
              <a:gd name="adj" fmla="val 12121"/>
            </a:avLst>
          </a:prstGeom>
          <a:solidFill>
            <a:srgbClr val="F5F3FF"/>
          </a:solidFill>
          <a:ln w="16510">
            <a:solidFill>
              <a:srgbClr val="C4B5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" y="4041648"/>
            <a:ext cx="197739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12명 중 5명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60704" y="4352544"/>
            <a:ext cx="197739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직원 참여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03854" y="4005072"/>
            <a:ext cx="2306574" cy="603504"/>
          </a:xfrm>
          <a:prstGeom prst="roundRect">
            <a:avLst>
              <a:gd name="adj" fmla="val 12121"/>
            </a:avLst>
          </a:prstGeom>
          <a:solidFill>
            <a:srgbClr val="F5F3FF"/>
          </a:solidFill>
          <a:ln w="16510">
            <a:solidFill>
              <a:srgbClr val="C4B5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8446" y="4041648"/>
            <a:ext cx="197739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40여 개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68446" y="4352544"/>
            <a:ext cx="197739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연구실 서비스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40780" y="3401568"/>
            <a:ext cx="5289804" cy="1554480"/>
          </a:xfrm>
          <a:prstGeom prst="roundRect">
            <a:avLst>
              <a:gd name="adj" fmla="val 4706"/>
            </a:avLst>
          </a:prstGeom>
          <a:solidFill>
            <a:srgbClr val="0B1220"/>
          </a:solidFill>
          <a:ln/>
        </p:spPr>
      </p:sp>
      <p:sp>
        <p:nvSpPr>
          <p:cNvPr id="29" name="Shape 27"/>
          <p:cNvSpPr/>
          <p:nvPr/>
        </p:nvSpPr>
        <p:spPr>
          <a:xfrm>
            <a:off x="6240780" y="3401568"/>
            <a:ext cx="5289804" cy="50292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30" name="Text 28"/>
          <p:cNvSpPr/>
          <p:nvPr/>
        </p:nvSpPr>
        <p:spPr>
          <a:xfrm>
            <a:off x="6478524" y="3602736"/>
            <a:ext cx="402336" cy="274320"/>
          </a:xfrm>
          <a:prstGeom prst="roundRect">
            <a:avLst>
              <a:gd name="adj" fmla="val 46667"/>
            </a:avLst>
          </a:prstGeom>
          <a:solidFill>
            <a:srgbClr val="F5B5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90588" y="3584448"/>
            <a:ext cx="430225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연구실 프로세스 운용으로 최적화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78524" y="4023360"/>
            <a:ext cx="1130198" cy="256032"/>
          </a:xfrm>
          <a:prstGeom prst="roundRect">
            <a:avLst>
              <a:gd name="adj" fmla="val 50000"/>
            </a:avLst>
          </a:prstGeom>
          <a:solidFill>
            <a:srgbClr val="16233C"/>
          </a:solidFill>
          <a:ln w="16510">
            <a:solidFill>
              <a:srgbClr val="2A3A5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아이디어 발굴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645298" y="4151376"/>
            <a:ext cx="128016" cy="7315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7809890" y="4023360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16233C"/>
          </a:solidFill>
          <a:ln w="16510">
            <a:solidFill>
              <a:srgbClr val="2A3A5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개발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742578" y="4151376"/>
            <a:ext cx="128016" cy="7315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8907170" y="4023360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16233C"/>
          </a:solidFill>
          <a:ln w="16510">
            <a:solidFill>
              <a:srgbClr val="2A3A5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상용 적용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78524" y="4279392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78524" y="4352544"/>
            <a:ext cx="1013155" cy="256032"/>
          </a:xfrm>
          <a:prstGeom prst="roundRect">
            <a:avLst>
              <a:gd name="adj" fmla="val 50000"/>
            </a:avLst>
          </a:prstGeom>
          <a:solidFill>
            <a:srgbClr val="16233C"/>
          </a:solidFill>
          <a:ln w="16510">
            <a:solidFill>
              <a:srgbClr val="2A3A5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문제점 도출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528255" y="4480560"/>
            <a:ext cx="128016" cy="7315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7692847" y="4352544"/>
            <a:ext cx="1013155" cy="256032"/>
          </a:xfrm>
          <a:prstGeom prst="roundRect">
            <a:avLst>
              <a:gd name="adj" fmla="val 50000"/>
            </a:avLst>
          </a:prstGeom>
          <a:solidFill>
            <a:srgbClr val="16233C"/>
          </a:solidFill>
          <a:ln w="16510">
            <a:solidFill>
              <a:srgbClr val="2A3A5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개선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742578" y="4480560"/>
            <a:ext cx="128016" cy="7315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8907170" y="4352544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F5B5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상용 적용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478524" y="4681728"/>
            <a:ext cx="481431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끊기지 않고 계속 도는 이 사이클에서 41개 서비스가 나왔습니다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58368" y="5084064"/>
            <a:ext cx="10872216" cy="749808"/>
          </a:xfrm>
          <a:prstGeom prst="roundRect">
            <a:avLst>
              <a:gd name="adj" fmla="val 10976"/>
            </a:avLst>
          </a:prstGeom>
          <a:solidFill>
            <a:srgbClr val="0B1220"/>
          </a:solidFill>
          <a:ln/>
        </p:spPr>
      </p:sp>
      <p:sp>
        <p:nvSpPr>
          <p:cNvPr id="45" name="Text 43"/>
          <p:cNvSpPr/>
          <p:nvPr/>
        </p:nvSpPr>
        <p:spPr>
          <a:xfrm>
            <a:off x="932688" y="5084064"/>
            <a:ext cx="1032357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솔루션을 사는 공장이 아니라,  </a:t>
            </a:r>
            <a:pPr algn="ctr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스스로 만들고 스스로 고치는 공장입니다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58368" y="6345936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Text 45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Why 오성철강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30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OUR REQUEST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108722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솔루션을 사주는 지원이 아니라, 공장이 직접 물어볼 수 있는 역량에 투자하는 지원입니다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1087221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「자체개발형 AI 모델공장」 </a:t>
            </a:r>
            <a:pPr indent="0" marL="0">
              <a:lnSpc>
                <a:spcPct val="114000"/>
              </a:lnSpc>
              <a:buNone/>
            </a:pPr>
            <a:r>
              <a:rPr lang="en-US" sz="2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시범 지정을 요청드립니다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956816"/>
            <a:ext cx="528980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5400">
            <a:solidFill>
              <a:srgbClr val="C7CB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956816"/>
            <a:ext cx="5289804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76272"/>
            <a:ext cx="47777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유일한 결합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2578608"/>
            <a:ext cx="47777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724912"/>
            <a:ext cx="47777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오성철강은 국내에서 유일하게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47777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AI/ROBOT 기술과 제조 기술을 함께 보유한 회사입니다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40780" y="1956816"/>
            <a:ext cx="528980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5400">
            <a:solidFill>
              <a:srgbClr val="FBD8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0780" y="1956816"/>
            <a:ext cx="5289804" cy="54864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14" name="Text 12"/>
          <p:cNvSpPr/>
          <p:nvPr/>
        </p:nvSpPr>
        <p:spPr>
          <a:xfrm>
            <a:off x="6496812" y="2176272"/>
            <a:ext cx="47777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발견 → 투입 → 효과 확인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96812" y="2578608"/>
            <a:ext cx="47777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6496812" y="2724912"/>
            <a:ext cx="47777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중소 제조업에 맞는 최적의 AI 기술을 발견하고 공정에 투입하여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96812" y="3017520"/>
            <a:ext cx="47777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효과까지 확인할 수 있는 국내 유일한 회사입니다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" y="363931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spc="6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지원해 주시면, 오성철강은 이렇게 씁니다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" y="3950208"/>
            <a:ext cx="3453384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4078224"/>
            <a:ext cx="301447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전담 인력 2명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7824" y="4389120"/>
            <a:ext cx="301447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다룰 한 명,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77824" y="4626864"/>
            <a:ext cx="301447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 적용할 한 명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67784" y="3950208"/>
            <a:ext cx="3453384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87240" y="4078224"/>
            <a:ext cx="301447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실증 예산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87240" y="4389120"/>
            <a:ext cx="301447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공정의 품질 측정을 완성하고,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87240" y="4626864"/>
            <a:ext cx="301447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공장에 이전 가능한 형태로 정리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77200" y="3950208"/>
            <a:ext cx="3453384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6656" y="4078224"/>
            <a:ext cx="301447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실증장 · 교육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96656" y="4389120"/>
            <a:ext cx="301447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산업단지 안에 상설 견학,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96656" y="4626864"/>
            <a:ext cx="301447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주변 공장 대상 교육 프로그램 운영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58368" y="5047488"/>
            <a:ext cx="10872216" cy="877824"/>
          </a:xfrm>
          <a:prstGeom prst="roundRect">
            <a:avLst>
              <a:gd name="adj" fmla="val 9375"/>
            </a:avLst>
          </a:prstGeom>
          <a:solidFill>
            <a:srgbClr val="0B1220"/>
          </a:solidFill>
          <a:ln/>
        </p:spPr>
      </p:sp>
      <p:sp>
        <p:nvSpPr>
          <p:cNvPr id="32" name="Text 30"/>
          <p:cNvSpPr/>
          <p:nvPr/>
        </p:nvSpPr>
        <p:spPr>
          <a:xfrm>
            <a:off x="932688" y="5047488"/>
            <a:ext cx="1032357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이에 오성철강이 </a:t>
            </a:r>
            <a:pPr algn="ctr"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발견</a:t>
            </a:r>
            <a:pPr algn="ctr"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할 수 있도록, 많은 지원 부탁드립니다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658368" y="6345936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요청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101B31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566928"/>
            <a:ext cx="50292" cy="237744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530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spc="160" kern="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CLOSING · 마무리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58368" y="896112"/>
            <a:ext cx="108722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창립 때 저희가 수행했던 잠실 올림픽 스타디움도, 지금 다시 짓고 있습니다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1087221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오성철강도 전통 제조업에서 </a:t>
            </a:r>
            <a:pPr indent="0" marL="0">
              <a:lnSpc>
                <a:spcPct val="114000"/>
              </a:lnSpc>
              <a:buNone/>
            </a:pPr>
            <a:r>
              <a:rPr lang="en-US" sz="2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 서비스 회사로 다시 짓고 있습니다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58368" y="2011680"/>
            <a:ext cx="3246120" cy="2468880"/>
          </a:xfrm>
          <a:prstGeom prst="roundRect">
            <a:avLst>
              <a:gd name="adj" fmla="val 2963"/>
            </a:avLst>
          </a:prstGeom>
          <a:solidFill>
            <a:srgbClr val="121D33"/>
          </a:solidFill>
          <a:ln w="17780">
            <a:solidFill>
              <a:srgbClr val="2A3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139696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spc="8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잠실 올림픽 스타디움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76172" y="2432304"/>
            <a:ext cx="1810512" cy="1024128"/>
          </a:xfrm>
          <a:prstGeom prst="ellipse">
            <a:avLst/>
          </a:prstGeom>
          <a:solidFill>
            <a:srgbClr val="1B2740"/>
          </a:solidFill>
          <a:ln w="27940">
            <a:solidFill>
              <a:srgbClr val="F5B5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41932" y="2596896"/>
            <a:ext cx="1078992" cy="694944"/>
          </a:xfrm>
          <a:prstGeom prst="ellipse">
            <a:avLst/>
          </a:prstGeom>
          <a:solidFill>
            <a:srgbClr val="0B1220"/>
          </a:solidFill>
          <a:ln w="15240">
            <a:solidFill>
              <a:srgbClr val="3E4C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41932" y="278892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3584448"/>
            <a:ext cx="1810512" cy="274320"/>
          </a:xfrm>
          <a:prstGeom prst="roundRect">
            <a:avLst>
              <a:gd name="adj" fmla="val 46667"/>
            </a:avLst>
          </a:prstGeom>
          <a:solidFill>
            <a:srgbClr val="F5B5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4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 ·  리모델링 중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161288" y="4005072"/>
            <a:ext cx="2240280" cy="10973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4114800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지었던 회사가,  스스로를 다시 짓습니다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78808" y="2011680"/>
            <a:ext cx="7351776" cy="2468880"/>
          </a:xfrm>
          <a:prstGeom prst="roundRect">
            <a:avLst>
              <a:gd name="adj" fmla="val 2963"/>
            </a:avLst>
          </a:prstGeom>
          <a:solidFill>
            <a:srgbClr val="121D33"/>
          </a:solidFill>
          <a:ln w="17780">
            <a:solidFill>
              <a:srgbClr val="2A3A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1416" y="2212848"/>
            <a:ext cx="67665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b="1" spc="12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LONG WAY HOME  ·  28년 만의 귀환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71416" y="2670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오디세우스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88736" y="2651760"/>
            <a:ext cx="3233057" cy="292608"/>
          </a:xfrm>
          <a:prstGeom prst="roundRect">
            <a:avLst>
              <a:gd name="adj" fmla="val 18750"/>
            </a:avLst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9213233" y="26700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88736" y="299923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20년의 노하우로 더 강력한 왕국을 만들었습니다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71416" y="35478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저는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888736" y="3511296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312E81"/>
          </a:solidFill>
          <a:ln/>
        </p:spPr>
      </p:sp>
      <p:sp>
        <p:nvSpPr>
          <p:cNvPr id="23" name="Shape 21"/>
          <p:cNvSpPr/>
          <p:nvPr/>
        </p:nvSpPr>
        <p:spPr>
          <a:xfrm>
            <a:off x="6986016" y="3511296"/>
            <a:ext cx="2331720" cy="384048"/>
          </a:xfrm>
          <a:prstGeom prst="roundRect">
            <a:avLst>
              <a:gd name="adj" fmla="val 4762"/>
            </a:avLst>
          </a:prstGeom>
          <a:solidFill>
            <a:srgbClr val="4F46E5"/>
          </a:solidFill>
          <a:ln/>
        </p:spPr>
      </p:sp>
      <p:sp>
        <p:nvSpPr>
          <p:cNvPr id="24" name="Shape 22"/>
          <p:cNvSpPr/>
          <p:nvPr/>
        </p:nvSpPr>
        <p:spPr>
          <a:xfrm>
            <a:off x="9317736" y="3511296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F5B544"/>
          </a:solidFill>
          <a:ln/>
        </p:spPr>
      </p:sp>
      <p:sp>
        <p:nvSpPr>
          <p:cNvPr id="25" name="Text 23"/>
          <p:cNvSpPr/>
          <p:nvPr/>
        </p:nvSpPr>
        <p:spPr>
          <a:xfrm>
            <a:off x="10506456" y="349300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28년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888736" y="396849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오성을 떠남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86016" y="3968496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KT · IT / AI / ROBOT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317736" y="396849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오성으로 돌아옴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71416" y="4224528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28년의 기술로, 43년 된 오성철강과 함께 새로운 회사로 거듭나겠습니다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8368" y="4754880"/>
            <a:ext cx="10872216" cy="1143000"/>
          </a:xfrm>
          <a:prstGeom prst="roundRect">
            <a:avLst>
              <a:gd name="adj" fmla="val 8000"/>
            </a:avLst>
          </a:prstGeom>
          <a:solidFill>
            <a:srgbClr val="1A1406"/>
          </a:solidFill>
          <a:ln w="20320">
            <a:solidFill>
              <a:srgbClr val="F5B5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4937760"/>
            <a:ext cx="103235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우리에게 </a:t>
            </a:r>
            <a:pPr algn="ctr" indent="0" marL="0">
              <a:lnSpc>
                <a:spcPct val="135000"/>
              </a:lnSpc>
              <a:buNone/>
            </a:pPr>
            <a:r>
              <a:rPr lang="en-US" sz="23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꿈을 꾸게</a:t>
            </a:r>
            <a:pPr algn="ctr" indent="0" marL="0">
              <a:lnSpc>
                <a:spcPct val="13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만들어 주었습니다</a:t>
            </a:r>
            <a:endParaRPr lang="en-US" sz="2300" dirty="0"/>
          </a:p>
        </p:txBody>
      </p:sp>
      <p:sp>
        <p:nvSpPr>
          <p:cNvPr id="32" name="Text 30"/>
          <p:cNvSpPr/>
          <p:nvPr/>
        </p:nvSpPr>
        <p:spPr>
          <a:xfrm>
            <a:off x="932688" y="5431536"/>
            <a:ext cx="103235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꿈을 꿀 수 없던 구조가 바뀌었고,  그 자리에 꿈이 들어왔습니다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58368" y="6345936"/>
            <a:ext cx="10872216" cy="10973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spc="14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950" b="1" spc="12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101B31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566928"/>
            <a:ext cx="50292" cy="237744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530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spc="160" kern="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 DREAMS · 세 개의 꿈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58368" y="896112"/>
            <a:ext cx="108722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저희에게 준 것은 도구가 아니라, 꿈을 꿀 수 있다는 가능성이었습니다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170432"/>
            <a:ext cx="1087221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꿈을, </a:t>
            </a:r>
            <a:pPr indent="0" marL="0">
              <a:lnSpc>
                <a:spcPct val="114000"/>
              </a:lnSpc>
              <a:buNone/>
            </a:pPr>
            <a:r>
              <a:rPr lang="en-US" sz="2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4,000곳과 함께</a:t>
            </a:r>
            <a:pPr indent="0" marL="0">
              <a:lnSpc>
                <a:spcPct val="114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꾸고 싶습니다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58368" y="2642616"/>
            <a:ext cx="3346704" cy="2066544"/>
          </a:xfrm>
          <a:prstGeom prst="roundRect">
            <a:avLst>
              <a:gd name="adj" fmla="val 4425"/>
            </a:avLst>
          </a:prstGeom>
          <a:solidFill>
            <a:srgbClr val="16233C"/>
          </a:solidFill>
          <a:ln w="17780">
            <a:solidFill>
              <a:srgbClr val="2A3A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642616"/>
            <a:ext cx="3346704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880360"/>
            <a:ext cx="585216" cy="274320"/>
          </a:xfrm>
          <a:prstGeom prst="roundRect">
            <a:avLst>
              <a:gd name="adj" fmla="val 46667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3227832"/>
            <a:ext cx="28712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근로자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96112" y="3611880"/>
            <a:ext cx="2871216" cy="10973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739896"/>
            <a:ext cx="28712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 엔지니어로 나아갈 수 있는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96112" y="4014216"/>
            <a:ext cx="28712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꿈을 꾸게 해주었고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96112" y="4434840"/>
            <a:ext cx="28712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 12명 중 5명이 외국인입니다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21124" y="2185416"/>
            <a:ext cx="3346704" cy="2523744"/>
          </a:xfrm>
          <a:prstGeom prst="roundRect">
            <a:avLst>
              <a:gd name="adj" fmla="val 3623"/>
            </a:avLst>
          </a:prstGeom>
          <a:solidFill>
            <a:srgbClr val="16233C"/>
          </a:solidFill>
          <a:ln w="17780">
            <a:solidFill>
              <a:srgbClr val="2A3A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21124" y="2185416"/>
            <a:ext cx="3346704" cy="54864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17" name="Text 15"/>
          <p:cNvSpPr/>
          <p:nvPr/>
        </p:nvSpPr>
        <p:spPr>
          <a:xfrm>
            <a:off x="4658868" y="2423160"/>
            <a:ext cx="585216" cy="274320"/>
          </a:xfrm>
          <a:prstGeom prst="roundRect">
            <a:avLst>
              <a:gd name="adj" fmla="val 46667"/>
            </a:avLst>
          </a:prstGeom>
          <a:solidFill>
            <a:srgbClr val="7DD3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58868" y="2770632"/>
            <a:ext cx="28712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4658868" y="3154680"/>
            <a:ext cx="2871216" cy="10973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20" name="Text 18"/>
          <p:cNvSpPr/>
          <p:nvPr/>
        </p:nvSpPr>
        <p:spPr>
          <a:xfrm>
            <a:off x="4658868" y="3282696"/>
            <a:ext cx="28712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싸고 낮은 품질이 아니라,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658868" y="3557016"/>
            <a:ext cx="28712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품질의 제조 서비스를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658868" y="3831336"/>
            <a:ext cx="28712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제공할 수 있는 꿈을 꾸게 해주었고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658868" y="4251960"/>
            <a:ext cx="28712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41개 서비스를 직접 만들었습니다  ·  외주 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183880" y="1911096"/>
            <a:ext cx="3346704" cy="2798064"/>
          </a:xfrm>
          <a:prstGeom prst="roundRect">
            <a:avLst>
              <a:gd name="adj" fmla="val 3268"/>
            </a:avLst>
          </a:prstGeom>
          <a:solidFill>
            <a:srgbClr val="1A1406"/>
          </a:solidFill>
          <a:ln w="27940">
            <a:solidFill>
              <a:srgbClr val="F5B5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1911096"/>
            <a:ext cx="3346704" cy="54864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26" name="Text 24"/>
          <p:cNvSpPr/>
          <p:nvPr/>
        </p:nvSpPr>
        <p:spPr>
          <a:xfrm>
            <a:off x="8421624" y="2148840"/>
            <a:ext cx="585216" cy="274320"/>
          </a:xfrm>
          <a:prstGeom prst="roundRect">
            <a:avLst>
              <a:gd name="adj" fmla="val 46667"/>
            </a:avLst>
          </a:prstGeom>
          <a:solidFill>
            <a:srgbClr val="F5B5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4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421624" y="2496312"/>
            <a:ext cx="28712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4,000곳 이상의 철강 회사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8421624" y="2880360"/>
            <a:ext cx="2871216" cy="10973"/>
          </a:xfrm>
          <a:prstGeom prst="rect">
            <a:avLst/>
          </a:prstGeom>
          <a:solidFill>
            <a:srgbClr val="3A2C12"/>
          </a:solidFill>
          <a:ln/>
        </p:spPr>
      </p:sp>
      <p:sp>
        <p:nvSpPr>
          <p:cNvPr id="29" name="Text 27"/>
          <p:cNvSpPr/>
          <p:nvPr/>
        </p:nvSpPr>
        <p:spPr>
          <a:xfrm>
            <a:off x="8421624" y="3008376"/>
            <a:ext cx="28712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저희는 더 많은 꿈을 꾸고 싶고,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421624" y="3282696"/>
            <a:ext cx="28712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꿈을 국내 4,000곳 이상의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421624" y="3557016"/>
            <a:ext cx="28712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철강 회사가 같이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421624" y="3831336"/>
            <a:ext cx="28712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꾸게 하고 싶습니다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421624" y="4251960"/>
            <a:ext cx="287121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반월시화, 그리고 그 너머까지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 flipV="1">
            <a:off x="4096512" y="2386584"/>
            <a:ext cx="233172" cy="45720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7859268" y="2112264"/>
            <a:ext cx="233172" cy="274320"/>
          </a:xfrm>
          <a:prstGeom prst="line">
            <a:avLst/>
          </a:prstGeom>
          <a:noFill/>
          <a:ln w="30480">
            <a:solidFill>
              <a:srgbClr val="F5B544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658368" y="5138928"/>
            <a:ext cx="47548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4000" b="1" spc="24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37" name="Text 35"/>
          <p:cNvSpPr/>
          <p:nvPr/>
        </p:nvSpPr>
        <p:spPr>
          <a:xfrm>
            <a:off x="5596128" y="5303520"/>
            <a:ext cx="593445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개발이 아니라, </a:t>
            </a:r>
            <a:pPr algn="r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발견</a:t>
            </a:r>
            <a:pPr algn="r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이었습니다.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5596128" y="5669280"/>
            <a:ext cx="59344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발견은, 질문에서만 나옵니다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58368" y="6345936"/>
            <a:ext cx="10872216" cy="10973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" y="64190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b="1" spc="14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787384" y="64190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950" b="1" spc="12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12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오성철강 — 자체개발형 AI 모델공장</dc:title>
  <dc:subject>PptxGenJS Presentation</dc:subject>
  <dc:creator>PptxGenJS</dc:creator>
  <cp:lastModifiedBy>PptxGenJS</cp:lastModifiedBy>
  <cp:revision>1</cp:revision>
  <dcterms:created xsi:type="dcterms:W3CDTF">2026-09-16T01:15:56Z</dcterms:created>
  <dcterms:modified xsi:type="dcterms:W3CDTF">2026-09-16T01:15:56Z</dcterms:modified>
</cp:coreProperties>
</file>