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60120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344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spc="22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산업통상자원부 장관 보고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낮에만 도는 공장에서,
</a:t>
            </a:r>
            <a:pPr indent="0" marL="0">
              <a:lnSpc>
                <a:spcPct val="122000"/>
              </a:lnSpc>
              <a:buNone/>
            </a:pPr>
            <a:r>
              <a:rPr lang="en-US" sz="47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회사</a:t>
            </a:r>
            <a:pPr indent="0" marL="0">
              <a:lnSpc>
                <a:spcPct val="122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</a:t>
            </a:r>
            <a:endParaRPr lang="en-US" sz="4700" dirty="0"/>
          </a:p>
        </p:txBody>
      </p:sp>
      <p:sp>
        <p:nvSpPr>
          <p:cNvPr id="6" name="Shape 4"/>
          <p:cNvSpPr/>
          <p:nvPr/>
        </p:nvSpPr>
        <p:spPr>
          <a:xfrm>
            <a:off x="658368" y="4069080"/>
            <a:ext cx="1920240" cy="3200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3159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실패하고 남은 것은 </a:t>
            </a:r>
            <a:pPr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pPr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였습니다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58368" y="5440680"/>
            <a:ext cx="10872216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 지붕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008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9008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2180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2180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5352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65352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자체개발 서비스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44584" y="6126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PAGE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</a:t>
            </a:r>
            <a:pPr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</a:t>
            </a:r>
            <a:pPr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남기고, AI가 그것에 </a:t>
            </a:r>
            <a:pPr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물어볼 방법</a:t>
            </a:r>
            <a:pPr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가져왔습니다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212848" cy="987552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21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· 장비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생산성↑  값은 그대로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200400"/>
            <a:ext cx="2212848" cy="987552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10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· AI 품질측정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027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수상  매출 그대로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44368" y="2505456"/>
            <a:ext cx="384048" cy="466344"/>
          </a:xfrm>
          <a:prstGeom prst="line">
            <a:avLst/>
          </a:prstGeom>
          <a:noFill/>
          <a:ln w="22225">
            <a:solidFill>
              <a:srgbClr val="FCA5A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2944368" y="3227832"/>
            <a:ext cx="384048" cy="466344"/>
          </a:xfrm>
          <a:prstGeom prst="line">
            <a:avLst/>
          </a:prstGeom>
          <a:noFill/>
          <a:ln w="22225">
            <a:solidFill>
              <a:srgbClr val="FCA5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2395728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5054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81635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</a:t>
            </a:r>
            <a:endParaRPr lang="en-US" sz="12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품질 측정 자료</a:t>
            </a:r>
            <a:endParaRPr lang="en-US" sz="12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 187만 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61888" y="3118104"/>
            <a:ext cx="384048" cy="7315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19088" y="2011680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103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65392" y="23408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모르는가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19088" y="3200400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65392" y="352958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원하는가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070848" y="2505456"/>
            <a:ext cx="384048" cy="731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70848" y="3694176"/>
            <a:ext cx="384048" cy="731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28048" y="2011680"/>
            <a:ext cx="2002536" cy="1060704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74352" y="212140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674352" y="2651760"/>
            <a:ext cx="137160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674352" y="2651760"/>
            <a:ext cx="96012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9674352" y="27980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70%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528048" y="3200400"/>
            <a:ext cx="2002536" cy="1060704"/>
          </a:xfrm>
          <a:prstGeom prst="roundRect">
            <a:avLst>
              <a:gd name="adj" fmla="val 689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74352" y="331012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회사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674352" y="3840480"/>
            <a:ext cx="137160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674352" y="3840480"/>
            <a:ext cx="274320" cy="1097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4" name="Text 32"/>
          <p:cNvSpPr/>
          <p:nvPr/>
        </p:nvSpPr>
        <p:spPr>
          <a:xfrm>
            <a:off x="9674352" y="398678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20%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8368" y="4828032"/>
            <a:ext cx="10872216" cy="841248"/>
          </a:xfrm>
          <a:prstGeom prst="roundRect">
            <a:avLst>
              <a:gd name="adj" fmla="val 8696"/>
            </a:avLst>
          </a:prstGeom>
          <a:solidFill>
            <a:srgbClr val="0B1220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4828032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장비는 낮에만 돕니다.  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24시간 돕니다.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8368" y="5833872"/>
            <a:ext cx="10872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두 번은 갖추는 일이었고, 세 번째는 보이게 하는 일이었습니다.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WE ARE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저희는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 지붕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만들었습니다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578608"/>
            <a:ext cx="10872216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76072" y="2496312"/>
            <a:ext cx="201168" cy="2011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11411712" y="2496312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9933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816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손에 꼽히던 첨단 제조 회사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27464" y="199339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38744" y="28163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경기장은 다시 짓고, 저희는 그대로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97196" y="214884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8368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456432"/>
            <a:ext cx="255346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8368" y="413308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직원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31286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1286" y="3456432"/>
            <a:ext cx="255346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3431286" y="413308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2726" y="4425696"/>
            <a:ext cx="237058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설명서는 전부 한국어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4204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4204" y="3456432"/>
            <a:ext cx="255346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204204" y="413308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경력(년)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95644" y="4425696"/>
            <a:ext cx="237058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정년이 눈앞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77122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7122" y="3456432"/>
            <a:ext cx="255346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8977122" y="413308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라인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68562" y="4425696"/>
            <a:ext cx="237058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· 슬리터1 · 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504748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0B1220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504748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전통의 회사가 아닙니다.  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회사도, 기계도, 사람도 오래되었습니다.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어떤 회사인가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FAILURES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시도했고,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값을 받지 못했습니다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806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5280660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2587752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 ·  장비를 바꿨습니다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7685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생산성은 올랐습니다.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값은 오르지 않았습니다.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419856"/>
            <a:ext cx="4768596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419856"/>
            <a:ext cx="443941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세탁소가 비싼 세탁기를 들여놨다고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세탁비를 더 받지는 못합니다.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그 세탁기를 볼 수 없기 때문입니다.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9924" y="1920240"/>
            <a:ext cx="52806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9924" y="1920240"/>
            <a:ext cx="5280660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3" name="Text 11"/>
          <p:cNvSpPr/>
          <p:nvPr/>
        </p:nvSpPr>
        <p:spPr>
          <a:xfrm>
            <a:off x="6505956" y="2121408"/>
            <a:ext cx="3328416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 ·  AI 품질측정을 만들었습니다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05956" y="2560320"/>
            <a:ext cx="47685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 최초로 개발해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까지 받았습니다.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기술은 성공했고, 사업은 실패했습니다.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524244" y="3529584"/>
            <a:ext cx="100584" cy="10058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743700" y="3419856"/>
            <a:ext cx="45125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쓰지 않았습니다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결과를 보려면 다른 프로그램을 또 켜야 했습니다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24244" y="4096512"/>
            <a:ext cx="100584" cy="10058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743700" y="3986784"/>
            <a:ext cx="45125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알지 못했습니다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전수 검사 사실이 전달될 통로가 없었습니다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504748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0B1220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504748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훌륭했습니다. 그런데 둘 다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볼 수 없는 곳에 있었습니다.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REMAINED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빈손이 아니었습니다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477768" cy="2331720"/>
          </a:xfrm>
          <a:prstGeom prst="roundRect">
            <a:avLst>
              <a:gd name="adj" fmla="val 313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66544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1차가 남긴 것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2359152"/>
            <a:ext cx="30205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127248"/>
            <a:ext cx="30205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못 올렸지만 생산 능력 자체는 확보했습니다. 지금도 돌고 있습니다.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5592" y="1920240"/>
            <a:ext cx="3477768" cy="2331720"/>
          </a:xfrm>
          <a:prstGeom prst="roundRect">
            <a:avLst>
              <a:gd name="adj" fmla="val 313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3336" y="2066544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2차가 남긴 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93336" y="2359152"/>
            <a:ext cx="30205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타사에 없는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품질 측정 자료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3336" y="3127248"/>
            <a:ext cx="30205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사업은 실패했지만 작동은 계속했습니다. 표면 전수 촬영 · 결함 위치 · 영상 · 두께 — 매일, 모든 코일에.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52816" y="1920240"/>
            <a:ext cx="3477768" cy="2331720"/>
          </a:xfrm>
          <a:prstGeom prst="roundRect">
            <a:avLst>
              <a:gd name="adj" fmla="val 313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560" y="2066544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장비가 남긴 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90560" y="2359152"/>
            <a:ext cx="30205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수백만 건의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90560" y="3035808"/>
            <a:ext cx="3020568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 건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90560" y="3730752"/>
            <a:ext cx="30205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한 줄씩 · 설비 기록만 182만 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480560"/>
            <a:ext cx="10872216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480560"/>
            <a:ext cx="103235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팔 줄을 몰랐을 뿐, 가지고는 있었습니다.   </a:t>
            </a:r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아무도 보지 않았습니다. 그냥 쌓이고 있었습니다.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" y="5705856"/>
            <a:ext cx="10872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실패가 헛되지 않았던 이유는 저희가 잘했기 때문이 아닙니다. 버티고 있었기 때문입니다.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TURNING POINT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질문에만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답합니다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5322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5253228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328416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이전  —  아무것도 할 수 없었습니다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25786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5024" y="2560320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사람이 없었습니다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35024" y="2871216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회사에 분석 인력이 있을 수 없습니다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331012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5024" y="3291840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볼지 먼저 정해야 했습니다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335024" y="3602736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 수천만 원. 명세서에 써야 하는데 몰랐습니다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40416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5024" y="4023360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물어야 할지 몰랐습니다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35024" y="4334256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이유였습니다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663440"/>
            <a:ext cx="4741164" cy="146304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77356" y="1920240"/>
            <a:ext cx="525322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7356" y="1920240"/>
            <a:ext cx="5253228" cy="54864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3388" y="2121408"/>
            <a:ext cx="345186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이후  —  세 가지가 동시에 풀렸습니다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51676" y="25786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54012" y="2560320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물어보면 됩니다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954012" y="2871216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60개·2주치를 훑는 일 — 사람은 며칠, AI는 한 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51676" y="331012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54012" y="3291840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질문을 해도 비용이 안 듭니다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954012" y="3602736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 되니까 많이 물었고, 많이 물으니 발견이 나왔습니다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51676" y="40416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54012" y="4023360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화면까지 직접 만들 수 있게 됐습니다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54012" y="4334256"/>
            <a:ext cx="43388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것은 조잡했습니다. 그래도 41개가 됐습니다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" y="5193792"/>
            <a:ext cx="10872216" cy="804672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" y="5193792"/>
            <a:ext cx="1032357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없으면 데이터는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창고에 쌓인 재고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같습니다.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전환점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1188720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4447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질문을 다시 바꿨습니다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9019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strike="sngStrike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"무엇을 도입하면 경쟁력이 생길까"  —  두 번 다 틀렸습니다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615184"/>
            <a:ext cx="5161788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798064"/>
            <a:ext cx="51617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3438144"/>
            <a:ext cx="51617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</a:t>
            </a:r>
            <a:endParaRPr lang="en-US" sz="3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모르는가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58368" y="4718304"/>
            <a:ext cx="51617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안을 보는 질문  →  품질이 완벽해집니다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68796" y="2615184"/>
            <a:ext cx="5161788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368796" y="2798064"/>
            <a:ext cx="51617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68796" y="3438144"/>
            <a:ext cx="51617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</a:t>
            </a:r>
            <a:endParaRPr lang="en-US" sz="3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원하는가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68796" y="4718304"/>
            <a:ext cx="51617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밖을 보는 질문  →  값을 받을 수 있습니다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5358384"/>
            <a:ext cx="10872216" cy="841248"/>
          </a:xfrm>
          <a:prstGeom prst="roundRect">
            <a:avLst>
              <a:gd name="adj" fmla="val 8696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358384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①만 하면 품질은 좋아지는데 아무도 모릅니다 = 1차 실패    ·    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②만 하면 팔 것은 있는데 근거가 없습니다 = 2차 실패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작업자가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답하지 못하는 질문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하나씩 없앴습니다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56816"/>
            <a:ext cx="529894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56816"/>
            <a:ext cx="50292" cy="1170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1396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91056" y="2139696"/>
            <a:ext cx="41102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 잘 돌아가고 있나?"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91056" y="2578608"/>
            <a:ext cx="41102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소리와 감으로 판단 — 40년 공장장 머릿속에만 있었습니다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1636" y="1956816"/>
            <a:ext cx="529894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1636" y="1956816"/>
            <a:ext cx="50292" cy="1170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505956" y="21396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64324" y="2139696"/>
            <a:ext cx="41102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"아까 그 불량, 그때 어떻게 돌렸더라?"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64324" y="2578608"/>
            <a:ext cx="41102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기억에 의존 — 그래서 같은 불량이 또 났습니다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364992"/>
            <a:ext cx="529894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364992"/>
            <a:ext cx="50292" cy="1170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35478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91056" y="3547872"/>
            <a:ext cx="41102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"이건 우리 잘못인가, 원래 그랬나?"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91056" y="3986784"/>
            <a:ext cx="41102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숫자만으로는 표면 흠집을 가릴 수 없었습니다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1636" y="3364992"/>
            <a:ext cx="5298948" cy="1170432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1636" y="3364992"/>
            <a:ext cx="50292" cy="11704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505956" y="35478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64324" y="3547872"/>
            <a:ext cx="41102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데이터는 믿을 만한가?"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64324" y="3986784"/>
            <a:ext cx="41102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질문이었고, 답은 "아니오"였습니다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4828032"/>
            <a:ext cx="10872216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828032"/>
            <a:ext cx="1032357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시스템을 만들지 않았습니다.  </a:t>
            </a:r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답하지 못하는 질문을 찾아, 하나씩 지웠을 뿐입니다.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 THE FIELD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순간을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숫자로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지난 순간은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되감아서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32688" y="187452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240280"/>
            <a:ext cx="1920240" cy="3090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1947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헬퍼 · 슬리터2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40864" y="194767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11:42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2144" y="2386584"/>
            <a:ext cx="1682496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2441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속도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43584" y="25877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</a:t>
            </a:r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mpm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243584" y="302666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78~85 · 적정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52144" y="3410712"/>
            <a:ext cx="518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456432"/>
            <a:ext cx="518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52144" y="3611880"/>
            <a:ext cx="518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734312" y="3410712"/>
            <a:ext cx="518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4312" y="3456432"/>
            <a:ext cx="518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734312" y="3611880"/>
            <a:ext cx="518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16480" y="3410712"/>
            <a:ext cx="518160" cy="512064"/>
          </a:xfrm>
          <a:prstGeom prst="roundRect">
            <a:avLst>
              <a:gd name="adj" fmla="val 14286"/>
            </a:avLst>
          </a:prstGeom>
          <a:solidFill>
            <a:srgbClr val="FFF8E8"/>
          </a:solidFill>
          <a:ln w="13970">
            <a:solidFill>
              <a:srgbClr val="FBD8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16480" y="3456432"/>
            <a:ext cx="518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316480" y="3611880"/>
            <a:ext cx="518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2144" y="40325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 995 / 1,989 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52144" y="4251960"/>
            <a:ext cx="1682496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2144" y="4251960"/>
            <a:ext cx="841248" cy="1005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1152144" y="4507992"/>
            <a:ext cx="91440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187452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27" name="Shape 25"/>
          <p:cNvSpPr/>
          <p:nvPr/>
        </p:nvSpPr>
        <p:spPr>
          <a:xfrm>
            <a:off x="3392424" y="2240280"/>
            <a:ext cx="1920240" cy="3090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1947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운행 정보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194767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되감기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11296" y="23317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2026-09-03 · 코일 1622057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11296" y="2660904"/>
            <a:ext cx="1682496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3511296" y="2660904"/>
            <a:ext cx="1043148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20794" y="2578608"/>
            <a:ext cx="237744" cy="237744"/>
          </a:xfrm>
          <a:prstGeom prst="ellipse">
            <a:avLst/>
          </a:prstGeom>
          <a:solidFill>
            <a:srgbClr val="4F46E5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291693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</a:t>
            </a:r>
            <a:pPr algn="ct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m 지점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511296" y="3319272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23360" y="3319272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 mpm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11296" y="3593592"/>
            <a:ext cx="16824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3511296" y="3648456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023360" y="3648456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2.4/2.3/0.0/2.5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11296" y="3922776"/>
            <a:ext cx="16824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3511296" y="3977640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23360" y="397764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511296" y="4251960"/>
            <a:ext cx="16824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3511296" y="4306824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0" y="430682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09:21:14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511296" y="4581144"/>
            <a:ext cx="16824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Shape 45"/>
          <p:cNvSpPr/>
          <p:nvPr/>
        </p:nvSpPr>
        <p:spPr>
          <a:xfrm>
            <a:off x="3511296" y="4764024"/>
            <a:ext cx="1682496" cy="402336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 w="13970">
            <a:solidFill>
              <a:srgbClr val="FCA5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11296" y="476402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텐션3 — 작업 내내 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833872" y="1874520"/>
            <a:ext cx="5696712" cy="1481328"/>
          </a:xfrm>
          <a:prstGeom prst="roundRect">
            <a:avLst>
              <a:gd name="adj" fmla="val 4938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53328" y="2002536"/>
            <a:ext cx="566928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053328" y="2368296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작업자가 기계 소리와 손끝 감각으로 판단했습니다. 40년 경력 공장장님은 아셨지만, 그 감각은 어디에도 적혀 있지 않았습니다. 퇴직하시면 같이 사라지는 것이었습니다.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833872" y="3465576"/>
            <a:ext cx="5696712" cy="1481328"/>
          </a:xfrm>
          <a:prstGeom prst="roundRect">
            <a:avLst>
              <a:gd name="adj" fmla="val 4938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53328" y="3593592"/>
            <a:ext cx="566928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053328" y="3959352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태블릿과 휴대폰에 지금 이 순간의 속도와 힘이 큰 숫자로 뜹니다. 코일 번호와 위치를 넣으면 그 지점으로 되감아 볼 수 있습니다. 한국어·영어 두 벌입니다.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833872" y="5184648"/>
            <a:ext cx="5696712" cy="786384"/>
          </a:xfrm>
          <a:prstGeom prst="roundRect">
            <a:avLst>
              <a:gd name="adj" fmla="val 9302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53328" y="5184648"/>
            <a:ext cx="5257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단자가 없는 30년 된 장비는 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세워두고 AI가 계기판 숫자를 읽게 했습니다. 1분마다 6개 값이 자동 기록됩니다.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 VERIFY, NOT TRUST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숫자를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믿지 않고, 확인합니다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47776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3477768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03120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설비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359152"/>
            <a:ext cx="30205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난 센서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743200"/>
            <a:ext cx="30205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4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3/4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96112" y="3419856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센서가 작업 내내 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3712464"/>
            <a:ext cx="302056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822192"/>
            <a:ext cx="30205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60개·2주치를 한 번에 훑어 5건 발견. 가공 문제가 아니라 배선이 끊어져 있었습니다. 사람 눈으로는 평생 못 찾을 문제입니다.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55592" y="1920240"/>
            <a:ext cx="347776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5592" y="1920240"/>
            <a:ext cx="3477768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4593336" y="2103120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납품받은 시스템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3336" y="2359152"/>
            <a:ext cx="30205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검사 시스템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3336" y="2743200"/>
            <a:ext cx="30205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4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593336" y="3419856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20건 중 문제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93336" y="3712464"/>
            <a:ext cx="302056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93336" y="3822192"/>
            <a:ext cx="30205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기록된 흠집의 상당수가 시험용 가짜 데이터였고, 두께 측정은 표본 5건 모두 값이 0 — 아예 돌고 있지 않았습니다.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52816" y="1920240"/>
            <a:ext cx="347776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52816" y="1920240"/>
            <a:ext cx="3477768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290560" y="2103120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만든 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90560" y="2359152"/>
            <a:ext cx="30205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시스템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90560" y="2743200"/>
            <a:ext cx="30205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290560" y="3419856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시간씩 어긋남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90560" y="3712464"/>
            <a:ext cx="302056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8290560" y="3822192"/>
            <a:ext cx="30205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시각이 밀려 기록되던 오류를 찾아 전부 고쳤습니다. 남의 것만 의심하지 않았습니다.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8368" y="4919472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0B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4919472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건이 있어도,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검증하지 않은 데이터는 자산이 아니라 위험입니다.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GAINED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①이 남긴 것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80660" cy="2999232"/>
          </a:xfrm>
          <a:prstGeom prst="roundRect">
            <a:avLst>
              <a:gd name="adj" fmla="val 2439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60020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완벽한 품질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32688" y="2660904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2542032"/>
            <a:ext cx="453085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공정이 표준화됐습니다</a:t>
            </a:r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40년이든 입사 한 달이든 같은 화면, 같은 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" y="322783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133856" y="3108960"/>
            <a:ext cx="453085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불량이 거의 사라졌습니다</a:t>
            </a:r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 계산 도구를 만든 뒤 이 유형은 사실상 소멸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2688" y="379476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856" y="3675888"/>
            <a:ext cx="453085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검증</a:t>
            </a:r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샘플로 보지 않습니다. 표면은 전부 촬영, 조건은 2초마다 기록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" y="436168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4242816"/>
            <a:ext cx="453085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자체를 검증</a:t>
            </a:r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센서가 죽었는지, 측정이 도는지를 의심하고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590288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장비를 샀고, 3차에 그 장비를 제대로 쓰는 기술을 얻었습니다.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9924" y="1920240"/>
            <a:ext cx="528066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5956" y="2103120"/>
            <a:ext cx="169164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기술 내재화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05956" y="2523744"/>
            <a:ext cx="1504188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6505956" y="2596896"/>
            <a:ext cx="15041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05956" y="3017520"/>
            <a:ext cx="15041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만든 서비스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0" y="2523744"/>
            <a:ext cx="1504188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2596896"/>
            <a:ext cx="15041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138160" y="3017520"/>
            <a:ext cx="15041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70364" y="2523744"/>
            <a:ext cx="1504188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9770364" y="2596896"/>
            <a:ext cx="15041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770364" y="3017520"/>
            <a:ext cx="15041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요구 반영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05956" y="3474720"/>
            <a:ext cx="4768596" cy="1353312"/>
          </a:xfrm>
          <a:prstGeom prst="roundRect">
            <a:avLst>
              <a:gd name="adj" fmla="val 5405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0548" y="3474720"/>
            <a:ext cx="443941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도구를 한국어·영어 두 벌로 만들자, 외국인 직원들이 AI의 도움으로 기계 기록을 직접 읽기 시작했습니다.
</a:t>
            </a:r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저희에겐 롤러 Ø40 · 길이 1,320 · 축 Ø20까지 정리된 장비 개조 도면이 있습니다. 그린 사람은 엔지니어가 아니라 현장 직원입니다.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" y="5138928"/>
            <a:ext cx="10872216" cy="841248"/>
          </a:xfrm>
          <a:prstGeom prst="roundRect">
            <a:avLst>
              <a:gd name="adj" fmla="val 8696"/>
            </a:avLst>
          </a:prstGeom>
          <a:solidFill>
            <a:srgbClr val="0B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5138928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"설정값 도구를 만들어달라"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요구가 아래에서 올라왔습니다. 앞의 두 번은 위에서 내려준 것이었습니다.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SERVICES, 6 WAYS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AI가 아닙니다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가지 방식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씁니다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4825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322576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AI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2615184"/>
            <a:ext cx="30205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계기판 사진의 숫자, 팩스 작업요청서, 지출 영수증을 읽습니다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5592" y="190195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3336" y="204825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3336" y="2322576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AI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93336" y="2615184"/>
            <a:ext cx="30205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250m로 지나가는 철판 표면을 전수 촬영해 흠집을 찾습니다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52816" y="190195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560" y="204825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0560" y="2322576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찾아내는 AI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290560" y="2615184"/>
            <a:ext cx="30205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2주치를 한 번에 훑어 고장 난 센서와 이상 구간을 걸러냅니다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218688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3649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3639312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추천하는 AI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96112" y="3931920"/>
            <a:ext cx="30205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사양 실측값으로 권장 속도·힘·예상 가동시간을 제시합니다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55592" y="3218688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3336" y="33649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3336" y="3639312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답하는 AI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593336" y="3931920"/>
            <a:ext cx="30205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말로 물으면 실제 기록을 근거로 답합니다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52816" y="3218688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0560" y="33649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90560" y="3639312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AI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290560" y="3931920"/>
            <a:ext cx="30205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화면과 분석 도구 자체를 AI로 만들었습니다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4517136"/>
            <a:ext cx="10872216" cy="768096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4517136"/>
            <a:ext cx="206471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자체개발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2997403" y="4517136"/>
            <a:ext cx="206471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실데이터 가동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5062118" y="4517136"/>
            <a:ext cx="206471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현장 상주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126834" y="4517136"/>
            <a:ext cx="206471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누적 데이터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191549" y="4517136"/>
            <a:ext cx="206471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외주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658368" y="5486400"/>
            <a:ext cx="10872216" cy="713232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5486400"/>
            <a:ext cx="103235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06번이 앞의 다섯 개를 가능하게 했습니다. 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개발을 AI로 하니, 나머지를 직접 만들 수 있었습니다.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1097280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3533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792224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1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 무엇을 원하는가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250545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고객이 더 정밀한 분석을 원할 거라 생각했습니다. 두 번째 실패가 그 생각에서 나왔습니다.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127248"/>
            <a:ext cx="82296" cy="155448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3127248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"그냥 아무 때나 물어보고,
</a:t>
            </a:r>
            <a:pPr indent="0" marL="0">
              <a:lnSpc>
                <a:spcPct val="130000"/>
              </a:lnSpc>
              <a:buNone/>
            </a:pPr>
            <a:r>
              <a:rPr lang="en-US" sz="3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확인받고 싶습니다."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042416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정밀한 분석 리포트를 원하는 게 아닙니다.  밤 열 시에 궁금한 것이 생겼을 때, 그때 답을 받고 싶은 것입니다.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5504688"/>
            <a:ext cx="10872216" cy="786384"/>
          </a:xfrm>
          <a:prstGeom prst="roundRect">
            <a:avLst>
              <a:gd name="adj" fmla="val 9302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5504688"/>
            <a:ext cx="1032357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택배는 어느 터미널에 있는지까지 봅니다. 은행도 24시간입니다.   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수천만 원짜리 철강 발주가 가장 확인하기 어려운 거래였습니다.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가지였습니다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"24시간"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81328" y="1609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하고 싶은 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82128" y="1609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46888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920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문의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590288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 묻고 바로 답받기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82128" y="192024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업무시간에 전화, 담당자 없으면 다시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10896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560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발주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590288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밤에도 주문 넣기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82128" y="256032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팩스·전화, 업무시간만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74904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진행 조회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4590288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물건이 지금 어디까지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82128" y="320040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전화해서 물어봐야 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38912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81328" y="3840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상세 내역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4590288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거래·미출고·미수금·맡긴 재고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82128" y="384048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요청하면 정리해서 보내줌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" y="4480560"/>
            <a:ext cx="10872216" cy="54864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480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81328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품질 결과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590288" y="4480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발주한 그 물건의 AI 검사 결과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82128" y="448056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어디에도 없음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" y="5120640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5120640"/>
            <a:ext cx="48417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①~④는 온라인 쇼핑에서 이미 당연한 것들입니다.  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언젠가 다른 코일센터도 하게 됩니다.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49924" y="5120640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9380" y="5120640"/>
            <a:ext cx="48417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⑤는 다릅니다.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자료 · 2초 단위 기록 · 검증된 데이터가 있어야 합니다. 질문 ①의 답이 없으면 불가능합니다.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IF, AT 11 PM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열한 시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휴대폰을 열어서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2240280"/>
            <a:ext cx="1920240" cy="3273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947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고객 포털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12848" y="1947672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23:04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23317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(주)대한강재님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0704" y="2624328"/>
            <a:ext cx="1682496" cy="804672"/>
          </a:xfrm>
          <a:prstGeom prst="roundRect">
            <a:avLst>
              <a:gd name="adj" fmla="val 9091"/>
            </a:avLst>
          </a:prstGeom>
          <a:solidFill>
            <a:srgbClr val="EEF0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6791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 · 코일 1622057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" y="28620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01368" y="293522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01:40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52144" y="3246120"/>
            <a:ext cx="1499616" cy="822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144" y="3246120"/>
            <a:ext cx="92976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" y="3538728"/>
            <a:ext cx="1682496" cy="1024128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35935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받은 물건 품질 결과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" y="3776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· 표준 범위 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" y="403250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 0 · 두께 ±0.01 · 중단 없음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52144" y="432511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보기 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60704" y="4636008"/>
            <a:ext cx="8001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672584"/>
            <a:ext cx="8001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미출고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60704" y="4818888"/>
            <a:ext cx="8001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43100" y="4636008"/>
            <a:ext cx="8001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43100" y="4672584"/>
            <a:ext cx="8001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맡긴 재고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43100" y="4818888"/>
            <a:ext cx="8001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12코일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60704" y="51846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1060704" y="518464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새 주문 넣기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82112" y="187452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30" name="Shape 28"/>
          <p:cNvSpPr/>
          <p:nvPr/>
        </p:nvSpPr>
        <p:spPr>
          <a:xfrm>
            <a:off x="3282696" y="2240280"/>
            <a:ext cx="1920240" cy="3273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319272" y="1947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53712" y="1947672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23:06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01568" y="2331720"/>
            <a:ext cx="1591056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3493008" y="2368296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보낸 코일 중에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중단된 게 있었나요?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93008" y="2880360"/>
            <a:ext cx="1591056" cy="1481328"/>
          </a:xfrm>
          <a:prstGeom prst="roundRect">
            <a:avLst>
              <a:gd name="adj" fmla="val 4938"/>
            </a:avLst>
          </a:prstGeom>
          <a:solidFill>
            <a:srgbClr val="EE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3584448" y="2916936"/>
            <a:ext cx="140817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어제(9/12) 출고 6건 중 1건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작업 중단 기록이 있습니다.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1622051 · 1,240m 지점에서 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 정지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 재가동. 해당 구간 표면 검사는 </a:t>
            </a:r>
            <a:pPr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없음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584448" y="4142232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기록 보기 ›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401568" y="4471416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3493008" y="4471416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미수금도 알려주세요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01568" y="4873752"/>
            <a:ext cx="1682496" cy="621792"/>
          </a:xfrm>
          <a:prstGeom prst="roundRect">
            <a:avLst>
              <a:gd name="adj" fmla="val 11765"/>
            </a:avLst>
          </a:prstGeom>
          <a:solidFill>
            <a:srgbClr val="FFF8E8"/>
          </a:solidFill>
          <a:ln w="15240">
            <a:solidFill>
              <a:srgbClr val="FBD8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487375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응대하지 않습니다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응대합니다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79008" y="2048256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3" name="Text 41"/>
          <p:cNvSpPr/>
          <p:nvPr/>
        </p:nvSpPr>
        <p:spPr>
          <a:xfrm>
            <a:off x="6016752" y="1920240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주문을 넣고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5779008" y="2468880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5" name="Text 43"/>
          <p:cNvSpPr/>
          <p:nvPr/>
        </p:nvSpPr>
        <p:spPr>
          <a:xfrm>
            <a:off x="6016752" y="2340864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넣은 주문이 지금 어느 라인에서 가공 중인지 보고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5779008" y="2889504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7" name="Text 45"/>
          <p:cNvSpPr/>
          <p:nvPr/>
        </p:nvSpPr>
        <p:spPr>
          <a:xfrm>
            <a:off x="6016752" y="2761488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끝나는지 확인하고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5779008" y="3310128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9" name="Text 47"/>
          <p:cNvSpPr/>
          <p:nvPr/>
        </p:nvSpPr>
        <p:spPr>
          <a:xfrm>
            <a:off x="6016752" y="3182112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거래 내역과 안 나간 물량을 확인하고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5779008" y="3730752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6016752" y="3602736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받은 물건의 품질 검사 결과를 열어보고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5779008" y="4151376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53" name="Text 51"/>
          <p:cNvSpPr/>
          <p:nvPr/>
        </p:nvSpPr>
        <p:spPr>
          <a:xfrm>
            <a:off x="6016752" y="4023360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 채팅으로 물어서 실제 기록에 근거한 답을 받는다면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5742432" y="4526280"/>
            <a:ext cx="5788152" cy="1005840"/>
          </a:xfrm>
          <a:prstGeom prst="roundRect">
            <a:avLst>
              <a:gd name="adj" fmla="val 727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80176" y="4526280"/>
            <a:ext cx="5312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회사는 코일 가공업체가 아닙니다.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돌아가는 서비스 회사입니다.</a:t>
            </a:r>
            <a:endParaRPr lang="en-US" sz="1900" dirty="0"/>
          </a:p>
        </p:txBody>
      </p:sp>
      <p:sp>
        <p:nvSpPr>
          <p:cNvPr id="56" name="Text 54"/>
          <p:cNvSpPr/>
          <p:nvPr/>
        </p:nvSpPr>
        <p:spPr>
          <a:xfrm>
            <a:off x="5742432" y="5623560"/>
            <a:ext cx="57881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단가가 조금 싼 곳으로 옮기지 않습니다. 옮기면 이 전부를 잃기 때문입니다.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THEY WERE ONE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안을 보려고 만든 것이,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밖에 내보낼 것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되었습니다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609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 의 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93408" y="1609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 의 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9202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잘 돌아가나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실시간 상태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0488" y="2185416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784848" y="1920240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24시간 진행 조회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523744"/>
            <a:ext cx="10872216" cy="530352"/>
          </a:xfrm>
          <a:prstGeom prst="roundRect">
            <a:avLst>
              <a:gd name="adj" fmla="val 1379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23744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어떻게 돌렸나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구간별 기록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0488" y="2788920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784848" y="2523744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24시간 품질 결과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6112" y="3127248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잘못인가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원소재/가공 판별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0488" y="3392424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784848" y="3127248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 판별 리포트 (유상)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" y="373075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믿을 수 있나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전수 검증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90488" y="3995928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784848" y="3730752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전부의 신뢰 근거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437083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498848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" y="4791456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사면 될까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5084064"/>
            <a:ext cx="30388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남겼다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55592" y="437083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5048" y="4498848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5048" y="4791456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만들면 될까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5048" y="5084064"/>
            <a:ext cx="30388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남겼다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52816" y="437083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2272" y="4498848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72272" y="4791456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모르나 / 무엇을 원하나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2272" y="5084064"/>
            <a:ext cx="30388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둘을 쓸 수 있게 만들었다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" y="5687568"/>
            <a:ext cx="10872216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5687568"/>
            <a:ext cx="10323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만들려다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두 번 실패하고, AI로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 시작하자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달라졌습니다.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두 질문이 만난 곳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BECAME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이제 어떤 회사인가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6654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2688" y="2523744"/>
            <a:ext cx="47320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장비에 걸맞는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 기술을 확보했습니다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383280"/>
            <a:ext cx="47320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표준화 · 설정 불량 제거 · 전수 검증 · 데이터 자체의 검증.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외주로 산 게 아니라 직접 만들었기 때문에, 계속 고칠 수 있습니다.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9924" y="192024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4244" y="206654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24244" y="2523744"/>
            <a:ext cx="47320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차별화 기술로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서비스 회사로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24244" y="3383280"/>
            <a:ext cx="47320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응대하지 않아도 됩니다. 기록이 응대합니다.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회사가 인력을 늘리지 않고 영업시간을 세 배로 늘리는 유일한 방법입니다.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4498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· 사람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58568" y="4498848"/>
            <a:ext cx="9272016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735574" y="4498848"/>
            <a:ext cx="2318004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5735574" y="4498848"/>
            <a:ext cx="23180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– 18:00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· 기록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58568" y="4956048"/>
            <a:ext cx="9272016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2258568" y="4956048"/>
            <a:ext cx="9272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00:00 — 24:00   쉬지 않습니다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5468112"/>
            <a:ext cx="10872216" cy="713232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5468112"/>
            <a:ext cx="103235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몇 % 차이로는 옮기지 않습니다.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옮기면 이 전부를 잃기 때문입니다.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그래서 무엇이 되었나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HONEST DIAGNOSIS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①은 70%,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②는 20%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80660" cy="1572768"/>
          </a:xfrm>
          <a:prstGeom prst="roundRect">
            <a:avLst>
              <a:gd name="adj" fmla="val 4651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48256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 우리는 무엇을 모르는가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4086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914400" y="2962656"/>
            <a:ext cx="476859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962656"/>
            <a:ext cx="3338017" cy="12801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45536"/>
            <a:ext cx="47685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품질과 기술 내재화는 얻었습니다.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판정하는 표준이 없는 것이 남았습니다.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9924" y="1920240"/>
            <a:ext cx="5280660" cy="1572768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5956" y="2048256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 고객은 무엇을 원하는가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05956" y="234086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505956" y="2962656"/>
            <a:ext cx="476859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5956" y="2962656"/>
            <a:ext cx="953719" cy="1280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505956" y="3145536"/>
            <a:ext cx="47685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찾았고 기능도 거의 만들었습니다.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고객에게 나간 것이 하나도 없습니다.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657600"/>
            <a:ext cx="10872216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657600"/>
            <a:ext cx="103235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 중 고객에게 나가는 것은 3개 — 전부 시연용.  주문접수 자동화 4개 — 실배포 0건.  </a:t>
            </a:r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실패와 같은 자리에 있습니다.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4572000"/>
            <a:ext cx="34777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700016"/>
            <a:ext cx="3038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1~3개월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" y="4956048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개발 없음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" y="530352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배선 · 코일번호 태깅 100% · 품질이력↔작업데이터 연결 · 도구 3개 현장 상주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55592" y="4572000"/>
            <a:ext cx="3477768" cy="1481328"/>
          </a:xfrm>
          <a:prstGeom prst="roundRect">
            <a:avLst>
              <a:gd name="adj" fmla="val 4938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5048" y="4700016"/>
            <a:ext cx="3038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3~6개월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5048" y="4956048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기준선을 만들고 창구를 엽니다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5048" y="530352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표준값 확정 · 화면이 판정 · 포털 실서비스 전환(1곳) · 품질 결과 1호 발행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52816" y="4572000"/>
            <a:ext cx="3477768" cy="1481328"/>
          </a:xfrm>
          <a:prstGeom prst="roundRect">
            <a:avLst>
              <a:gd name="adj" fmla="val 4938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2272" y="4700016"/>
            <a:ext cx="3038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6~12개월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2272" y="4956048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24시간을 완성하고 값을 받습니다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72272" y="530352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발주 실배포 · 상세본 유상화 · 계약서 명시 · 보관 대행 요율 계약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지금 어디까지 왔나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REQUEST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지정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요청드립니다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0872216" cy="73152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74520"/>
            <a:ext cx="103235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솔루션을 사주는 지원이 아니라, </a:t>
            </a:r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공장이 직접 물어볼 수 있는 역량</a:t>
            </a:r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투자하는 지원입니다.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34777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788920"/>
            <a:ext cx="3477768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962656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8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인력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3218688"/>
            <a:ext cx="3020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96112" y="374904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다룰 한 명, 현장에 적용할 한 명.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4315968"/>
            <a:ext cx="3002280" cy="493776"/>
          </a:xfrm>
          <a:prstGeom prst="roundRect">
            <a:avLst>
              <a:gd name="adj" fmla="val 14815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15968"/>
            <a:ext cx="278282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41개를 저 혼자 만들고 있습니다. 혼자서도 여기까지 왔습니다.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혼자가 아니면 어디까지 갈 수 있을지 확인하고 싶습니다.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55592" y="2788920"/>
            <a:ext cx="34777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5592" y="2788920"/>
            <a:ext cx="3477768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4593336" y="2962656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8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예산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93336" y="3218688"/>
            <a:ext cx="3020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품질측정 완성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93336" y="374904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공정의 품질측정을 완성해 24시간 품질 결과 제공을 끝까지 완성하고,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93336" y="4315968"/>
            <a:ext cx="3002280" cy="493776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703064" y="4315968"/>
            <a:ext cx="278282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저희가 만든 것을 다른 공장도 쓸 수 있는 형태로 정리하는 데 쓰겠습니다.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52816" y="2788920"/>
            <a:ext cx="34777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52816" y="2788920"/>
            <a:ext cx="3477768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8290560" y="2962656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8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채널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90560" y="3218688"/>
            <a:ext cx="3020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실증장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290560" y="374904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산업단지 안에 공개 실증장을 열어 다른 공장이 보러 오게 하고,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90560" y="4315968"/>
            <a:ext cx="3002280" cy="493776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8400288" y="4315968"/>
            <a:ext cx="278282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프로그램을 운영하겠습니다.  2027 시범 → 2028 반월시화 확대.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513892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513892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뒤 이걸로 확인해 주십시오 —  </a:t>
            </a:r>
            <a:pPr algn="ctr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표준값 있는 사양 80%  ·  데이터 결측률 3% 이하  ·  24시간 창구 쓰는 거래처 5곳  ·  업무시간 외 접속 30%  ·  가공 외 매출 0원이 아니게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요청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02412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오디세우스는 고향으로 돌아오는 데 20년이 걸렸다고 합니다.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42646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</a:t>
            </a:r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</a:t>
            </a:r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걸렸습니다.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2304288"/>
            <a:ext cx="5253228" cy="1481328"/>
          </a:xfrm>
          <a:prstGeom prst="roundRect">
            <a:avLst>
              <a:gd name="adj" fmla="val 4938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95728"/>
            <a:ext cx="47411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배운 것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411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장비를 연결하고, 실시간으로 지켜보고, 기준을 만들고, 원인을 분석해 다시는 안 생기게 하는 것.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통신망은 24시간 돕니다. 사람이 자는 동안에도.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304288"/>
            <a:ext cx="5253228" cy="1481328"/>
          </a:xfrm>
          <a:prstGeom prst="roundRect">
            <a:avLst>
              <a:gd name="adj" fmla="val 4938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3388" y="2395728"/>
            <a:ext cx="47411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실패는 헛되지 않았습니다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33388" y="2743200"/>
            <a:ext cx="47411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번째는 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남겼고, 두 번째는 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남겼습니다.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AI가 그 데이터에 물어볼 방법을 가져다주었습니다.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4041648"/>
            <a:ext cx="5253228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18795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4462272"/>
            <a:ext cx="52532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품질과, 직접 만들고 고칠 수 있는 기술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77356" y="4041648"/>
            <a:ext cx="5253228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6277356" y="418795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7356" y="4462272"/>
            <a:ext cx="52532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서비스 회사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" y="5175504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경기장도 지금 다시 짓고 있습니다.  저희도 다시 짓고 있습니다.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5650992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5852160"/>
            <a:ext cx="10424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개발이 아니라, </a:t>
            </a:r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16368" y="59618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발견은 질문에서만 나옵니다.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AX 전환 — 산업통상자원부 장관 보고</dc:title>
  <dc:subject>PptxGenJS Presentation</dc:subject>
  <dc:creator>오성철강</dc:creator>
  <cp:lastModifiedBy>오성철강</cp:lastModifiedBy>
  <cp:revision>1</cp:revision>
  <dcterms:created xsi:type="dcterms:W3CDTF">2026-09-13T19:17:03Z</dcterms:created>
  <dcterms:modified xsi:type="dcterms:W3CDTF">2026-09-13T19:17:03Z</dcterms:modified>
</cp:coreProperties>
</file>