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11887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b="1" spc="300" kern="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  — 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192024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1983년, 우리는 경기장을 지었습니다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32688" y="274320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40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2026년, 우리를 다시 짓습니다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932688" y="3785616"/>
            <a:ext cx="2926080" cy="12802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4023360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전통 제조업에서 제조 서비스 회사로  —  「자체개발형 AI 모델공장」 시범 지정 요청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32688" y="4937760"/>
            <a:ext cx="41148" cy="56692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919472"/>
            <a:ext cx="21899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97280" y="5303520"/>
            <a:ext cx="218998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창립 · 잠실 주경기장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61588" y="4937760"/>
            <a:ext cx="41148" cy="56692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13" name="Text 11"/>
          <p:cNvSpPr/>
          <p:nvPr/>
        </p:nvSpPr>
        <p:spPr>
          <a:xfrm>
            <a:off x="3726180" y="4919472"/>
            <a:ext cx="21899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726180" y="5303520"/>
            <a:ext cx="218998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현장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90488" y="4937760"/>
            <a:ext cx="41148" cy="56692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4919472"/>
            <a:ext cx="21899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28년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355080" y="5303520"/>
            <a:ext cx="218998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· ROBOT · IT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19388" y="4937760"/>
            <a:ext cx="41148" cy="56692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19" name="Text 17"/>
          <p:cNvSpPr/>
          <p:nvPr/>
        </p:nvSpPr>
        <p:spPr>
          <a:xfrm>
            <a:off x="8983980" y="4919472"/>
            <a:ext cx="21899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41개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983980" y="5303520"/>
            <a:ext cx="218998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개발 서비스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FOUNDED 1983  ·  THE LONG WAY HOME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10872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짓는 일로 시작한 회사입니다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22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1983년 경기장을 지으며 창립했고, </a:t>
            </a:r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저는 28년 만에 돌아왔습니다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828800"/>
            <a:ext cx="3931920" cy="1389888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778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993392"/>
            <a:ext cx="1225296" cy="78638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" y="2121408"/>
            <a:ext cx="749808" cy="530352"/>
          </a:xfrm>
          <a:prstGeom prst="ellipse">
            <a:avLst/>
          </a:prstGeom>
          <a:solidFill>
            <a:srgbClr val="EEF0FF"/>
          </a:solidFill>
          <a:ln w="13970">
            <a:solidFill>
              <a:srgbClr val="C7C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856" y="225856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49424" y="2011680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잠실 주경기장 시공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49424" y="2286000"/>
            <a:ext cx="21579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창립 · 1983년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49424" y="2615184"/>
            <a:ext cx="1920240" cy="274320"/>
          </a:xfrm>
          <a:prstGeom prst="roundRect">
            <a:avLst>
              <a:gd name="adj" fmla="val 43333"/>
            </a:avLst>
          </a:prstGeom>
          <a:solidFill>
            <a:srgbClr val="FFF8E8"/>
          </a:solidFill>
          <a:ln w="15240">
            <a:solidFill>
              <a:srgbClr val="FBD88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· 리모델링 중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82896" y="1828800"/>
            <a:ext cx="6647688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778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57216" y="2103120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3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pPr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년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711696" y="2029968"/>
            <a:ext cx="45445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사이 세상은 바뀌었고,  회사와 기계와 사람은 그대로 오래되었습니다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11696" y="2377440"/>
            <a:ext cx="2162556" cy="566928"/>
          </a:xfrm>
          <a:prstGeom prst="roundRect">
            <a:avLst>
              <a:gd name="adj" fmla="val 12903"/>
            </a:avLst>
          </a:prstGeom>
          <a:solidFill>
            <a:srgbClr val="FFF8E8"/>
          </a:solidFill>
          <a:ln w="16510">
            <a:solidFill>
              <a:srgbClr val="FBD8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76288" y="2377440"/>
            <a:ext cx="18333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경기장은 지금 리모델링 중입니다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93708" y="2377440"/>
            <a:ext cx="2162556" cy="566928"/>
          </a:xfrm>
          <a:prstGeom prst="roundRect">
            <a:avLst>
              <a:gd name="adj" fmla="val 12903"/>
            </a:avLst>
          </a:prstGeom>
          <a:solidFill>
            <a:srgbClr val="EEF0FF"/>
          </a:solidFill>
          <a:ln w="16510">
            <a:solidFill>
              <a:srgbClr val="C7C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58300" y="2377440"/>
            <a:ext cx="18333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오성철강도 새로 태어날 준비를 하고 있습니다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" y="3346704"/>
            <a:ext cx="5271516" cy="1773936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1778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3346704"/>
            <a:ext cx="5271516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3493008"/>
            <a:ext cx="472287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b="1" spc="16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ODYSSEUS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32688" y="37124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오디세우스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643884" y="365760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3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20년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932688" y="4151376"/>
            <a:ext cx="3373483" cy="201168"/>
          </a:xfrm>
          <a:prstGeom prst="roundRect">
            <a:avLst>
              <a:gd name="adj" fmla="val 27273"/>
            </a:avLst>
          </a:prstGeom>
          <a:solidFill>
            <a:srgbClr val="334155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4389120"/>
            <a:ext cx="47228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모험 끝에 고향으로 돌아왔습니다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2688" y="4626864"/>
            <a:ext cx="47228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20년의 노하우로, 떠나기 전보다 더 강력한 왕국을 만들었습니다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59068" y="3346704"/>
            <a:ext cx="5271516" cy="1773936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27940">
            <a:solidFill>
              <a:srgbClr val="C7CB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59068" y="3346704"/>
            <a:ext cx="5271516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Text 28"/>
          <p:cNvSpPr/>
          <p:nvPr/>
        </p:nvSpPr>
        <p:spPr>
          <a:xfrm>
            <a:off x="6533388" y="3493008"/>
            <a:ext cx="472287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RETURN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33388" y="37124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저는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244584" y="365760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28년</a:t>
            </a:r>
            <a:endParaRPr lang="en-US" sz="3000" dirty="0"/>
          </a:p>
        </p:txBody>
      </p:sp>
      <p:sp>
        <p:nvSpPr>
          <p:cNvPr id="33" name="Shape 31"/>
          <p:cNvSpPr/>
          <p:nvPr/>
        </p:nvSpPr>
        <p:spPr>
          <a:xfrm>
            <a:off x="6533388" y="4151376"/>
            <a:ext cx="4722876" cy="201168"/>
          </a:xfrm>
          <a:prstGeom prst="roundRect">
            <a:avLst>
              <a:gd name="adj" fmla="val 27273"/>
            </a:avLst>
          </a:prstGeom>
          <a:solidFill>
            <a:srgbClr val="4F46E5"/>
          </a:solidFill>
          <a:ln/>
        </p:spPr>
      </p:sp>
      <p:sp>
        <p:nvSpPr>
          <p:cNvPr id="34" name="Text 32"/>
          <p:cNvSpPr/>
          <p:nvPr/>
        </p:nvSpPr>
        <p:spPr>
          <a:xfrm>
            <a:off x="6533388" y="4389120"/>
            <a:ext cx="47228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KT에서 IT · AI · ROBOT 전문기술을 익혔습니다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33388" y="4626864"/>
            <a:ext cx="47228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 된 오성철강과 함께, 제조업과 AI를 결합한 새로운 회사로 거듭나겠습니다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58368" y="5230368"/>
            <a:ext cx="10872216" cy="713232"/>
          </a:xfrm>
          <a:prstGeom prst="roundRect">
            <a:avLst>
              <a:gd name="adj" fmla="val 11538"/>
            </a:avLst>
          </a:prstGeom>
          <a:solidFill>
            <a:srgbClr val="0B1220"/>
          </a:solidFill>
          <a:ln/>
        </p:spPr>
      </p:sp>
      <p:sp>
        <p:nvSpPr>
          <p:cNvPr id="37" name="Text 35"/>
          <p:cNvSpPr/>
          <p:nvPr/>
        </p:nvSpPr>
        <p:spPr>
          <a:xfrm>
            <a:off x="932688" y="5230368"/>
            <a:ext cx="103235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떠나 있던 시간이 낭비가 아니었던 이유는,  </a:t>
            </a:r>
            <a:pPr algn="ctr" indent="0" marL="0">
              <a:lnSpc>
                <a:spcPct val="132000"/>
              </a:lnSpc>
              <a:buNone/>
            </a:pPr>
            <a:r>
              <a:rPr lang="en-US" sz="16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돌아올 곳이 남아 있었기 때문입니다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58368" y="6345936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우리는 왜 여기까지 왔나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101B31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566928"/>
            <a:ext cx="50292" cy="237744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spc="160" kern="0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I LEFT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" y="896112"/>
            <a:ext cx="10872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28년 동안 밖을 떠돌았던 이유입니다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8722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열악한 제조 환경에서는, </a:t>
            </a:r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꿈을 꾸기 어려웠습니다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58368" y="2029968"/>
            <a:ext cx="3471672" cy="2304288"/>
          </a:xfrm>
          <a:prstGeom prst="roundRect">
            <a:avLst>
              <a:gd name="adj" fmla="val 3571"/>
            </a:avLst>
          </a:prstGeom>
          <a:solidFill>
            <a:srgbClr val="121D33"/>
          </a:solidFill>
          <a:ln w="17780">
            <a:solidFill>
              <a:srgbClr val="2A3A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029968"/>
            <a:ext cx="3471672" cy="502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267712"/>
            <a:ext cx="566928" cy="256032"/>
          </a:xfrm>
          <a:prstGeom prst="roundRect">
            <a:avLst>
              <a:gd name="adj" fmla="val 46429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" y="2670048"/>
            <a:ext cx="299618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공장장 한 사람만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2962656"/>
            <a:ext cx="299618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운영할 수 있는 설비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96112" y="3346704"/>
            <a:ext cx="2996184" cy="10973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474720"/>
            <a:ext cx="29961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기준이 사람의 머릿속에만 있었습니다.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96112" y="3712464"/>
            <a:ext cx="29961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그분이 퇴직하면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3950208"/>
            <a:ext cx="29961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회사의 기술도 같이 사라집니다.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58640" y="2029968"/>
            <a:ext cx="3471672" cy="2304288"/>
          </a:xfrm>
          <a:prstGeom prst="roundRect">
            <a:avLst>
              <a:gd name="adj" fmla="val 3571"/>
            </a:avLst>
          </a:prstGeom>
          <a:solidFill>
            <a:srgbClr val="121D33"/>
          </a:solidFill>
          <a:ln w="17780">
            <a:solidFill>
              <a:srgbClr val="2A3A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58640" y="2029968"/>
            <a:ext cx="3471672" cy="502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4596384" y="2267712"/>
            <a:ext cx="566928" cy="256032"/>
          </a:xfrm>
          <a:prstGeom prst="roundRect">
            <a:avLst>
              <a:gd name="adj" fmla="val 46429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96384" y="2670048"/>
            <a:ext cx="299618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회사만 할 수 있는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96384" y="2962656"/>
            <a:ext cx="299618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무기가 없음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96384" y="3346704"/>
            <a:ext cx="2996184" cy="10973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22" name="Text 20"/>
          <p:cNvSpPr/>
          <p:nvPr/>
        </p:nvSpPr>
        <p:spPr>
          <a:xfrm>
            <a:off x="4596384" y="3474720"/>
            <a:ext cx="29961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기계, 같은 공정.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96384" y="3712464"/>
            <a:ext cx="29961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단가 말고는 내세울 것이 없는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96384" y="3950208"/>
            <a:ext cx="29961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거래였습니다.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58912" y="2029968"/>
            <a:ext cx="3471672" cy="2304288"/>
          </a:xfrm>
          <a:prstGeom prst="roundRect">
            <a:avLst>
              <a:gd name="adj" fmla="val 3571"/>
            </a:avLst>
          </a:prstGeom>
          <a:solidFill>
            <a:srgbClr val="121D33"/>
          </a:solidFill>
          <a:ln w="17780">
            <a:solidFill>
              <a:srgbClr val="2A3A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58912" y="2029968"/>
            <a:ext cx="3471672" cy="502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8296656" y="2267712"/>
            <a:ext cx="566928" cy="256032"/>
          </a:xfrm>
          <a:prstGeom prst="roundRect">
            <a:avLst>
              <a:gd name="adj" fmla="val 46429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96656" y="2670048"/>
            <a:ext cx="299618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체감할 수 있는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96656" y="2962656"/>
            <a:ext cx="299618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서비스가 없음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296656" y="3346704"/>
            <a:ext cx="2996184" cy="10973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31" name="Text 29"/>
          <p:cNvSpPr/>
          <p:nvPr/>
        </p:nvSpPr>
        <p:spPr>
          <a:xfrm>
            <a:off x="8296656" y="3474720"/>
            <a:ext cx="29961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잘하는지 고객이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96656" y="3712464"/>
            <a:ext cx="29961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 방법이 없었습니다.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96656" y="3950208"/>
            <a:ext cx="29961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잘해도 알아주지 않았습니다.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58368" y="4700016"/>
            <a:ext cx="10872216" cy="914400"/>
          </a:xfrm>
          <a:prstGeom prst="roundRect">
            <a:avLst>
              <a:gd name="adj" fmla="val 9000"/>
            </a:avLst>
          </a:prstGeom>
          <a:solidFill>
            <a:srgbClr val="1A0A0A"/>
          </a:solidFill>
          <a:ln w="2286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4700016"/>
            <a:ext cx="10323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모든 것이 불가능했기 때문에,  </a:t>
            </a:r>
            <a:pPr algn="ctr" indent="0" marL="0">
              <a:lnSpc>
                <a:spcPct val="132000"/>
              </a:lnSpc>
              <a:buNone/>
            </a:pPr>
            <a:r>
              <a:rPr lang="en-US" sz="1900" b="1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오성철강은 늙어갔고 작아져 갔습니다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658368" y="6345936"/>
            <a:ext cx="10872216" cy="10973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b="1" spc="14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우리는 왜 여기까지 왔나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950" b="1" spc="12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50292" cy="237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spc="16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AND THEN, AI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10872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구호가 아니라, 현장에서 매일 열리는 화면으로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22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이 셋을 </a:t>
            </a:r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바꾸기 시작했습니다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828800"/>
            <a:ext cx="10872216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778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975104"/>
            <a:ext cx="512064" cy="256032"/>
          </a:xfrm>
          <a:prstGeom prst="roundRect">
            <a:avLst>
              <a:gd name="adj" fmla="val 46429"/>
            </a:avLst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517904" y="19385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공장장만 아는 설비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517904" y="224942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05072" y="2221992"/>
            <a:ext cx="384048" cy="7315"/>
          </a:xfrm>
          <a:prstGeom prst="line">
            <a:avLst/>
          </a:prstGeom>
          <a:noFill/>
          <a:ln w="2794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535424" y="19385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화면이 계산하고, 화면이 판정합니다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35424" y="226771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991856" y="1956816"/>
            <a:ext cx="3319272" cy="530352"/>
          </a:xfrm>
          <a:prstGeom prst="roundRect">
            <a:avLst>
              <a:gd name="adj" fmla="val 13793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1956816"/>
            <a:ext cx="30266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세퍼레이터 셋팅 키오스크  ·  AI 헬퍼 모바일(KR/EN)  ·  라인 통합관제 NMS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" y="2724912"/>
            <a:ext cx="10872216" cy="786384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1778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2871216"/>
            <a:ext cx="512064" cy="256032"/>
          </a:xfrm>
          <a:prstGeom prst="roundRect">
            <a:avLst>
              <a:gd name="adj" fmla="val 46429"/>
            </a:avLst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17904" y="28346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우리만의 무기가 없음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517904" y="314553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05072" y="3118104"/>
            <a:ext cx="384048" cy="7315"/>
          </a:xfrm>
          <a:prstGeom prst="line">
            <a:avLst/>
          </a:prstGeom>
          <a:noFill/>
          <a:ln w="2794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535424" y="2834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촬영 · 2초 단위 기록 · AI 판별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35424" y="316382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991856" y="2852928"/>
            <a:ext cx="3319272" cy="530352"/>
          </a:xfrm>
          <a:prstGeom prst="roundRect">
            <a:avLst>
              <a:gd name="adj" fmla="val 13793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2852928"/>
            <a:ext cx="30266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표면 전수검사  ·  장애 원인 분석  ·  품질 성적서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" y="3621024"/>
            <a:ext cx="10872216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778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3767328"/>
            <a:ext cx="512064" cy="256032"/>
          </a:xfrm>
          <a:prstGeom prst="roundRect">
            <a:avLst>
              <a:gd name="adj" fmla="val 46429"/>
            </a:avLst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517904" y="37307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볼 방법이 없음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517904" y="40416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005072" y="4014216"/>
            <a:ext cx="384048" cy="7315"/>
          </a:xfrm>
          <a:prstGeom prst="line">
            <a:avLst/>
          </a:prstGeom>
          <a:noFill/>
          <a:ln w="2794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4535424" y="3730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조회 · 발주 · 품질 확인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35424" y="405993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1856" y="3749040"/>
            <a:ext cx="3319272" cy="530352"/>
          </a:xfrm>
          <a:prstGeom prst="roundRect">
            <a:avLst>
              <a:gd name="adj" fmla="val 13793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3749040"/>
            <a:ext cx="30266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포털  ·  고객사 챗봇  ·  주문 현황 트래커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8368" y="4535424"/>
            <a:ext cx="10872216" cy="1024128"/>
          </a:xfrm>
          <a:prstGeom prst="roundRect">
            <a:avLst>
              <a:gd name="adj" fmla="val 8036"/>
            </a:avLst>
          </a:prstGeom>
          <a:solidFill>
            <a:srgbClr val="0B1220"/>
          </a:solidFill>
          <a:ln/>
        </p:spPr>
      </p:sp>
      <p:sp>
        <p:nvSpPr>
          <p:cNvPr id="34" name="Text 32"/>
          <p:cNvSpPr/>
          <p:nvPr/>
        </p:nvSpPr>
        <p:spPr>
          <a:xfrm>
            <a:off x="969264" y="4535424"/>
            <a:ext cx="4023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이로써 우리는, </a:t>
            </a:r>
            <a:pPr indent="0" marL="0">
              <a:lnSpc>
                <a:spcPct val="132000"/>
              </a:lnSpc>
              <a:buNone/>
            </a:pPr>
            <a:r>
              <a:rPr lang="en-US" sz="17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꿈을 꿀 수 있게 되었습니다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5157216" y="4718304"/>
            <a:ext cx="1755648" cy="658368"/>
          </a:xfrm>
          <a:prstGeom prst="roundRect">
            <a:avLst>
              <a:gd name="adj" fmla="val 11111"/>
            </a:avLst>
          </a:prstGeom>
          <a:solidFill>
            <a:srgbClr val="16233C"/>
          </a:solidFill>
          <a:ln w="15240">
            <a:solidFill>
              <a:srgbClr val="2A3A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21808" y="4791456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900" b="1" dirty="0">
                <a:solidFill>
                  <a:srgbClr val="7DD3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28년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5321808" y="5120640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· ROBOT · IT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333488" y="4718304"/>
            <a:ext cx="1755648" cy="658368"/>
          </a:xfrm>
          <a:prstGeom prst="roundRect">
            <a:avLst>
              <a:gd name="adj" fmla="val 11111"/>
            </a:avLst>
          </a:prstGeom>
          <a:solidFill>
            <a:srgbClr val="16233C"/>
          </a:solidFill>
          <a:ln w="15240">
            <a:solidFill>
              <a:srgbClr val="2A3A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0" y="4791456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900" b="1" dirty="0">
                <a:solidFill>
                  <a:srgbClr val="FBD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7498080" y="5120640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현장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12864" y="4846320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2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9089136" y="4846320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2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9509760" y="4718304"/>
            <a:ext cx="2020824" cy="658368"/>
          </a:xfrm>
          <a:prstGeom prst="roundRect">
            <a:avLst>
              <a:gd name="adj" fmla="val 11111"/>
            </a:avLst>
          </a:prstGeom>
          <a:solidFill>
            <a:srgbClr val="1A1406"/>
          </a:solidFill>
          <a:ln w="22860">
            <a:solidFill>
              <a:srgbClr val="F5B5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09760" y="4773168"/>
            <a:ext cx="202082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유일</a:t>
            </a:r>
            <a:endParaRPr lang="en-US" sz="1900" dirty="0"/>
          </a:p>
        </p:txBody>
      </p:sp>
      <p:sp>
        <p:nvSpPr>
          <p:cNvPr id="45" name="Text 43"/>
          <p:cNvSpPr/>
          <p:nvPr/>
        </p:nvSpPr>
        <p:spPr>
          <a:xfrm>
            <a:off x="9509760" y="5120640"/>
            <a:ext cx="202082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개발사 없이 직접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58368" y="5687568"/>
            <a:ext cx="10872216" cy="566928"/>
          </a:xfrm>
          <a:prstGeom prst="roundRect">
            <a:avLst>
              <a:gd name="adj" fmla="val 14516"/>
            </a:avLst>
          </a:prstGeom>
          <a:solidFill>
            <a:srgbClr val="121D33"/>
          </a:solidFill>
          <a:ln w="15240">
            <a:solidFill>
              <a:srgbClr val="2A3A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2688" y="5687568"/>
            <a:ext cx="103235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대한민국 중소 제조업에서 유일하게,  </a:t>
            </a:r>
            <a:pPr algn="ctr" indent="0" marL="0">
              <a:lnSpc>
                <a:spcPct val="132000"/>
              </a:lnSpc>
              <a:buNone/>
            </a:pPr>
            <a:r>
              <a:rPr lang="en-US" sz="14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가지를 한 회사 안에 가지고 있습니다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6345936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Text 47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우리는 왜 여기까지 왔나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50292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spc="16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AI PROJECTS FAIL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10872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기술의 문제가 아니라, 계약 구조의 문제입니다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22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제조업 대상 AI 프로젝트가 </a:t>
            </a:r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실패하는 두 가지 이유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828800"/>
            <a:ext cx="527608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2286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566928" cy="256032"/>
          </a:xfrm>
          <a:prstGeom prst="roundRect">
            <a:avLst>
              <a:gd name="adj" fmla="val 46429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72768" y="1993392"/>
            <a:ext cx="410565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정의가 어렵습니다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4400" y="2414016"/>
            <a:ext cx="768096" cy="256032"/>
          </a:xfrm>
          <a:prstGeom prst="roundRect">
            <a:avLst>
              <a:gd name="adj" fmla="val 46429"/>
            </a:avLst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계약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09928" y="2542032"/>
            <a:ext cx="118872" cy="7315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856232" y="2414016"/>
            <a:ext cx="866851" cy="256032"/>
          </a:xfrm>
          <a:prstGeom prst="roundRect">
            <a:avLst>
              <a:gd name="adj" fmla="val 46429"/>
            </a:avLst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발견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50515" y="2542032"/>
            <a:ext cx="118872" cy="7315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896819" y="2414016"/>
            <a:ext cx="768096" cy="256032"/>
          </a:xfrm>
          <a:prstGeom prst="roundRect">
            <a:avLst>
              <a:gd name="adj" fmla="val 46429"/>
            </a:avLst>
          </a:prstGeom>
          <a:solidFill>
            <a:srgbClr val="F5B5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 제한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92347" y="2542032"/>
            <a:ext cx="118872" cy="7315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838651" y="2414016"/>
            <a:ext cx="768096" cy="256032"/>
          </a:xfrm>
          <a:prstGeom prst="roundRect">
            <a:avLst>
              <a:gd name="adj" fmla="val 46429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혁신 불가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0" y="2834640"/>
            <a:ext cx="476402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개발사와 제조사는 계약 전에 개발 범위 · 비용 · 일정을 확정합니다.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" y="3127248"/>
            <a:ext cx="476402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그러나 AI는 발견을 통해 모델을 구축해야 합니다.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3419856"/>
            <a:ext cx="476402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회사가 다르면 제한된 기간 안에 프로젝트를 끝내야 하고,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3712464"/>
            <a:ext cx="476402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AI를 통한 혁신 작업 자체가 불가능해집니다.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54496" y="1828800"/>
            <a:ext cx="527608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22860">
            <a:solidFill>
              <a:srgbClr val="FC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2011680"/>
            <a:ext cx="566928" cy="256032"/>
          </a:xfrm>
          <a:prstGeom prst="roundRect">
            <a:avLst>
              <a:gd name="adj" fmla="val 46429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68896" y="1993392"/>
            <a:ext cx="410565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종료 후 지속 업그레이드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10528" y="2414016"/>
            <a:ext cx="47640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환경은 급속하게 변하고 있고, 소량 다품종인 중소 제조업 시장에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0528" y="2688336"/>
            <a:ext cx="47640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솔루션으로 모든 게 해결되는 것은 불가능합니다.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10528" y="2962656"/>
            <a:ext cx="47640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후 업그레이드를 하려면 추가 계약이 필요하지만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10528" y="3236976"/>
            <a:ext cx="47640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현실적으로 되지 않아, 최적화 작업 자체가 멈춥니다.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10528" y="3584448"/>
            <a:ext cx="2281428" cy="585216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651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3639312"/>
            <a:ext cx="19522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 개발 모델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675120" y="3840480"/>
            <a:ext cx="19522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종료 = 정지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993124" y="3584448"/>
            <a:ext cx="2281428" cy="585216"/>
          </a:xfrm>
          <a:prstGeom prst="roundRect">
            <a:avLst>
              <a:gd name="adj" fmla="val 12500"/>
            </a:avLst>
          </a:prstGeom>
          <a:solidFill>
            <a:srgbClr val="EEF0FF"/>
          </a:solidFill>
          <a:ln w="16510">
            <a:solidFill>
              <a:srgbClr val="C7C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57716" y="3639312"/>
            <a:ext cx="19522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연구실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157716" y="3840480"/>
            <a:ext cx="19522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계속 업그레이드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4425696"/>
            <a:ext cx="10872216" cy="1005840"/>
          </a:xfrm>
          <a:prstGeom prst="roundRect">
            <a:avLst>
              <a:gd name="adj" fmla="val 7273"/>
            </a:avLst>
          </a:prstGeom>
          <a:solidFill>
            <a:srgbClr val="EEF0FF"/>
          </a:solidFill>
          <a:ln w="22860">
            <a:solidFill>
              <a:srgbClr val="C7CB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" y="4425696"/>
            <a:ext cx="64008" cy="10058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5" name="Text 33"/>
          <p:cNvSpPr/>
          <p:nvPr/>
        </p:nvSpPr>
        <p:spPr>
          <a:xfrm>
            <a:off x="987552" y="4553712"/>
            <a:ext cx="102138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오성철강은 왜 성과가 났을까요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87552" y="4846320"/>
            <a:ext cx="102138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개발사와 제조사가 같은 회사이기 때문입니다.  연구실에 40여 개의 서비스를 만들어 하나씩 제조 현장에 적용해 보고,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87552" y="5102352"/>
            <a:ext cx="102138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 쓰지 않으면 버리고 다시 만들면서 최적의 모델을 찾았습니다.  기간에 쫓기지 않고 발견할 수 있었습니다.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58368" y="5596128"/>
            <a:ext cx="10872216" cy="640080"/>
          </a:xfrm>
          <a:prstGeom prst="roundRect">
            <a:avLst>
              <a:gd name="adj" fmla="val 12857"/>
            </a:avLst>
          </a:prstGeom>
          <a:solidFill>
            <a:srgbClr val="0B1220"/>
          </a:solidFill>
          <a:ln/>
        </p:spPr>
      </p:sp>
      <p:sp>
        <p:nvSpPr>
          <p:cNvPr id="39" name="Text 37"/>
          <p:cNvSpPr/>
          <p:nvPr/>
        </p:nvSpPr>
        <p:spPr>
          <a:xfrm>
            <a:off x="932688" y="5596128"/>
            <a:ext cx="10323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프로젝트는 계약으로 정의할 수 없습니다.  </a:t>
            </a:r>
            <a:pPr algn="ctr"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해보면서 발견하는 수밖에 없습니다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58368" y="6345936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Text 39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왜 AI 프로젝트는 실패하는가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OHSUNG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10872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개발사 없이, 공장이 직접 만들고 검증하는 구조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22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</a:t>
            </a:r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</a:t>
            </a:r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828800"/>
            <a:ext cx="5289804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778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28800"/>
            <a:ext cx="5289804" cy="502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029968"/>
            <a:ext cx="402336" cy="256032"/>
          </a:xfrm>
          <a:prstGeom prst="roundRect">
            <a:avLst>
              <a:gd name="adj" fmla="val 46429"/>
            </a:avLst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08176" y="2011680"/>
            <a:ext cx="430225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개발사 없이 개발 가능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2450592"/>
            <a:ext cx="48143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43년된 제조 전문가와 28년 경력의 AI/ROBOT 기술 전문가를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2724912"/>
            <a:ext cx="48143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보유하고 있어, 개발사와 제조사가 별도로 있어 생기는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" y="2999232"/>
            <a:ext cx="48143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분할손 없이 서비스 개발이 가능합니다.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40780" y="1828800"/>
            <a:ext cx="5289804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778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0780" y="1828800"/>
            <a:ext cx="5289804" cy="5029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5" name="Text 13"/>
          <p:cNvSpPr/>
          <p:nvPr/>
        </p:nvSpPr>
        <p:spPr>
          <a:xfrm>
            <a:off x="6478524" y="2029968"/>
            <a:ext cx="402336" cy="256032"/>
          </a:xfrm>
          <a:prstGeom prst="roundRect">
            <a:avLst>
              <a:gd name="adj" fmla="val 46429"/>
            </a:avLst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90588" y="2011680"/>
            <a:ext cx="430225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수집 기반 완료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78524" y="2450592"/>
            <a:ext cx="48143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공정 중 2개 공정에 Vision 기반 철판 품질 데이터 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78524" y="2724912"/>
            <a:ext cx="48143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PLC 데이터까지 있어, 품질 · 장비운용 · 가공규격 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78524" y="2999232"/>
            <a:ext cx="48143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AI를 활용할 수 있는 모든 기반이 완료되어 있습니다.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" y="3474720"/>
            <a:ext cx="528980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778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3474720"/>
            <a:ext cx="5289804" cy="502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3675888"/>
            <a:ext cx="402336" cy="256032"/>
          </a:xfrm>
          <a:prstGeom prst="roundRect">
            <a:avLst>
              <a:gd name="adj" fmla="val 46429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08176" y="3657600"/>
            <a:ext cx="430225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임직원들의 참여 의지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96112" y="4096512"/>
            <a:ext cx="2306574" cy="566928"/>
          </a:xfrm>
          <a:prstGeom prst="roundRect">
            <a:avLst>
              <a:gd name="adj" fmla="val 12903"/>
            </a:avLst>
          </a:prstGeom>
          <a:solidFill>
            <a:srgbClr val="F5F3FF"/>
          </a:solidFill>
          <a:ln w="16510">
            <a:solidFill>
              <a:srgbClr val="C4B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" y="4133088"/>
            <a:ext cx="197739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12명 중 5명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60704" y="4407408"/>
            <a:ext cx="197739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직원 참여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03854" y="4096512"/>
            <a:ext cx="2306574" cy="566928"/>
          </a:xfrm>
          <a:prstGeom prst="roundRect">
            <a:avLst>
              <a:gd name="adj" fmla="val 12903"/>
            </a:avLst>
          </a:prstGeom>
          <a:solidFill>
            <a:srgbClr val="F5F3FF"/>
          </a:solidFill>
          <a:ln w="16510">
            <a:solidFill>
              <a:srgbClr val="C4B5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8446" y="4133088"/>
            <a:ext cx="197739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40여 개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568446" y="4407408"/>
            <a:ext cx="197739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연구실 서비스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6112" y="4736592"/>
            <a:ext cx="481431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시키지 않아도 현장에서 먼저 요구가 올라옵니다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40780" y="3474720"/>
            <a:ext cx="5289804" cy="1572768"/>
          </a:xfrm>
          <a:prstGeom prst="roundRect">
            <a:avLst>
              <a:gd name="adj" fmla="val 4651"/>
            </a:avLst>
          </a:prstGeom>
          <a:solidFill>
            <a:srgbClr val="0B1220"/>
          </a:solidFill>
          <a:ln/>
        </p:spPr>
      </p:sp>
      <p:sp>
        <p:nvSpPr>
          <p:cNvPr id="32" name="Shape 30"/>
          <p:cNvSpPr/>
          <p:nvPr/>
        </p:nvSpPr>
        <p:spPr>
          <a:xfrm>
            <a:off x="6240780" y="3474720"/>
            <a:ext cx="5289804" cy="50292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33" name="Text 31"/>
          <p:cNvSpPr/>
          <p:nvPr/>
        </p:nvSpPr>
        <p:spPr>
          <a:xfrm>
            <a:off x="6478524" y="3675888"/>
            <a:ext cx="402336" cy="256032"/>
          </a:xfrm>
          <a:prstGeom prst="roundRect">
            <a:avLst>
              <a:gd name="adj" fmla="val 46429"/>
            </a:avLst>
          </a:prstGeom>
          <a:solidFill>
            <a:srgbClr val="F5B5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90588" y="3657600"/>
            <a:ext cx="430225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연구실 프로세스 운용으로 최적화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478524" y="4114800"/>
            <a:ext cx="1130198" cy="256032"/>
          </a:xfrm>
          <a:prstGeom prst="roundRect">
            <a:avLst>
              <a:gd name="adj" fmla="val 46429"/>
            </a:avLst>
          </a:prstGeom>
          <a:solidFill>
            <a:srgbClr val="16233C"/>
          </a:solidFill>
          <a:ln w="15240">
            <a:solidFill>
              <a:srgbClr val="2A3A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아이디어 발굴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645298" y="4242816"/>
            <a:ext cx="128016" cy="7315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7809890" y="4114800"/>
            <a:ext cx="896112" cy="256032"/>
          </a:xfrm>
          <a:prstGeom prst="roundRect">
            <a:avLst>
              <a:gd name="adj" fmla="val 46429"/>
            </a:avLst>
          </a:prstGeom>
          <a:solidFill>
            <a:srgbClr val="16233C"/>
          </a:solidFill>
          <a:ln w="15240">
            <a:solidFill>
              <a:srgbClr val="2A3A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개발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742578" y="4242816"/>
            <a:ext cx="128016" cy="7315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8907170" y="4114800"/>
            <a:ext cx="896112" cy="256032"/>
          </a:xfrm>
          <a:prstGeom prst="roundRect">
            <a:avLst>
              <a:gd name="adj" fmla="val 46429"/>
            </a:avLst>
          </a:prstGeom>
          <a:solidFill>
            <a:srgbClr val="16233C"/>
          </a:solidFill>
          <a:ln w="15240">
            <a:solidFill>
              <a:srgbClr val="2A3A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상용 적용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78524" y="4443984"/>
            <a:ext cx="1013155" cy="256032"/>
          </a:xfrm>
          <a:prstGeom prst="roundRect">
            <a:avLst>
              <a:gd name="adj" fmla="val 46429"/>
            </a:avLst>
          </a:prstGeom>
          <a:solidFill>
            <a:srgbClr val="16233C"/>
          </a:solidFill>
          <a:ln w="15240">
            <a:solidFill>
              <a:srgbClr val="2A3A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문제점 도출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528255" y="4572000"/>
            <a:ext cx="128016" cy="7315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7692847" y="4443984"/>
            <a:ext cx="1013155" cy="256032"/>
          </a:xfrm>
          <a:prstGeom prst="roundRect">
            <a:avLst>
              <a:gd name="adj" fmla="val 46429"/>
            </a:avLst>
          </a:prstGeom>
          <a:solidFill>
            <a:srgbClr val="16233C"/>
          </a:solidFill>
          <a:ln w="15240">
            <a:solidFill>
              <a:srgbClr val="2A3A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개선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742578" y="4572000"/>
            <a:ext cx="128016" cy="7315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8907170" y="4443984"/>
            <a:ext cx="896112" cy="256032"/>
          </a:xfrm>
          <a:prstGeom prst="roundRect">
            <a:avLst>
              <a:gd name="adj" fmla="val 46429"/>
            </a:avLst>
          </a:prstGeom>
          <a:solidFill>
            <a:srgbClr val="F5B5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상용 적용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78524" y="4773168"/>
            <a:ext cx="481431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지속적으로 움직이는 이 사이클에서 41개 서비스가 나왔습니다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58368" y="5138928"/>
            <a:ext cx="10872216" cy="786384"/>
          </a:xfrm>
          <a:prstGeom prst="roundRect">
            <a:avLst>
              <a:gd name="adj" fmla="val 10465"/>
            </a:avLst>
          </a:prstGeom>
          <a:solidFill>
            <a:srgbClr val="0B1220"/>
          </a:solidFill>
          <a:ln/>
        </p:spPr>
      </p:sp>
      <p:sp>
        <p:nvSpPr>
          <p:cNvPr id="47" name="Text 45"/>
          <p:cNvSpPr/>
          <p:nvPr/>
        </p:nvSpPr>
        <p:spPr>
          <a:xfrm>
            <a:off x="932688" y="5138928"/>
            <a:ext cx="1032357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솔루션을 사는 공장이 아니라,  </a:t>
            </a:r>
            <a:pPr algn="ctr" indent="0" marL="0">
              <a:lnSpc>
                <a:spcPct val="132000"/>
              </a:lnSpc>
              <a:buNone/>
            </a:pPr>
            <a:r>
              <a:rPr lang="en-US" sz="16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만들고 스스로 고치는 공장입니다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58368" y="6345936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Text 47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Why 오성철강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OUR REQUEST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10872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솔루션을 사주는 지원이 아니라, 공장이 직접 물어볼 수 있는 역량에 투자하는 지원입니다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22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「자체개발형 AI 모델공장」 </a:t>
            </a:r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시범 지정을 요청드립니다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956816"/>
            <a:ext cx="528980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C7C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956816"/>
            <a:ext cx="528980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76272"/>
            <a:ext cx="47777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유일한 결합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578608"/>
            <a:ext cx="47777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24912"/>
            <a:ext cx="47777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오성철강은 국내에서 유일하게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47777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AI/ROBOT 기술과 제조 기술을 함께 보유한 회사입니다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40780" y="1956816"/>
            <a:ext cx="528980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FBD8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0780" y="1956816"/>
            <a:ext cx="5289804" cy="54864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14" name="Text 12"/>
          <p:cNvSpPr/>
          <p:nvPr/>
        </p:nvSpPr>
        <p:spPr>
          <a:xfrm>
            <a:off x="6496812" y="2176272"/>
            <a:ext cx="47777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발견 → 투입 → 효과 확인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96812" y="2578608"/>
            <a:ext cx="47777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6496812" y="2724912"/>
            <a:ext cx="47777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중소 제조업에 맞는 최적의 AI 기술을 발견하고 공정에 투입하여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96812" y="3017520"/>
            <a:ext cx="47777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효과까지 확인할 수 있는 국내 유일한 회사입니다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" y="365760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b="1" spc="6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지원해 주시면, 오성철강은 이렇게 씁니다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3950208"/>
            <a:ext cx="3453384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778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4078224"/>
            <a:ext cx="301447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전담 인력 2명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7824" y="4389120"/>
            <a:ext cx="301447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다룰 한 명,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77824" y="4626864"/>
            <a:ext cx="301447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 적용할 한 명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67784" y="3950208"/>
            <a:ext cx="3453384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778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87240" y="4078224"/>
            <a:ext cx="301447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실증 예산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87240" y="4389120"/>
            <a:ext cx="301447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공정의 품질 측정을 완성하고,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87240" y="4626864"/>
            <a:ext cx="301447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공장에 이전 가능한 형태로 정리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77200" y="3950208"/>
            <a:ext cx="3453384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778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6656" y="4078224"/>
            <a:ext cx="301447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실증장 · 교육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96656" y="4389120"/>
            <a:ext cx="301447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산업단지 안에 상설 견학,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96656" y="4626864"/>
            <a:ext cx="301447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공장 대상 교육 프로그램 운영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8368" y="5138928"/>
            <a:ext cx="10872216" cy="877824"/>
          </a:xfrm>
          <a:prstGeom prst="roundRect">
            <a:avLst>
              <a:gd name="adj" fmla="val 9375"/>
            </a:avLst>
          </a:prstGeom>
          <a:solidFill>
            <a:srgbClr val="0B1220"/>
          </a:solidFill>
          <a:ln/>
        </p:spPr>
      </p:sp>
      <p:sp>
        <p:nvSpPr>
          <p:cNvPr id="32" name="Text 30"/>
          <p:cNvSpPr/>
          <p:nvPr/>
        </p:nvSpPr>
        <p:spPr>
          <a:xfrm>
            <a:off x="932688" y="5138928"/>
            <a:ext cx="1032357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이에 오성철강이 </a:t>
            </a:r>
            <a:pPr algn="ctr" indent="0" marL="0">
              <a:lnSpc>
                <a:spcPct val="132000"/>
              </a:lnSpc>
              <a:buNone/>
            </a:pPr>
            <a:r>
              <a:rPr lang="en-US" sz="19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발견</a:t>
            </a:r>
            <a:pPr algn="ctr" indent="0" marL="0">
              <a:lnSpc>
                <a:spcPct val="13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할 수 있도록, 많은 지원 부탁드립니다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658368" y="6345936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요청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01B31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566928"/>
            <a:ext cx="50292" cy="237744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spc="160" kern="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CLOSING · 마무리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" y="896112"/>
            <a:ext cx="10872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창립 때 저희가 수행했던 잠실 올림픽 스타디움도, 지금 다시 짓고 있습니다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87221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오성철강도 전통 제조업에서 </a:t>
            </a:r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서비스 회사로 다시 짓고 있습니다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58368" y="1810512"/>
            <a:ext cx="3108960" cy="1444752"/>
          </a:xfrm>
          <a:prstGeom prst="roundRect">
            <a:avLst>
              <a:gd name="adj" fmla="val 5063"/>
            </a:avLst>
          </a:prstGeom>
          <a:solidFill>
            <a:srgbClr val="121D33"/>
          </a:solidFill>
          <a:ln w="17780">
            <a:solidFill>
              <a:srgbClr val="2A3A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1938528"/>
            <a:ext cx="1133856" cy="694944"/>
          </a:xfrm>
          <a:prstGeom prst="ellipse">
            <a:avLst/>
          </a:prstGeom>
          <a:solidFill>
            <a:srgbClr val="1B2740"/>
          </a:solidFill>
          <a:ln w="25400">
            <a:solidFill>
              <a:srgbClr val="F5B5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65376" y="2057400"/>
            <a:ext cx="694944" cy="457200"/>
          </a:xfrm>
          <a:prstGeom prst="ellipse">
            <a:avLst/>
          </a:prstGeom>
          <a:solidFill>
            <a:srgbClr val="0B1220"/>
          </a:solidFill>
          <a:ln w="13970">
            <a:solidFill>
              <a:srgbClr val="3E4C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5376" y="2167128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1248" y="270662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잠실 올림픽 스타디움  ·  지금 리모델링 중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294436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지었던 회사가,  스스로를 다시 짓습니다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41648" y="1810512"/>
            <a:ext cx="7488936" cy="1444752"/>
          </a:xfrm>
          <a:prstGeom prst="roundRect">
            <a:avLst>
              <a:gd name="adj" fmla="val 5063"/>
            </a:avLst>
          </a:prstGeom>
          <a:solidFill>
            <a:srgbClr val="121D33"/>
          </a:solidFill>
          <a:ln w="17780">
            <a:solidFill>
              <a:srgbClr val="2A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5968" y="2048256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오디세우스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96128" y="2029968"/>
            <a:ext cx="3069771" cy="256032"/>
          </a:xfrm>
          <a:prstGeom prst="roundRect">
            <a:avLst>
              <a:gd name="adj" fmla="val 21429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8757339" y="204825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96128" y="234086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20년의 노하우로 더 강력한 왕국을 만들었습니다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15968" y="2670048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저는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596128" y="2633472"/>
            <a:ext cx="1042416" cy="347472"/>
          </a:xfrm>
          <a:prstGeom prst="roundRect">
            <a:avLst>
              <a:gd name="adj" fmla="val 15789"/>
            </a:avLst>
          </a:prstGeom>
          <a:solidFill>
            <a:srgbClr val="312E81"/>
          </a:solidFill>
          <a:ln/>
        </p:spPr>
      </p:sp>
      <p:sp>
        <p:nvSpPr>
          <p:cNvPr id="20" name="Shape 18"/>
          <p:cNvSpPr/>
          <p:nvPr/>
        </p:nvSpPr>
        <p:spPr>
          <a:xfrm>
            <a:off x="6638544" y="2633472"/>
            <a:ext cx="2212848" cy="347472"/>
          </a:xfrm>
          <a:prstGeom prst="roundRect">
            <a:avLst>
              <a:gd name="adj" fmla="val 5263"/>
            </a:avLst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8851392" y="2633472"/>
            <a:ext cx="1042416" cy="347472"/>
          </a:xfrm>
          <a:prstGeom prst="roundRect">
            <a:avLst>
              <a:gd name="adj" fmla="val 15789"/>
            </a:avLst>
          </a:prstGeom>
          <a:solidFill>
            <a:srgbClr val="F5B544"/>
          </a:solidFill>
          <a:ln/>
        </p:spPr>
      </p:sp>
      <p:sp>
        <p:nvSpPr>
          <p:cNvPr id="22" name="Text 20"/>
          <p:cNvSpPr/>
          <p:nvPr/>
        </p:nvSpPr>
        <p:spPr>
          <a:xfrm>
            <a:off x="9985248" y="2633472"/>
            <a:ext cx="78638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6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96128" y="3017520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오성을 떠남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638544" y="3017520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KT · IT / AI / ROBOT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851392" y="3017520"/>
            <a:ext cx="104241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오성으로 돌아옴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8368" y="327355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b="1" spc="60" kern="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우리에게 꿈을 꾸게 만들어 주었습니다  —  세 개의 꿈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" y="3602736"/>
            <a:ext cx="3465576" cy="1170432"/>
          </a:xfrm>
          <a:prstGeom prst="roundRect">
            <a:avLst>
              <a:gd name="adj" fmla="val 7031"/>
            </a:avLst>
          </a:prstGeom>
          <a:solidFill>
            <a:srgbClr val="16233C"/>
          </a:solidFill>
          <a:ln w="17780">
            <a:solidFill>
              <a:srgbClr val="2A3A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" y="3602736"/>
            <a:ext cx="3465576" cy="50292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29" name="Text 27"/>
          <p:cNvSpPr/>
          <p:nvPr/>
        </p:nvSpPr>
        <p:spPr>
          <a:xfrm>
            <a:off x="877824" y="3785616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근로자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77824" y="4169664"/>
            <a:ext cx="30266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 엔지니어로 나아갈 수 있는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77824" y="4425696"/>
            <a:ext cx="30266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꿈을 꾸게 해주었고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61688" y="3602736"/>
            <a:ext cx="3465576" cy="1170432"/>
          </a:xfrm>
          <a:prstGeom prst="roundRect">
            <a:avLst>
              <a:gd name="adj" fmla="val 7031"/>
            </a:avLst>
          </a:prstGeom>
          <a:solidFill>
            <a:srgbClr val="16233C"/>
          </a:solidFill>
          <a:ln w="17780">
            <a:solidFill>
              <a:srgbClr val="2A3A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61688" y="3602736"/>
            <a:ext cx="3465576" cy="50292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34" name="Text 32"/>
          <p:cNvSpPr/>
          <p:nvPr/>
        </p:nvSpPr>
        <p:spPr>
          <a:xfrm>
            <a:off x="4581144" y="3785616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4581144" y="4169664"/>
            <a:ext cx="30266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싸고 저품질 생산이 아니라, 고품질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81144" y="4425696"/>
            <a:ext cx="30266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서비스를 제공할 꿈을 꾸게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065008" y="3602736"/>
            <a:ext cx="3465576" cy="1170432"/>
          </a:xfrm>
          <a:prstGeom prst="roundRect">
            <a:avLst>
              <a:gd name="adj" fmla="val 7031"/>
            </a:avLst>
          </a:prstGeom>
          <a:solidFill>
            <a:srgbClr val="1A1406"/>
          </a:solidFill>
          <a:ln w="25400">
            <a:solidFill>
              <a:srgbClr val="F5B5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65008" y="3602736"/>
            <a:ext cx="3465576" cy="50292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39" name="Text 37"/>
          <p:cNvSpPr/>
          <p:nvPr/>
        </p:nvSpPr>
        <p:spPr>
          <a:xfrm>
            <a:off x="8284464" y="3785616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4,000곳 이상의 철강 회사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8284464" y="4169664"/>
            <a:ext cx="30266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저희는 더 많은 꿈을 꾸고 싶고,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284464" y="4425696"/>
            <a:ext cx="30266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꿈을 같이 꾸게 하고 싶습니다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58368" y="4919472"/>
            <a:ext cx="10872216" cy="676656"/>
          </a:xfrm>
          <a:prstGeom prst="roundRect">
            <a:avLst>
              <a:gd name="adj" fmla="val 12162"/>
            </a:avLst>
          </a:prstGeom>
          <a:solidFill>
            <a:srgbClr val="1A1406"/>
          </a:solidFill>
          <a:ln w="20320">
            <a:solidFill>
              <a:srgbClr val="F5B5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2688" y="4919472"/>
            <a:ext cx="103235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실패가 자산을 남겼고,  </a:t>
            </a:r>
            <a:pPr algn="ctr"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그 자산에 물어볼 방법을 가져다주었습니다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58368" y="5705856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2700" b="1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2700" dirty="0"/>
          </a:p>
        </p:txBody>
      </p:sp>
      <p:sp>
        <p:nvSpPr>
          <p:cNvPr id="45" name="Text 43"/>
          <p:cNvSpPr/>
          <p:nvPr/>
        </p:nvSpPr>
        <p:spPr>
          <a:xfrm>
            <a:off x="5413248" y="5815584"/>
            <a:ext cx="61173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개발이 아니라, </a:t>
            </a:r>
            <a:pPr algn="r"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발견</a:t>
            </a:r>
            <a:pPr algn="r"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이었습니다.  그리고 발견은, 질문에서만 나옵니다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58368" y="6345936"/>
            <a:ext cx="10872216" cy="10973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47" name="Text 45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b="1" spc="14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950" b="1" spc="12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오성철강 — 자체개발형 AI 모델공장</dc:title>
  <dc:subject>PptxGenJS Presentation</dc:subject>
  <dc:creator>PptxGenJS</dc:creator>
  <cp:lastModifiedBy>PptxGenJS</cp:lastModifiedBy>
  <cp:revision>1</cp:revision>
  <dcterms:created xsi:type="dcterms:W3CDTF">2026-09-16T01:28:57Z</dcterms:created>
  <dcterms:modified xsi:type="dcterms:W3CDTF">2026-09-16T01:28:57Z</dcterms:modified>
</cp:coreProperties>
</file>