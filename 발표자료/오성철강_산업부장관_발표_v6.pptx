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10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601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344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kern="0" spc="22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 장관 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낮에만 도는 공장에서,
</a:t>
            </a:r>
            <a:r>
              <a:rPr lang="en-US" sz="47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회사</a:t>
            </a: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endParaRPr lang="en-US" sz="4700" dirty="0"/>
          </a:p>
        </p:txBody>
      </p:sp>
      <p:sp>
        <p:nvSpPr>
          <p:cNvPr id="6" name="Shape 4"/>
          <p:cNvSpPr/>
          <p:nvPr/>
        </p:nvSpPr>
        <p:spPr>
          <a:xfrm>
            <a:off x="658368" y="4069080"/>
            <a:ext cx="1920240" cy="3200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3159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실패하고 남은 것은 </a:t>
            </a:r>
            <a:r>
              <a:rPr lang="en-US" sz="2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58368" y="5440680"/>
            <a:ext cx="108722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008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9008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2180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5352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5352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자체개발 서비스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44584" y="6126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r>
              <a:rPr lang="en-US" sz="2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남기고, AI가 그것에 </a:t>
            </a: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방법</a:t>
            </a: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가져왔습니다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장비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생산성↑  값은 그대로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20040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10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· AI 품질측정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02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수상  매출 그대로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4368" y="2505456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944368" y="3227832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39572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05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187만 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61888" y="3118104"/>
            <a:ext cx="384048" cy="731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19088" y="201168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03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5392" y="23408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19088" y="320040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35295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070848" y="250545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70848" y="369417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28048" y="201168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4352" y="21214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674352" y="265176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4352" y="2651760"/>
            <a:ext cx="96012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9674352" y="2798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70%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28048" y="320040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33101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회사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74352" y="384048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674352" y="3840480"/>
            <a:ext cx="274320" cy="1097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4" name="Text 32"/>
          <p:cNvSpPr/>
          <p:nvPr/>
        </p:nvSpPr>
        <p:spPr>
          <a:xfrm>
            <a:off x="9674352" y="398678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20%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4828032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82803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장비는 낮에만 돕니다.  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24시간 돕니다.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" y="5833872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번은 갖추는 일이었고, 세 번째는 보이게 하는 일이었습니다.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전기차도, 건물도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지나갑니다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76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615184"/>
            <a:ext cx="1042416" cy="60350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563624" y="2807208"/>
            <a:ext cx="292608" cy="21945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46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거친 두루마리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2928" y="2907792"/>
            <a:ext cx="347472" cy="7315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73552" y="1755648"/>
            <a:ext cx="3749040" cy="2304288"/>
          </a:xfrm>
          <a:prstGeom prst="roundRect">
            <a:avLst>
              <a:gd name="adj" fmla="val 3175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901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93008" y="2359152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450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70662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폭으로 자름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359152"/>
            <a:ext cx="15361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450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70662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휜 것을 펴줌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3163824"/>
            <a:ext cx="33009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3163824"/>
            <a:ext cx="3300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검사  ·  두께 측정   (전수)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95744" y="2907792"/>
            <a:ext cx="347472" cy="7315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16368" y="2011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176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공장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16368" y="26151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문짝 · 골조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부품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16368" y="3346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쓸 수 있는 상태로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2011680"/>
            <a:ext cx="1837944" cy="1783080"/>
          </a:xfrm>
          <a:prstGeom prst="roundRect">
            <a:avLst>
              <a:gd name="adj" fmla="val 410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17627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257860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공정을 하는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공장들이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3163824"/>
            <a:ext cx="18379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닫고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4297680"/>
            <a:ext cx="10872216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4297680"/>
            <a:ext cx="103235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세계에서 경쟁하려면 좋은 소재가 적정한 가격에 들어가야 합니다.
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소재가 흔들리면 그 위의 산업 전체가 흔들립니다.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" y="5724144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필요한 폭으로 자르고, 휘어진 것을 펴서 자동차 공장이 바로 쓸 수 있게 만드는 일 — 그 일을 하는 것이 저희 같은 회사입니다.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어떤 회사인가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578608"/>
            <a:ext cx="10872216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2496312"/>
            <a:ext cx="201168" cy="2011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1411712" y="249631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933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손에 꼽히던 첨단 제조 회사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27464" y="19933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38744" y="2816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경기장은 다시 짓고, 저희는 그대로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7196" y="2148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8368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직원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1286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1286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31286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2726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설명서는 전부 한국어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4204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4204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04204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경력(년)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95644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정년이 눈앞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7122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7122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977122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라인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68562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· 슬리터1 · 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04748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04748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   </a:t>
            </a: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회사도, 기계도, 사람도 오래되었습니다.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어떤 회사인가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—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바꿨습니다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7568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생각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31343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생산성을 올리면 살아남는다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447288" y="2916936"/>
            <a:ext cx="7315" cy="23774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320040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3101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실제로 올랐습니다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47288" y="4151376"/>
            <a:ext cx="7315" cy="23774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443484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54456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478231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값은 오르지 않았습니다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65392" y="1965960"/>
            <a:ext cx="4965192" cy="3703320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157984"/>
            <a:ext cx="11887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그랬을까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94576" y="2615184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7184" y="2852928"/>
            <a:ext cx="987552" cy="822960"/>
          </a:xfrm>
          <a:prstGeom prst="ellipse">
            <a:avLst/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24928" y="3054096"/>
            <a:ext cx="512064" cy="42062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395020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세탁기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58784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07424" y="2615184"/>
            <a:ext cx="2093976" cy="1298448"/>
          </a:xfrm>
          <a:prstGeom prst="roundRect">
            <a:avLst>
              <a:gd name="adj" fmla="val 5634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2724912"/>
            <a:ext cx="19110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수 없습니다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98864" y="341985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세탁비를 못 올립니다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4206240"/>
            <a:ext cx="43068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입장에서는 저희가 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기계를 쓰는지 볼 방법이 없었습니다.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저희 안에서만 올랐습니다.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—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품질측정을 만들었습니다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57984"/>
            <a:ext cx="109728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불량 측정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3529584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철판을 사람 눈으로는 볼 수 없습니다.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기계는 해냈습니다.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459028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64515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2688" y="51755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수상까지 했습니다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8072" y="1965960"/>
            <a:ext cx="219456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실패했습니다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48072" y="2487168"/>
            <a:ext cx="638251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2487168"/>
            <a:ext cx="50292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22392" y="2633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615184"/>
            <a:ext cx="54681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06440" y="2962656"/>
            <a:ext cx="54681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보려면 다른 프로그램을 따로 켜야 했습니다. 작업자는 이미 여러 시스템에 같은 내용을 반복 입력하고 있었는데, 하나가 더 늘어난 셈이었습니다.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48072" y="3877056"/>
            <a:ext cx="638251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3877056"/>
            <a:ext cx="50292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4005072"/>
            <a:ext cx="54681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06440" y="4352544"/>
            <a:ext cx="54681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전수 검사를 한다는 사실이 고객에게 전달될 통로가 없었습니다. 검사 결과는 저희 컴퓨터 안에만 있었습니다.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48072" y="5303520"/>
            <a:ext cx="6382512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5148072" y="5303520"/>
            <a:ext cx="6382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매출은 그대로였습니다.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SAME MISTAKE, TWICE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착각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2688" y="1938528"/>
            <a:ext cx="9144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38528"/>
            <a:ext cx="9957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것을 갖추면 인정받는다"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3182112"/>
            <a:ext cx="52806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8211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99616" y="3182112"/>
            <a:ext cx="41833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장비를 샀습니다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9924" y="3182112"/>
            <a:ext cx="52806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5956" y="318211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91172" y="3182112"/>
            <a:ext cx="41833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검사 시스템을 만들었습니다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420624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206240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훌륭했습니다. 상까지 받았습니다. 그런데 둘 다 </a:t>
            </a:r>
            <a:r>
              <a:rPr lang="en-US" sz="2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볼 수 없는 곳에 있었습니다.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" y="5431536"/>
            <a:ext cx="108722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목표를 세운 게 아니라 </a:t>
            </a: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구매와 개발을 한 것</a:t>
            </a: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      IT를 30년 한 저도 이것을 몰랐습니다.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REMAINED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r>
              <a:rPr lang="en-US" sz="3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빈손이 아니었습니다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6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1차가 남긴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못 올렸지만 생산 능력 자체는 확보했습니다. 지금도 돌고 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5592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6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2차가 남긴 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93336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타사에 없는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3336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사업은 실패했지만 작동은 계속했습니다. 표면 전수 촬영 · 결함 위치 · 영상 · 두께 — 매일, 모든 코일에.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2816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6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남긴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0560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수백만 건의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90560" y="3035808"/>
            <a:ext cx="3020568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90560" y="3730752"/>
            <a:ext cx="30205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· 설비 기록만 182만 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480560"/>
            <a:ext cx="10872216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80560"/>
            <a:ext cx="103235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팔 줄을 몰랐을 뿐, 가지고는 있었습니다.   </a:t>
            </a: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아무도 보지 않았습니다. 그냥 쌓이고 있었습니다.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5705856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저희가 잘했기 때문이 아닙니다. 버티고 있었기 때문입니다.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있었는데도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할 수 없었습니다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477768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사람이 없었습니다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회사에 데이터를 분석할 사람이 있을 수 없습니다. 채용하려 해도, 그 인력이 올 만한 회사가 아닙니다.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5592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965960"/>
            <a:ext cx="3477768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1624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1624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먼저 정해야 했습니다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1624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시스템 견적은 수천만 원. 발주하려면 "무엇을 볼 것인지"를 명세서에 써야 합니다. 그런데 몰랐습니다.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2816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2816" y="1965960"/>
            <a:ext cx="3477768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308848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08848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몰랐습니다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08848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이유였습니다. 데이터는 질문에만 답합니다.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864608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864608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없으면 데이터는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창고에 쌓인 재고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같습니다.
</a:t>
            </a: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자산으로 잡혀 있지만 아무것도 만들어내지 않습니다.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전환점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나오자 </a:t>
            </a: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풀렸습니다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됩니다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29657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60개, 2주치 기록을 훑는 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07336" y="294436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2965704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07336" y="351129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55592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1624" y="2121408"/>
            <a:ext cx="29657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질문을 해도</a:t>
            </a:r>
            <a:endParaRPr lang="en-US" sz="1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안 듭니다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1624" y="2871216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예전엔 질문 하나 확인하려면 발주서를 써야 했습니다. 지금은 그냥 물어보고, 아니면 다시 물어봅니다.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1624" y="3639312"/>
            <a:ext cx="29657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39640" y="3639312"/>
            <a:ext cx="27096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되니까 많이 물었고,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물으니까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나왔습니다.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52816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2121408"/>
            <a:ext cx="29657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화면까지 직접</a:t>
            </a:r>
            <a:endParaRPr lang="en-US" sz="1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수 있게 됐습니다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052816" y="2889504"/>
            <a:ext cx="3477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5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8052816" y="3730752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서비스  ·  30개가 실데이터로 가동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08848" y="4078224"/>
            <a:ext cx="29657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만든 것은 조잡했습니다. 그래도 하나씩 만들었습니다.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864608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864608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자산을 쌓아두는 일이었고, 그것을 쓸 도구가 뒤늦게 도착한 것이었습니다.
</a:t>
            </a: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저희가 잘했기 때문이 아닙니다. 버티고 있었기 때문입니다.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전환점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1887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kern="0" spc="16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질문을 다시 바꿨습니다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strike="sngStrike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33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8368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보는 질문  →  품질이 완벽해집니다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68796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8796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33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68796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밖을 보는 질문  →  값을 받을 수 있습니다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5358384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358384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①만 하면 품질은 좋아지는데 아무도 모릅니다 = 1차 실패    ·    ②만 하면 팔 것은 있는데 근거가 없습니다 = 2차 실패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하나씩 없앴습니다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2066544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잘 돌아가고 있나?"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91056" y="2633472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감으로 판단 — 40년 공장장 머릿속에만 있었습니다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591056" y="2999232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591056" y="3054096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 ·  AI 헬퍼 모바일 KR/EN  ·  라인 통합관제(NMS)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1636" y="1920240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1920240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64324" y="2066544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64324" y="2633472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의존 — 그래서 같은 불량이 또 났습니다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64324" y="2999232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164324" y="3054096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운행정보 모니터(길이 되감기)  ·  코일 작업 상세분석  ·  작업확인(거래처별 검색)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694176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694176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8770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91056" y="3840480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91056" y="4407408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숫자만으로는 표면 흠집을 가릴 수 없었습니다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591056" y="4773168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591056" y="4828032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 ·  장애 원인 분석(AI)  ·  공정×ERP 통합 대시보드  ·  품질 리포트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1636" y="3694176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3694176"/>
            <a:ext cx="50292" cy="15910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505956" y="38770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64324" y="3840480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데이터는 믿을 만한가?"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4324" y="4407408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질문이었고, 답은 "아니오"였습니다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64324" y="4773168"/>
            <a:ext cx="4110228" cy="10973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7164324" y="4828032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데이터 수신 확인  ·  AI 인식 검증  ·  자동연동 모니터링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" y="5376672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37667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않았습니다.  </a:t>
            </a: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질문을 찾아, 하나씩 지웠을 뿐입니다.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01  ·  </a:t>
            </a:r>
            <a:r>
              <a:rPr lang="ko-KR" alt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잘 돌아가고 있니 </a:t>
            </a:r>
            <a:r>
              <a:rPr lang="en-US" altLang="ko-KR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순간의 </a:t>
            </a:r>
            <a:r>
              <a:rPr lang="en-US" sz="30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 err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볼수</a:t>
            </a:r>
            <a:r>
              <a:rPr lang="ko-KR" alt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있고 찾아 볼 수도 있습니다</a:t>
            </a:r>
            <a:r>
              <a:rPr lang="en-US" altLang="ko-KR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58896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가공규격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7824" y="2642616"/>
            <a:ext cx="3038856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642616"/>
            <a:ext cx="3038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 ×  4  × 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31729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권장 스페이서 조합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77824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EEF0FF"/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915160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5160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15160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952496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2496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52496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77824" y="4197096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97096"/>
            <a:ext cx="3038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확정  ·  합계 8.7 mm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" y="4745736"/>
            <a:ext cx="19202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  ·  매일 사용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5129784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공장장이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암산하던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조합을 </a:t>
            </a:r>
            <a:r>
              <a:rPr lang="en-US" altLang="ko-KR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계산 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20184" y="1874520"/>
            <a:ext cx="2380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모바일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1800" y="18745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 / 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5048" y="2423160"/>
            <a:ext cx="1446276" cy="2231136"/>
          </a:xfrm>
          <a:prstGeom prst="roundRect">
            <a:avLst>
              <a:gd name="adj" fmla="val 5058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6488" y="2478024"/>
            <a:ext cx="12633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6488" y="2697480"/>
            <a:ext cx="126339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9640" y="2743200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39640" y="2907792"/>
            <a:ext cx="11170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9640" y="3264408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78~85 · 적정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66488" y="355701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6488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9056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02860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5428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39232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1800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6488" y="419709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995 / 1,989 m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666488" y="4398264"/>
            <a:ext cx="126339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4666488" y="4398264"/>
            <a:ext cx="631698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6259068" y="2478024"/>
            <a:ext cx="12633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English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59068" y="2697480"/>
            <a:ext cx="126339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2220" y="2743200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Current speed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32220" y="2907792"/>
            <a:ext cx="11170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332220" y="3264408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Rec. 78~85 · OK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59068" y="355701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59068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1636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95440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68008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131812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04380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59068" y="419709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progress 995 / 1,989 m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59068" y="4398264"/>
            <a:ext cx="126339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59"/>
          <p:cNvSpPr/>
          <p:nvPr/>
        </p:nvSpPr>
        <p:spPr>
          <a:xfrm>
            <a:off x="6259068" y="4398264"/>
            <a:ext cx="631698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2" name="Text 60"/>
          <p:cNvSpPr/>
          <p:nvPr/>
        </p:nvSpPr>
        <p:spPr>
          <a:xfrm>
            <a:off x="4575048" y="4745736"/>
            <a:ext cx="242316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 5명이 통역 없이 사용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355592" y="520293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화면을 한국어·영어 두 벌로 만들었습니다.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6" name="Text 64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통합관제 (NMS)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616184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20초 갱신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72272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63712" y="2514600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8510016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363712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309608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01048" y="2514600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4" name="Text 72"/>
          <p:cNvSpPr/>
          <p:nvPr/>
        </p:nvSpPr>
        <p:spPr>
          <a:xfrm>
            <a:off x="9547352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401048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41%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346944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38384" y="251460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8" name="Text 76"/>
          <p:cNvSpPr/>
          <p:nvPr/>
        </p:nvSpPr>
        <p:spPr>
          <a:xfrm>
            <a:off x="10584688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438384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272272" y="3264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파형 · 속도 (MPM)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272272" y="3502152"/>
            <a:ext cx="3038856" cy="7863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80"/>
          <p:cNvSpPr/>
          <p:nvPr/>
        </p:nvSpPr>
        <p:spPr>
          <a:xfrm flipV="1">
            <a:off x="8327136" y="3854745"/>
            <a:ext cx="263622" cy="18946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90758" y="3854745"/>
            <a:ext cx="263622" cy="9473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8854379" y="3705880"/>
            <a:ext cx="263622" cy="24359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18001" y="3705880"/>
            <a:ext cx="263622" cy="12179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9381622" y="3651748"/>
            <a:ext cx="263622" cy="1759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45244" y="3651748"/>
            <a:ext cx="263622" cy="10826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9908865" y="3624682"/>
            <a:ext cx="263622" cy="1353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72487" y="3624682"/>
            <a:ext cx="263622" cy="1759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0436108" y="3692347"/>
            <a:ext cx="263622" cy="10826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99730" y="3692347"/>
            <a:ext cx="263622" cy="14886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0963351" y="3746480"/>
            <a:ext cx="292913" cy="9473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72272" y="4379976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72272" y="4379976"/>
            <a:ext cx="3038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이상 알림 1건 — 슬리터2 텐션 편차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052816" y="5239512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 관제센터 방식을 공장에 적용했습니다.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58368" y="5614416"/>
            <a:ext cx="10872216" cy="68580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97" name="Text 95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기계 소리로 판단했습니다.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 err="1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세 대의 라인이 지금 어떤 </a:t>
            </a:r>
            <a:r>
              <a:rPr lang="en-US" sz="1800" b="1" dirty="0" err="1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상태인지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화면으로 제공합니다</a:t>
            </a:r>
            <a:r>
              <a:rPr lang="en-US" altLang="ko-KR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9" name="Text 9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13</a:t>
            </a:r>
            <a:endParaRPr lang="en-US" sz="950" dirty="0"/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0DBDE5FD-950E-7FC1-55CF-BCB2D5FC6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" y="2371290"/>
            <a:ext cx="3452622" cy="2813358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1BDF56F3-B296-1355-572A-B099C50D84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44" r="14362"/>
          <a:stretch>
            <a:fillRect/>
          </a:stretch>
        </p:blipFill>
        <p:spPr>
          <a:xfrm>
            <a:off x="6129181" y="2340864"/>
            <a:ext cx="1567019" cy="2358304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0745C12F-7074-6C38-F5A6-32B25D1C1A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593"/>
          <a:stretch>
            <a:fillRect/>
          </a:stretch>
        </p:blipFill>
        <p:spPr>
          <a:xfrm>
            <a:off x="4323354" y="2295144"/>
            <a:ext cx="1725402" cy="24040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02  ·  </a:t>
            </a:r>
            <a:r>
              <a:rPr lang="ko-KR" alt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아까 그 불량 왜 </a:t>
            </a:r>
            <a:r>
              <a:rPr lang="ko-KR" altLang="en-US" sz="1150" b="1" kern="0" spc="160" dirty="0" err="1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생긴거지</a:t>
            </a:r>
            <a:r>
              <a:rPr lang="ko-KR" alt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</a:t>
            </a:r>
            <a:r>
              <a:rPr lang="en-US" sz="30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생긴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지점에 분석이 가능합니다</a:t>
            </a:r>
            <a:r>
              <a:rPr lang="en-US" altLang="ko-KR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운행정보 모니터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58896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  ·  코일 1622057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262432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슬라이더를 움직여 보세요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77824" y="2916936"/>
            <a:ext cx="3038856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2916936"/>
            <a:ext cx="1884091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1138" y="2816352"/>
            <a:ext cx="292608" cy="292608"/>
          </a:xfrm>
          <a:prstGeom prst="ellipse">
            <a:avLst/>
          </a:prstGeom>
          <a:solidFill>
            <a:srgbClr val="4F46E5"/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02280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1,989 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3355848"/>
            <a:ext cx="3038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</a:t>
            </a: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 지점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" y="37581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84248" y="3758184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mpm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" y="3995928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00507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1~4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84248" y="4005072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/ 2.3 / 0.0 / 2.5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7824" y="4242816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2519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상태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84248" y="4251960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7824" y="4489704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49884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84248" y="4498848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09:21:14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7824" y="4736592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77824" y="4745736"/>
            <a:ext cx="3038856" cy="36576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4745736"/>
            <a:ext cx="3038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 이상 — 작업 내내 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막대를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끌면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지점이든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확인이 가능합니다 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작업 상세 분석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3280" y="187452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구간별 속도 · 텐션 변화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5048" y="2697480"/>
            <a:ext cx="3038856" cy="11704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4648200" y="3157240"/>
            <a:ext cx="347106" cy="31016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995306" y="3079699"/>
            <a:ext cx="376032" cy="7754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71338" y="3079699"/>
            <a:ext cx="376032" cy="3877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47370" y="3060314"/>
            <a:ext cx="347106" cy="58156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4476" y="3060314"/>
            <a:ext cx="347106" cy="164775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441582" y="3099084"/>
            <a:ext cx="376032" cy="12600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7614" y="3099084"/>
            <a:ext cx="376032" cy="3877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3646" y="3137855"/>
            <a:ext cx="347106" cy="27139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648200" y="3225089"/>
            <a:ext cx="347106" cy="29078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995306" y="3225089"/>
            <a:ext cx="376032" cy="9693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371338" y="3234781"/>
            <a:ext cx="376032" cy="329550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747370" y="3564331"/>
            <a:ext cx="347106" cy="19385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6094476" y="3273552"/>
            <a:ext cx="347106" cy="310164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6441582" y="3254167"/>
            <a:ext cx="376032" cy="19385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817614" y="3254167"/>
            <a:ext cx="376032" cy="9693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193646" y="3263859"/>
            <a:ext cx="347106" cy="29078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5631668" y="2734056"/>
            <a:ext cx="578510" cy="10972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5515966" y="3831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구간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5048" y="4087368"/>
            <a:ext cx="859536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속도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526024" y="4087368"/>
            <a:ext cx="1106424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 텐션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5048" y="4471416"/>
            <a:ext cx="3038856" cy="603504"/>
          </a:xfrm>
          <a:prstGeom prst="roundRect">
            <a:avLst>
              <a:gd name="adj" fmla="val 12121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5048" y="4471416"/>
            <a:ext cx="3038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사양 30개 코일 대비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구간만 텐션 편차 +240%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난 지점의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</a:t>
            </a: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3" name="Text 61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1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레베링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 공정 정보 리포트 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753344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altLang="ko-KR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72272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기사님 전화 응대용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72272" y="2660904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82000" y="2660904"/>
            <a:ext cx="2929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거래처명   </a:t>
            </a: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대한강재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272272" y="317296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· 슬리터1 · 슬리터2 전체에서 검색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272272" y="3447288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3712" y="3447288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351264" y="34472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0.75×4×C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247376" y="3447288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24744" y="3447288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272272" y="3922776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63712" y="3922776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351264" y="392277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1.2×6×C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247376" y="3922776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524744" y="3922776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272272" y="4398264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63712" y="4398264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1621998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351264" y="43982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0.8×5×C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247376" y="439826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524744" y="4398264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작업중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272272" y="4892040"/>
            <a:ext cx="3038856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200" b="1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레베링</a:t>
            </a: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작업 내용에 대한 확인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87" name="Text 85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"그때 어떻게 돌렸지"를 아무도 답하지 못했습니다. </a:t>
            </a:r>
            <a:b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800" b="1" dirty="0" err="1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코일번호와 위치만 있으면 됩니다.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9" name="Text 8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14</a:t>
            </a:r>
            <a:endParaRPr lang="en-US" sz="950" dirty="0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F270948F-9E16-167B-09C6-CC2D8196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233" y="2295144"/>
            <a:ext cx="3458352" cy="30664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03  ·  </a:t>
            </a:r>
            <a:r>
              <a:rPr lang="ko-KR" alt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잘못이 맞나</a:t>
            </a:r>
            <a:r>
              <a:rPr lang="en-US" altLang="ko-KR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불량의 원인을 규명하고</a:t>
            </a:r>
            <a:r>
              <a:rPr lang="en-US" altLang="ko-KR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우리 문제는 끝까지 확인합니다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289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10256" y="18745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실패 시스템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altLang="en-US" sz="1200" dirty="0" err="1"/>
              <a:t>원소재</a:t>
            </a:r>
            <a:r>
              <a:rPr lang="ko-KR" altLang="en-US" sz="1200" dirty="0"/>
              <a:t> 결함 여부를 관리합니다 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원인 분석 (AI)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0400" y="1874520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 기록  ×  CCTV  동일 시간축 대조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5048" y="2843784"/>
            <a:ext cx="3038856" cy="411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957724" y="279440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4619396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09:18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78216" y="279440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5439888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89872" y="279440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" name="Text 37"/>
          <p:cNvSpPr/>
          <p:nvPr/>
        </p:nvSpPr>
        <p:spPr>
          <a:xfrm>
            <a:off x="6351544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5048" y="26609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5048" y="3264408"/>
            <a:ext cx="3038856" cy="7498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4666488" y="33192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 09:21:14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544312" y="3557016"/>
            <a:ext cx="822960" cy="329184"/>
          </a:xfrm>
          <a:prstGeom prst="rect">
            <a:avLst/>
          </a:prstGeom>
          <a:ln w="20320">
            <a:solidFill>
              <a:srgbClr val="F5B5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0424" y="36484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 순간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5048" y="41056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원인 후보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5048" y="43251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</a:rPr>
              <a:t>휴먼 </a:t>
            </a:r>
            <a:r>
              <a:rPr lang="ko-KR" altLang="en-US" sz="800" b="1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</a:rPr>
              <a:t>애러</a:t>
            </a:r>
            <a:r>
              <a:rPr lang="ko-KR" alt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84392" y="4398264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6184392" y="4398264"/>
            <a:ext cx="652882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7193280" y="43251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5048" y="45811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</a:rPr>
              <a:t>장비 문제 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84392" y="4654296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50"/>
          <p:cNvSpPr/>
          <p:nvPr/>
        </p:nvSpPr>
        <p:spPr>
          <a:xfrm>
            <a:off x="6184392" y="4654296"/>
            <a:ext cx="211226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7193280" y="45811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5048" y="48371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</a:rPr>
              <a:t>소재 불량 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84392" y="4910328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54"/>
          <p:cNvSpPr/>
          <p:nvPr/>
        </p:nvSpPr>
        <p:spPr>
          <a:xfrm>
            <a:off x="6184392" y="4910328"/>
            <a:ext cx="96012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7" name="Text 55"/>
          <p:cNvSpPr/>
          <p:nvPr/>
        </p:nvSpPr>
        <p:spPr>
          <a:xfrm>
            <a:off x="7193280" y="48371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alt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불량의 원인을 끝까지 분석합니다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1" name="Text 59"/>
          <p:cNvSpPr/>
          <p:nvPr/>
        </p:nvSpPr>
        <p:spPr>
          <a:xfrm>
            <a:off x="8217408" y="1874520"/>
            <a:ext cx="2289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리포트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296144" y="187452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제출본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418576" y="2441448"/>
            <a:ext cx="274624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46592" y="2551176"/>
            <a:ext cx="24902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품질 성적서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546592" y="2807208"/>
            <a:ext cx="2490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546592" y="289864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717024" y="2898648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546592" y="3136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717024" y="3136392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546592" y="33741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가공일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717024" y="3374136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546592" y="361188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중단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9717024" y="3611880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546592" y="384962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717024" y="3849624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기인 2건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546592" y="40873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편차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717024" y="4087368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 0.01 mm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546592" y="4361688"/>
            <a:ext cx="2490216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46592" y="4361688"/>
            <a:ext cx="249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  적 합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418576" y="4910328"/>
            <a:ext cx="233172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시 자동 첨부 (준비 중)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alt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고객사에 객관적인 분석 리포트를 제공합니다</a:t>
            </a:r>
            <a:r>
              <a:rPr lang="en-US" altLang="ko-KR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83" name="Text 81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말로는 말을 이길 수 없습니다.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기록은 이깁니다.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15</a:t>
            </a:r>
            <a:endParaRPr lang="en-US" sz="950" dirty="0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D1377747-99D8-5209-9AC9-3D19D07983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7" t="11349"/>
          <a:stretch>
            <a:fillRect/>
          </a:stretch>
        </p:blipFill>
        <p:spPr>
          <a:xfrm>
            <a:off x="8161311" y="2494814"/>
            <a:ext cx="3260778" cy="2636467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0104B3BA-C10E-2D13-13CB-87220EB3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59" y="2331720"/>
            <a:ext cx="3481077" cy="2873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04  ·  적용 서비스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서비스를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감시하는 서비스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데이터 수신 확인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7456" y="187452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8초 갱신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7824" y="2423160"/>
            <a:ext cx="1464564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7802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저장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77824" y="2660904"/>
            <a:ext cx="14645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412 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52116" y="2423160"/>
            <a:ext cx="1464564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2116" y="247802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52116" y="2660904"/>
            <a:ext cx="14645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38,740 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" y="324612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6시간 수신 커버리지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90396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0396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02968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2968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15540" y="3483864"/>
            <a:ext cx="475996" cy="402336"/>
          </a:xfrm>
          <a:prstGeom prst="rect">
            <a:avLst/>
          </a:prstGeom>
          <a:solidFill>
            <a:srgbClr val="FEF2F2"/>
          </a:solidFill>
          <a:ln w="1397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5540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8112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8112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0684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0684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3941064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11시대 결측 1건  ·  조명 변화 추정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" y="4215384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저장 레코드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" y="44348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27632" y="443484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  ·  신뢰도 0.97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7824" y="4690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27632" y="4690872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2.41  ·  신뢰도 0.95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지금도 들어오고 있는지를 봅니다.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7" name="Text 35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인식 검증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6120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사진  vs  AI 판독값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5048" y="2697480"/>
            <a:ext cx="1455420" cy="10607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721352" y="2953512"/>
            <a:ext cx="1162812" cy="47548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4721352" y="3008376"/>
            <a:ext cx="1162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575048" y="3794760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원본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58484" y="2697480"/>
            <a:ext cx="1455420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8484" y="2770632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판독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58484" y="2990088"/>
            <a:ext cx="14554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6158484" y="3410712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0.97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58484" y="3794760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 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5048" y="4069080"/>
            <a:ext cx="303885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4575048" y="417880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검증 결과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5048" y="43982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61760" y="4398264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 / 200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5048" y="46542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61760" y="4654296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200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5048" y="49103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 실패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61760" y="4910328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읽은 값도 사람이 다시 확인합니다.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0" name="Text 58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자동연동 모니터링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16184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RPA 대체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272272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작업지시 → 라인 대시보드 자동 등록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272272" y="2697480"/>
            <a:ext cx="3038856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82000" y="27706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자동 등록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382000" y="29535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10250424" y="304495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0건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272272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9704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63304" y="3721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346184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EEF0FF"/>
          </a:solidFill>
          <a:ln w="13970">
            <a:solidFill>
              <a:srgbClr val="C7CB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73616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등록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237216" y="3721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420096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447528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272272" y="4233672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실행 이력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72272" y="44348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14:30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022080" y="4434840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3건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272272" y="4654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14:20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022080" y="4654296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0건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272272" y="48737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14:10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022080" y="4873752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5건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옮겨 적던 일을 시스템이 대신합니다.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7F1D1D"/>
          </a:solidFill>
          <a:ln/>
        </p:spPr>
      </p:sp>
      <p:sp>
        <p:nvSpPr>
          <p:cNvPr id="84" name="Text 82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건이 있어도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않은 데이터는 자산이 아니라 위험입니다.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GAIN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1 — </a:t>
            </a: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하던 작업이 숫자가 되니 누가 작업하든 같은 기준이 됩니다. 경력 40년이든 입사 한 달이든 같은 화면, 같은 값.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1286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9030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9030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거의 사라졌습니다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69030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계산해주는 도구를 만든 뒤, 기계 설정을 잘못해서 나던 불량은 사실상 없어졌습니다.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4204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1948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1948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 체계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1948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표면은 전부 촬영, 운전 조건은 2초마다 기록, 이상은 자동으로 걸러집니다. 샘플로 보지 않습니다.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7122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4866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4866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자체를 검증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14866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죽었는지, 측정이 돌고 있는지, 기록이 밀렸는지를 의심하고 확인합니다.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장비에 걸맞는 </a:t>
            </a: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</a:t>
            </a: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을, 이제 갖췄습니다.   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b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</a:t>
            </a: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샀고, </a:t>
            </a:r>
            <a:r>
              <a:rPr lang="en-US" sz="2000" b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</a:t>
            </a: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제대로 쓰는 기술을 얻었습니다.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GAIN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2 —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(이게 더 중요할지도 모릅니다)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94944" y="1655064"/>
            <a:ext cx="6720840" cy="2468880"/>
          </a:xfrm>
          <a:prstGeom prst="roundRect">
            <a:avLst>
              <a:gd name="adj" fmla="val 29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1837944"/>
            <a:ext cx="146304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264" y="224028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</a:t>
            </a:r>
            <a:r>
              <a:rPr lang="en-US" sz="19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직원들이</a:t>
            </a: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공정을 개선하기 시작 했습니다</a:t>
            </a:r>
            <a:r>
              <a:rPr lang="en-US" altLang="ko-KR" sz="1900" b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9264" y="2697480"/>
            <a:ext cx="6172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외국에서 오신 분들입니다. 그런데 설명서도 작업 기준도 </a:t>
            </a: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한국어</a:t>
            </a: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 — 개선 제안이 나올 수 없는 구조였습니다.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</a:t>
            </a: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한국어·영어</a:t>
            </a: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벌</a:t>
            </a: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만들자, AI의 도움으로 언어의 벽을 넘어 기계 기록을 직접 읽기 시작했고, 원인을 알게 되니 고치는 방법이 보이기 시작했습니다.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90104" y="1965960"/>
            <a:ext cx="3840480" cy="3721608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64424" y="479145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4791456"/>
            <a:ext cx="3035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그린 사람은 엔지니어가 아니라 </a:t>
            </a: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 현장 직원입니다.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21</a:t>
            </a:r>
            <a:endParaRPr lang="en-US" sz="95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8CFCCB2-6E54-E799-AB93-A32F29A06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74" y="1655064"/>
            <a:ext cx="3884882" cy="258992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DD47371-968A-EFA9-AE05-1FEC336AD9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95" b="39161"/>
          <a:stretch>
            <a:fillRect/>
          </a:stretch>
        </p:blipFill>
        <p:spPr>
          <a:xfrm>
            <a:off x="708660" y="4169138"/>
            <a:ext cx="2566424" cy="202317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5C817BC-9EB7-53E6-48A5-43A92E3C80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070" t="20330" r="30385" b="21722"/>
          <a:stretch>
            <a:fillRect/>
          </a:stretch>
        </p:blipFill>
        <p:spPr>
          <a:xfrm>
            <a:off x="3689816" y="4230184"/>
            <a:ext cx="3364992" cy="19363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BOTTOM-UP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요구가 올라왔습니다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253228" cy="2697480"/>
          </a:xfrm>
          <a:prstGeom prst="roundRect">
            <a:avLst>
              <a:gd name="adj" fmla="val 2712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7984"/>
            <a:ext cx="52532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2차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984248" y="2615184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2615184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/ 외부 업체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4982" y="3236976"/>
            <a:ext cx="7315" cy="438912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3730752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3730752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596" y="37856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4389120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내려준 것  →  안 썼습니다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253228" cy="2697480"/>
          </a:xfrm>
          <a:prstGeom prst="roundRect">
            <a:avLst>
              <a:gd name="adj" fmla="val 2712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356" y="2157984"/>
            <a:ext cx="52532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603236" y="2615184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3236" y="2615184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8903970" y="3236976"/>
            <a:ext cx="7315" cy="438912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03236" y="3730752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3236" y="3730752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7356" y="4389120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달라고 한 것  →  씁니다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시키지도 않았는데 직원들끼리 품질 개선 회의를 열었습니다. 그리고 </a:t>
            </a: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"설정값을 계산해주는 도구를 만들어달라"</a:t>
            </a:r>
            <a:r>
              <a:rPr lang="en-US" sz="16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요구가 </a:t>
            </a: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올라왔습니다.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SERVICES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직접 만들었고, </a:t>
            </a: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실데이터로 돌아갑니다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5760720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9696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생산현장 도구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52486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키오스크 · 작업현황 대시보드 1/2/3 · 코일 상세분석 · 레벨링 공정×ERP · 행정 모니터링 · 라인 통합관제(NMS) · PLC 상세조회 · 통합 타임라인 · HMI 미러 · AI 헬퍼 3종 · 슬리터2 모니터 KR/EN · 라인배정 변경 KR/EN · 작업확인 · 재고검색 · 테이퍼 텐션 3종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38544" y="1965960"/>
            <a:ext cx="23362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9397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350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0" y="2825496"/>
            <a:ext cx="1897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통합흐름 v2 · OCR 문서인식 · 카카오톡 접수 · FAX 작업요청서 · 현장 코일확정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38544" y="4105656"/>
            <a:ext cx="23362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4233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재무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448970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4965192"/>
            <a:ext cx="1897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· 거래명세서 입금확인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94292" y="1965960"/>
            <a:ext cx="23362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3748" y="209397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대면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3748" y="2350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13748" y="2825496"/>
            <a:ext cx="18973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현황 트래커 · 고객사 챗봇 · 영업대상 리스트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94292" y="3520440"/>
            <a:ext cx="23362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3748" y="364845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설비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3748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13748" y="43799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장애 원인 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94292" y="4928616"/>
            <a:ext cx="23362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3748" y="505663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연동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3748" y="53126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413748" y="5788152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자동연동 모니터링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5394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5522976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22576" y="5522976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28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62172" y="5522976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시험판 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5522976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23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SERVICES, 6 WAYS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AI가 아닙니다 —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 방식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씁니다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AI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계기판 사진의 숫자, 팩스 작업요청서, 지출 영수증을 읽습니다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5592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3336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AI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93336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 표면을 전수 촬영해 흠집을 찾습니다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2816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0560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AI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290560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2주치를 한 번에 훑어 고장 난 센서와 이상 구간을 걸러냅니다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추천하는 AI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96112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사양 실측값으로 권장 속도·힘·예상 가동시간을 제시합니다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5592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3336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3336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답하는 AI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93336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말로 물으면 실제 기록을 근거로 답합니다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52816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0560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90560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AI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90560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분석 도구 자체를 AI로 만들었습니다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5138928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5138928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06번이 앞의 다섯 개를 가능하게 했습니다. 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개발을 AI로 하니, 나머지를 직접 만들 수 있었습니다.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24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SCREENS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열리는 화면들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계산기 · 키오스크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505456"/>
            <a:ext cx="3002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가공규격   0.75 × 4 × 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스페이서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1256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1256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1256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46400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6400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46400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" y="3602736"/>
            <a:ext cx="3002280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02736"/>
            <a:ext cx="3002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확정 · 합계 8.7mm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4279392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암산을 화면이 대신합니다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55592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5592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0184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 (NMS)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3336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9912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● 가동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29912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18480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5056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● 가동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55056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43624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0200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 ○ 대기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80200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 flipV="1">
            <a:off x="4629912" y="3502152"/>
            <a:ext cx="263622" cy="841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3534" y="3502152"/>
            <a:ext cx="263622" cy="42062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157155" y="3392790"/>
            <a:ext cx="263622" cy="1514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0777" y="3392790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684398" y="3359140"/>
            <a:ext cx="263622" cy="10095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8020" y="3359140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211641" y="3342315"/>
            <a:ext cx="263622" cy="841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5263" y="3342315"/>
            <a:ext cx="263622" cy="109362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738884" y="3384377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02506" y="3384377"/>
            <a:ext cx="263622" cy="92537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266127" y="3418027"/>
            <a:ext cx="292913" cy="58887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93336" y="3877056"/>
            <a:ext cx="3002280" cy="475488"/>
          </a:xfrm>
          <a:prstGeom prst="roundRect">
            <a:avLst>
              <a:gd name="adj" fmla="val 15385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3336" y="3877056"/>
            <a:ext cx="3002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알림 1건 · 20초 자동 갱신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3336" y="4498848"/>
            <a:ext cx="109728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연동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355592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 관제센터 방식을 공장에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052816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52816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1" name="Text 49"/>
          <p:cNvSpPr/>
          <p:nvPr/>
        </p:nvSpPr>
        <p:spPr>
          <a:xfrm>
            <a:off x="8217408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출고관리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90560" y="2487168"/>
            <a:ext cx="3002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A구역 · 거래처별 보관 코일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63712" y="3346704"/>
            <a:ext cx="2855976" cy="402336"/>
          </a:xfrm>
          <a:prstGeom prst="rect">
            <a:avLst/>
          </a:prstGeom>
          <a:solidFill>
            <a:srgbClr val="F1F5F9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83168" y="3163824"/>
            <a:ext cx="64008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5" name="Shape 53"/>
          <p:cNvSpPr/>
          <p:nvPr/>
        </p:nvSpPr>
        <p:spPr>
          <a:xfrm>
            <a:off x="9259824" y="3163824"/>
            <a:ext cx="64008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6" name="Shape 54"/>
          <p:cNvSpPr/>
          <p:nvPr/>
        </p:nvSpPr>
        <p:spPr>
          <a:xfrm>
            <a:off x="9936480" y="3163824"/>
            <a:ext cx="640080" cy="3657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13136" y="3163824"/>
            <a:ext cx="64008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8" name="Shape 56"/>
          <p:cNvSpPr/>
          <p:nvPr/>
        </p:nvSpPr>
        <p:spPr>
          <a:xfrm>
            <a:off x="9259824" y="2779776"/>
            <a:ext cx="64008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8308848" y="3895344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대한강재 12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630156" y="3895344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가능 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951464" y="3895344"/>
            <a:ext cx="859536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290560" y="4352544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052816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자리에 누구 물건인지 한눈에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58368" y="5358384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/>
        </p:spPr>
      </p:sp>
      <p:sp>
        <p:nvSpPr>
          <p:cNvPr id="65" name="Text 63"/>
          <p:cNvSpPr/>
          <p:nvPr/>
        </p:nvSpPr>
        <p:spPr>
          <a:xfrm>
            <a:off x="932688" y="5358384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 맡기지 않고 직접 만들었기 때문에,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불편하다고 하면 며칠 안에 고칩니다.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STILL LACK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보여주기는 하고 —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하지 않습니다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806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658368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542032"/>
            <a:ext cx="4768596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633472"/>
            <a:ext cx="44394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도구가 알려주는 값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2889504"/>
            <a:ext cx="44394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속도 82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914400" y="3621024"/>
            <a:ext cx="4768596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21024"/>
            <a:ext cx="44394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82는 </a:t>
            </a: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 그렇게 돌렸던 평균</a:t>
            </a: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</a:t>
            </a: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돌려야 하는 값이 아닙니다.</a:t>
            </a: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과거에 불량이 났던 작업도 그 평균 안에 섞여 있습니다.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9924" y="1965960"/>
            <a:ext cx="5280660" cy="2788920"/>
          </a:xfrm>
          <a:prstGeom prst="roundRect">
            <a:avLst>
              <a:gd name="adj" fmla="val 262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2139696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되어야 하는 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05956" y="2542032"/>
            <a:ext cx="47685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0548" y="2615184"/>
            <a:ext cx="44394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판정까지 해주는 화면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0548" y="2871216"/>
            <a:ext cx="44394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82 </a:t>
            </a:r>
            <a:r>
              <a:rPr lang="en-US" sz="15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78~85 이내 ✓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70548" y="3200400"/>
            <a:ext cx="44394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 1.8 </a:t>
            </a:r>
            <a:r>
              <a:rPr lang="en-US" sz="15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2.2~2.6 이탈 ⚠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505956" y="3803904"/>
            <a:ext cx="47685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0548" y="3803904"/>
            <a:ext cx="44394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이탈하면 </a:t>
            </a: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이유</a:t>
            </a: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남깁니다 — 원자재 / 설비 이상 / 고객 요청 / 급한 납기 / 기타.
</a:t>
            </a: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 "표준을 못 지키는 진짜 이유"의 순위가 나옵니다. 지금은 아무도 모릅니다.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①은 70%입니다.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표준을 세우는 일이 남았습니다.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26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OPERATING 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작업해도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결과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나오게,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기록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남게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불량·재작업·중단이 없었던 작업만 남겨 표준값을 뽑고 문서로 박습니다. 추천을 "과거 평균"에서 "표준값+허용범위"로.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선행: 품질이력↔작업데이터 연결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69387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9387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3070555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70555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판정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70555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안/밖을 표시하고 경고합니다. 이탈하면 이유 한 줄을 남깁니다.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80406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0406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281574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81574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표준서를 화면으로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81574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사양을 고르면 세팅 순서가 단계별로 뜨고, 확인하면 다음 단계로 넘어갑니다.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1574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정년 전에 — 시한 있음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91426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1426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492594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92594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결측 제거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92594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배선, 외부 시스템 가동, 카메라 고정, 코일번호 태깅 100%. 매일 아침 결측률을 봅니다.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2594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지루하고 가장 중요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2445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2445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703613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703613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마감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03613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저녁마다 한 장이 자동으로: 작업 건수 · 이탈 건수(이유별) · 결측 · 정지 횟수.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557784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5577840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챙기는 체계는 사람이 빠지면 멈추지만,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한 장이 나오는 체계는 멈추면 표가 납니다.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27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53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kern="0" spc="16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792224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1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 무엇을 원하는가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50545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고객이 더 정밀한 분석을 원할 거라 생각했습니다. 두 번째 실패가 그 생각에서 나왔습니다.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127248"/>
            <a:ext cx="82296" cy="155448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3127248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
</a:t>
            </a:r>
            <a:r>
              <a:rPr lang="en-US" sz="3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42416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정밀한 분석 리포트를 원하는 게 아닙니다.  밤 열 시에 궁금한 것이 생겼을 때, 그때 답을 받고 싶은 것입니다.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5504688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550468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어느 터미널에 있는지까지 봅니다. 은행도 24시간입니다.   </a:t>
            </a:r>
            <a:r>
              <a:rPr lang="en-US" sz="1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수천만 원짜리 철강 발주가 가장 확인하기 어려운 거래였습니다.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CUSTOMER REALITY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시간은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때나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물어볼 시간은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4128" y="3108960"/>
            <a:ext cx="7863840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75888" y="3063240"/>
            <a:ext cx="2148840" cy="1463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172968" y="26334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  09:00 – 18:00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3108960"/>
            <a:ext cx="1719072" cy="5029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11시간 대기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28800" y="3024835"/>
            <a:ext cx="219456" cy="21945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22:00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궁금증 발생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언제 오지?"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3320" y="3024835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0358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09:00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358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02352" y="3052267"/>
            <a:ext cx="164592" cy="164592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부재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걸어야 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024835"/>
            <a:ext cx="219456" cy="21945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들음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790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41848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남지 않습니다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28432" y="3052267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3348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물어야 합니다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63456" y="2103120"/>
            <a:ext cx="2167128" cy="2331720"/>
          </a:xfrm>
          <a:prstGeom prst="roundRect">
            <a:avLst>
              <a:gd name="adj" fmla="val 3376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63456" y="224942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결국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63456" y="2615184"/>
            <a:ext cx="21671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미안해서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묻고 넘어감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619488" y="3291840"/>
            <a:ext cx="1655064" cy="10973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1" name="Text 29"/>
          <p:cNvSpPr/>
          <p:nvPr/>
        </p:nvSpPr>
        <p:spPr>
          <a:xfrm>
            <a:off x="9363456" y="3438144"/>
            <a:ext cx="21671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여유 재고를 쥐고</a:t>
            </a:r>
            <a:endParaRPr lang="en-US" sz="13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라인을 비워둠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주문, 새벽에 조회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31286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4166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14166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잔고·이체·명세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4166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04204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7084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87084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터미널에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87084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77122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60002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발주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60002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9시를 기다림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60002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8368" y="5742432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 더 좋은 기술이 아니었습니다. 다른 데서 다 되는 것이, 여기서만 안 되는 그 불편이었습니다.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29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가지였습니다 —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"24시간"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132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하고 싶은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82128" y="1609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문의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90288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묻고 바로 답받기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업무시간에 전화, 담당자 없으면 다시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1089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590288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밤에도 주문 넣기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256032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팩스·전화, 업무시간만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진행 조회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4590288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물건이 지금 어디까지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82128" y="320040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전화해서 물어봐야 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상세 내역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590288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거래·미출고·미수금·맡긴 재고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82128" y="384048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요청하면 정리해서 보내줌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4480560"/>
            <a:ext cx="10872216" cy="54864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81328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590288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발주한 그 물건의 AI 검사 결과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82128" y="448056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없음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온라인 쇼핑에서 이미 당연한 것들입니다.  </a:t>
            </a:r>
            <a:r>
              <a:rPr lang="en-US" sz="13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언젠가 다른 코일센터도 하게 됩니다.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49924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9380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  </a:t>
            </a: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 · 2초 단위 기록 · 검증된 데이터가 있어야 합니다. 질문 ①의 답이 없으면 불가능합니다.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⑤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</a:t>
            </a:r>
            <a:r>
              <a:rPr lang="en-US" sz="3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시스템만 만들면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됩니다.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9456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발주 · 조회 · 내역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72768" y="2962656"/>
            <a:ext cx="16489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127248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383280"/>
            <a:ext cx="3038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시간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1452" y="3913632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편의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경쟁사도 언젠가 합니다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5592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048" y="219456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69992" y="2962656"/>
            <a:ext cx="1648968" cy="10973"/>
          </a:xfrm>
          <a:prstGeom prst="rect">
            <a:avLst/>
          </a:prstGeom>
          <a:solidFill>
            <a:srgbClr val="C7C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3127248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5048" y="3383280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</a:t>
            </a:r>
            <a:endParaRPr lang="en-US" sz="14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 단위 운전 기록</a:t>
            </a:r>
            <a:endParaRPr lang="en-US" sz="14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데이터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7236" y="4315968"/>
            <a:ext cx="155448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차별화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52816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2272" y="2249424"/>
            <a:ext cx="30388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 질문 ①의 답입니다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2272" y="2779776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질문에 답하지 않았다면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72272" y="3200400"/>
            <a:ext cx="3038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번째는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합니다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2272" y="420624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질문이 여기서 연결됩니다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974336"/>
            <a:ext cx="108722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974336"/>
            <a:ext cx="1032357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상황만 보여주는 포털은 </a:t>
            </a: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편리한 서비스</a:t>
            </a: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  품질 결과까지 보여주는 포털은 </a:t>
            </a: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대신해주는 서비스</a:t>
            </a: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31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IF, AT 11 PM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열한 시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휴대폰을 열어서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고객 포털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12848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2331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2624328"/>
            <a:ext cx="1682496" cy="804672"/>
          </a:xfrm>
          <a:prstGeom prst="roundRect">
            <a:avLst>
              <a:gd name="adj" fmla="val 9091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679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 · 코일 1622057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" y="28620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01368" y="29352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01:40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52144" y="3246120"/>
            <a:ext cx="149961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3246120"/>
            <a:ext cx="92976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3538728"/>
            <a:ext cx="1682496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 품질 결과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" y="3776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· 표준 범위 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4032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0 · 두께 ±0.01 · 중단 없음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2144" y="43251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보기 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60704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60704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43100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3100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맡긴 재고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43100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12코일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60704" y="5184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" y="5184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새 주문 넣기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82112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2696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1947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53712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1568" y="2331720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23682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보낸 코일 중에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중단된 게 있었나요?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93008" y="2880360"/>
            <a:ext cx="1591056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84448" y="2916936"/>
            <a:ext cx="140817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어제(9/12) 출고 6건 중 1건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작업 중단 기록이 있습니다.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· 1,240m 지점에서 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정지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재가동. 해당 구간 표면 검사는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없음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84448" y="4142232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기록 보기 ›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01568" y="4471416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3493008" y="4471416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미수금도 알려주세요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01568" y="4873752"/>
            <a:ext cx="1682496" cy="621792"/>
          </a:xfrm>
          <a:prstGeom prst="roundRect">
            <a:avLst>
              <a:gd name="adj" fmla="val 11765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487375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않습니다
</a:t>
            </a: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응대합니다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79008" y="204825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3" name="Text 41"/>
          <p:cNvSpPr/>
          <p:nvPr/>
        </p:nvSpPr>
        <p:spPr>
          <a:xfrm>
            <a:off x="6016752" y="192024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주문을 넣고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779008" y="2468880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5" name="Text 43"/>
          <p:cNvSpPr/>
          <p:nvPr/>
        </p:nvSpPr>
        <p:spPr>
          <a:xfrm>
            <a:off x="6016752" y="2340864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넣은 주문이 지금 어느 라인에서 가공 중인지 보고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5779008" y="2889504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7" name="Text 45"/>
          <p:cNvSpPr/>
          <p:nvPr/>
        </p:nvSpPr>
        <p:spPr>
          <a:xfrm>
            <a:off x="6016752" y="2761488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끝나는지 확인하고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5779008" y="3310128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16752" y="3182112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거래 내역과 안 나간 물량을 확인하고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5779008" y="3730752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6016752" y="3602736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물건의 품질 검사 결과를 열어보고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5779008" y="415137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16752" y="402336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채팅으로 물어서 실제 기록에 근거한 답을 받는다면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5742432" y="4526280"/>
            <a:ext cx="5788152" cy="1005840"/>
          </a:xfrm>
          <a:prstGeom prst="roundRect">
            <a:avLst>
              <a:gd name="adj" fmla="val 727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0176" y="4526280"/>
            <a:ext cx="5312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회사는 코일 가공업체가 아닙니다.
</a:t>
            </a: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돌아가는 서비스 회사입니다.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5742432" y="5623560"/>
            <a:ext cx="5788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단가가 조금 싼 곳으로 옮기지 않습니다. 옮기면 이 전부를 잃기 때문입니다.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32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HONESTLY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</a:t>
            </a:r>
            <a:r>
              <a:rPr lang="en-US" sz="2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있습니다</a:t>
            </a: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그런데 </a:t>
            </a:r>
            <a:r>
              <a:rPr lang="en-US" sz="2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나간 것은 하나도 없습니다.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61488" y="17190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47888" y="1719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67004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61488" y="20116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실데이터로 답하는 채팅 창구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47888" y="220827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→ 실서비스 전환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40156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432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발주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1488" y="27432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팩스·카톡·문서인식 자동 접수 (시험판 4개)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47888" y="293979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실배포 — 현재 0건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74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진행 조회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61488" y="34747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포털 · 진행 트래커 · 완료 예측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367131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예정시각 정확도 검증 후 개방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86460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2062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상세 내역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61488" y="42062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재고·미출고·미수금 조회 · 3D 창고 뷰어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47888" y="440283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계정에 연결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93776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9377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품질 결과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61488" y="49377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 · 운전 기록 · 분석 도구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47888" y="513435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+ 자동 발행 + 판정 기준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504688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468112"/>
            <a:ext cx="10323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"아무도 볼 수 없는 곳에 좋은 것을 두었다"는 것이었습니다.   </a:t>
            </a: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상태는 그 실수의 축소판입니다.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33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WE CHARGE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무료면 값을 못 받고,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유료면 아무도 안 씁니다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7900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7968" y="1719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6517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문의 · 발주 · 진행 조회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79008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무료, 단 계약서에 명시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87968" y="2199132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조건화 · 이탈 방지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364992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7249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요약  (판정만)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79008" y="27249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거래처 무료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87968" y="2912364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표준으로 자리 잡게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438144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381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상세본  (영상·실측)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79008" y="34381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반영 또는 별도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87968" y="3625596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받는 지점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151376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5137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779008" y="41513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유상 또는 연간 약정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87968" y="4338828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받는 지점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864608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8646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· 재고 대행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779008" y="48646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계약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87968" y="5052060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수입 · 이탈 방지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614416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614416"/>
            <a:ext cx="10323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신규 견적서에 "24시간 조회 · 품질 결과 제공"을 한 줄 적습니다.  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적히지 않은 서비스는 존재하지 않는 서비스입니다.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34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THEY WERE 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보려고 만든 것이, </a:t>
            </a: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밖에 내보낼 것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의 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9340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의 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잘 돌아가나</a:t>
            </a: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실시간 상태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0488" y="2185416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84848" y="1920240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24시간 진행 조회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523744"/>
            <a:ext cx="10872216" cy="530352"/>
          </a:xfrm>
          <a:prstGeom prst="roundRect">
            <a:avLst>
              <a:gd name="adj" fmla="val 1379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2374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어떻게 돌렸나</a:t>
            </a: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구간별 기록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2788920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784848" y="2523744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24시간 품질 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잘못인가</a:t>
            </a: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원소재/가공 판별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0488" y="3392424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784848" y="3127248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 (유상)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73075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믿을 수 있나</a:t>
            </a: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전수 검증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0488" y="3995928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84848" y="3730752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전부의 신뢰 근거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사면 될까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남겼다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5592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5048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만들면 될까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5048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남겼다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52816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2272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모르나 / 무엇을 원하나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2272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둘을 쓸 수 있게 만들었다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" y="5687568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5687568"/>
            <a:ext cx="10323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</a:t>
            </a: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만들려다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번 실패하고, AI로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시작하자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달라졌습니다.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두 질문이 만난 곳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35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BECAME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이제 어떤 회사인가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장비에 걸맞는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기술을 확보했습니다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표준화 · 설정 불량 제거 · 전수 검증 · 데이터 자체의 검증.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외주로 산 게 아니라 직접 만들었기 때문에, 계속 고칠 수 있습니다.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9924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4244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24244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차별화 기술로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24244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않아도 됩니다. 기록이 응대합니다.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회사가 인력을 늘리지 않고 영업시간을 세 배로 늘리는 유일한 방법입니다.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사람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58568" y="4498848"/>
            <a:ext cx="9272016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– 18:00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· 기록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— 24:00   쉬지 않습니다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5468112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468112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몇 % 차이로는 옮기지 않습니다.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옮기면 이 전부를 잃기 때문입니다.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그래서 무엇이 되었나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36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HONEST DIAGNOSIS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①은 70%, </a:t>
            </a: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②는 20%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우리는 무엇을 모르는가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225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r>
              <a:rPr lang="en-US" sz="1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62656"/>
            <a:ext cx="3338017" cy="1280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 기술 내재화는 얻었습니다.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표준이 없는 것이 남았습니다.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9924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5956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고객은 무엇을 원하는가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5956" y="23225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6505956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5956" y="2962656"/>
            <a:ext cx="953719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505956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찾았고 기능도 거의 만들었습니다.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고객에게 나간 것이 하나도 없습니다.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57600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 중 고객에게 나가는 것은 3개 — 전부 시연용.  주문접수 자동화 4개 — 실배포 0건.  </a:t>
            </a: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실패와 같은 자리에 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개발 없음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 · 코일번호 태깅 100% · 품질이력↔작업데이터 연결 · 도구 3개 현장 상주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5592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5048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만들고 창구를 엽니다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 · 화면이 판정 · 포털 실서비스 전환(1곳) · 품질 결과 1호 발행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52816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2272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2272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24시간을 완성하고 값을 받습니다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 실배포 · 상세본 유상화 · 계약서 명시 · 보관 대행 요율 계약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지금 어디까지 왔나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37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US IN A YEAR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뒤에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이걸로 확인해 주십시오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5280660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57984"/>
            <a:ext cx="27432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품질과 기술이 단단해졌는지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있는 사양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0" y="26334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5424" y="2633472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이탈률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안 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35424" y="3108960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측정·하락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511296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84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결측률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3584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존재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06240" y="3584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35424" y="3584448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3% 이하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3986784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599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 태깅률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0" y="40599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35424" y="4059936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" y="4462272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53542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셋업 시간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26080" y="45354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안 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0" y="4535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35424" y="4535424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측정·하락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4400" y="4937760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010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재작업·클레임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926080" y="50109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산재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06240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35424" y="5010912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집계·하락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14400" y="5413248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504688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"측정 안 됨 → 측정됨"도 성과입니다.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49924" y="19659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9924" y="1965960"/>
            <a:ext cx="5280660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6505956" y="2157984"/>
            <a:ext cx="265176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24시간이 실제로 열렸는지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05956" y="26334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창구 쓰는 거래처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791956" y="26334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(시연만)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925812" y="26334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54996" y="2633472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5곳+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505956" y="3035808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47" name="Shape 45"/>
          <p:cNvSpPr/>
          <p:nvPr/>
        </p:nvSpPr>
        <p:spPr>
          <a:xfrm>
            <a:off x="6432804" y="3072384"/>
            <a:ext cx="49149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505956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외 접속 비율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791956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925812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254996" y="3108960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30%+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505956" y="35844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발주 비율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791956" y="3584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925812" y="3584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254996" y="3584448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30%+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505956" y="3986784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7" name="Text 55"/>
          <p:cNvSpPr/>
          <p:nvPr/>
        </p:nvSpPr>
        <p:spPr>
          <a:xfrm>
            <a:off x="6505956" y="40599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받는 거래처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791956" y="40599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0곳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925812" y="40599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254996" y="4059936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5곳+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505956" y="4462272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2" name="Text 60"/>
          <p:cNvSpPr/>
          <p:nvPr/>
        </p:nvSpPr>
        <p:spPr>
          <a:xfrm>
            <a:off x="6505956" y="45354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문의 전화 건수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791956" y="45354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수준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9925812" y="4535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54996" y="4535424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감소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505956" y="4937760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7" name="Text 65"/>
          <p:cNvSpPr/>
          <p:nvPr/>
        </p:nvSpPr>
        <p:spPr>
          <a:xfrm>
            <a:off x="6505956" y="50109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적힌 견적서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8791956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9925812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254996" y="5010912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6505956" y="5413248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72" name="Text 70"/>
          <p:cNvSpPr/>
          <p:nvPr/>
        </p:nvSpPr>
        <p:spPr>
          <a:xfrm>
            <a:off x="6505956" y="5504688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밤·주말에 고객이 들어오면 진짜 24시간 회사, 낮에만 들어오면 화면 하나 더 만든 것입니다.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지금 어디까지 왔나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38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</a:t>
            </a: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요청드립니다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72216" cy="73152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74520"/>
            <a:ext cx="10323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</a:t>
            </a: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직접 물어볼 수 있는 역량</a:t>
            </a: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투자하는 지원입니다.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347776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6112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명, 현장에 적용할 한 명.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389120"/>
            <a:ext cx="300228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389120"/>
            <a:ext cx="2746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41개를 저 혼자 만들고 있습니다. 혼자서도 여기까지 왔습니다.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혼자가 아니면 어디까지 갈 수 있을지 확인하고 싶습니다.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5592" y="2788920"/>
            <a:ext cx="347776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5592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336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3336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품질측정 완성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93336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공정의 품질측정을 완성해 24시간 품질 결과 제공을 끝까지 완성하고,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93336" y="4389120"/>
            <a:ext cx="30022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721352" y="4389120"/>
            <a:ext cx="2746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만든 것을 다른 공장도 쓸 수 있는 형태로 정리하는 데 쓰겠습니다.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52816" y="2788920"/>
            <a:ext cx="3477768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2816" y="2788920"/>
            <a:ext cx="3477768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560" y="2962656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kern="0" spc="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채널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90560" y="3218688"/>
            <a:ext cx="3020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90560" y="374904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공개 실증장을 열어 다른 공장이 보러 오게 하고,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90560" y="4389120"/>
            <a:ext cx="30022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8418576" y="4389120"/>
            <a:ext cx="27462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프로그램을 운영하겠습니다.  2027 시범 → 2028 반월시화 확대.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요청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39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02412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고향으로 돌아오는 데 20년이 걸렸다고 합니다.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42646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</a:t>
            </a:r>
            <a:r>
              <a:rPr lang="en-US" sz="3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</a:t>
            </a: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걸렸습니다.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배운 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장비를 연결하고, 실시간으로 지켜보고, 기준을 만들고, 원인을 분석해 다시는 안 생기게 하는 것.
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통신망은 24시간 돕니다. 사람이 자는 동안에도.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3388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헛되지 않았습니다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3388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번째는 </a:t>
            </a: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남겼고, 두 번째는 </a:t>
            </a: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남겼습니다.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AI가 그 데이터에 물어볼 방법을 가져다주었습니다.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품질과, 직접 만들고 고칠 수 있는 기술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277356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8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7356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517550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있습니다.  저희도 다시 짓고 있습니다.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5650992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852160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r>
              <a:rPr lang="en-US" sz="2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16368" y="5961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 질문에서만 나옵니다.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4378</Words>
  <Application>Microsoft Office PowerPoint</Application>
  <PresentationFormat>와이드스크린</PresentationFormat>
  <Paragraphs>948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AX 전환 — 산업통상자원부 장관 보고</dc:title>
  <dc:subject>PptxGenJS Presentation</dc:subject>
  <dc:creator>오성철강</dc:creator>
  <cp:lastModifiedBy>대균 정</cp:lastModifiedBy>
  <cp:revision>15</cp:revision>
  <dcterms:created xsi:type="dcterms:W3CDTF">2026-09-14T04:15:28Z</dcterms:created>
  <dcterms:modified xsi:type="dcterms:W3CDTF">2026-09-14T04:56:51Z</dcterms:modified>
</cp:coreProperties>
</file>