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975104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 잠실 주경기장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606040" y="640080"/>
            <a:ext cx="781812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515868" y="640080"/>
            <a:ext cx="1179576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23460" y="640080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자체개발 41개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11858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낮에만 도는 공장에서,
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회사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실패하고 남은 것은 </a:t>
            </a:r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5074920"/>
            <a:ext cx="11185855" cy="32004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53035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AX 전환 종합 보고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" y="57058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산업통상자원부 장관 보고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18320" y="57058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621024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보고의 전체 구조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1118585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남기고,</a:t>
            </a:r>
            <a:endParaRPr lang="en-US" sz="2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그것에 </a:t>
            </a:r>
            <a:endParaRPr lang="en-US" sz="2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방법</a:t>
            </a:r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가져왔습니다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2304288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95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실패 · 장비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883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올랐지만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그대로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511296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027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실패 · AI 품질측정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9534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대상은 받았지만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매출은 그대로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07792" y="2834640"/>
            <a:ext cx="384048" cy="329184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907792" y="3621024"/>
            <a:ext cx="384048" cy="411480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46704" y="2706624"/>
            <a:ext cx="2514600" cy="1737360"/>
          </a:xfrm>
          <a:prstGeom prst="roundRect">
            <a:avLst>
              <a:gd name="adj" fmla="val 3684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8163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3145536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생산성 높은 장비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정밀 품질 측정 자료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공정 데이터 187만 건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93008" y="4096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이전엔 쓸 수 없었다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61888" y="3575304"/>
            <a:ext cx="457200" cy="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73952" y="2304288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395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20256" y="268833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73952" y="3849624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39410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20256" y="4233672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고객들은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62288" y="3008376"/>
            <a:ext cx="365760" cy="0"/>
          </a:xfrm>
          <a:prstGeom prst="line">
            <a:avLst/>
          </a:prstGeom>
          <a:noFill/>
          <a:ln w="31750">
            <a:solidFill>
              <a:srgbClr val="06764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62288" y="4553712"/>
            <a:ext cx="365760" cy="0"/>
          </a:xfrm>
          <a:prstGeom prst="line">
            <a:avLst/>
          </a:prstGeom>
          <a:noFill/>
          <a:ln w="31750">
            <a:solidFill>
              <a:srgbClr val="06764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82912" y="2304288"/>
            <a:ext cx="2130552" cy="1417320"/>
          </a:xfrm>
          <a:prstGeom prst="roundRect">
            <a:avLst>
              <a:gd name="adj" fmla="val 4516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10928" y="250545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10928" y="33467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70%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582912" y="3849624"/>
            <a:ext cx="2130552" cy="1417320"/>
          </a:xfrm>
          <a:prstGeom prst="roundRect">
            <a:avLst>
              <a:gd name="adj" fmla="val 4516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0928" y="4032504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회사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10928" y="4754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20%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남았습니다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5532120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10182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532120"/>
            <a:ext cx="108200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장비는 낮에만 돕니다. 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24시간 돕니다.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우리는 어떤 회사인가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전기차도, 건물도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공정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지나갑니다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148840" cy="1691640"/>
          </a:xfrm>
          <a:prstGeom prst="roundRect">
            <a:avLst>
              <a:gd name="adj" fmla="val 3784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제철소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2240280"/>
            <a:ext cx="1143000" cy="658368"/>
          </a:xfrm>
          <a:prstGeom prst="ellipse">
            <a:avLst/>
          </a:prstGeom>
          <a:solidFill>
            <a:srgbClr val="D0D5DD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450592"/>
            <a:ext cx="329184" cy="237744"/>
          </a:xfrm>
          <a:prstGeom prst="ellipse">
            <a:avLst/>
          </a:prstGeom>
          <a:solidFill>
            <a:srgbClr val="98A2B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거친 두루마리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61488" y="2542032"/>
            <a:ext cx="365760" cy="0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82112" y="146304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EF0FF"/>
          </a:solidFill>
          <a:ln w="317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591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2029968"/>
            <a:ext cx="162763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122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83280" y="236829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폭으로 자름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02352" y="202996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1122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02352" y="23682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휜 것을 펴줌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798064"/>
            <a:ext cx="318211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907792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검사 · 두께 측정 (전수)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21424" y="2542032"/>
            <a:ext cx="365760" cy="0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42048" y="1691640"/>
            <a:ext cx="2103120" cy="1691640"/>
          </a:xfrm>
          <a:prstGeom prst="roundRect">
            <a:avLst>
              <a:gd name="adj" fmla="val 3784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8288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공장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42048" y="22311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문짝 · 골조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 부품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42048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쓸 수 있는 상태로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28048" y="1691640"/>
            <a:ext cx="2176272" cy="1691640"/>
          </a:xfrm>
          <a:prstGeom prst="roundRect">
            <a:avLst>
              <a:gd name="adj" fmla="val 3784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18105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28048" y="2157984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공정을 하는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공장들이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28048" y="281635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닫고 있습니다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3858768"/>
            <a:ext cx="11185855" cy="1188720"/>
          </a:xfrm>
          <a:prstGeom prst="roundRect">
            <a:avLst>
              <a:gd name="adj" fmla="val 5385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041648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완성차가 세계에서 경쟁하려면 </a:t>
            </a:r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소재가 적정한 가격에</a:t>
            </a:r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들어가야 합니다.
</a:t>
            </a:r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소재가 흔들리면 그 위의 산업 전체가 흔들립니다.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우리는 어떤 회사인가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저희는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만들었습니다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1051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58952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제조 회사였습니다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0358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서울에서 가장 큰 건물의 지붕을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맡을 기술이 있었습니다.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66420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9202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58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325112" y="29443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년이 지났습니다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47304" y="1664208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81051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03336" y="2651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경기장은 다시 짓고 있고,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그대로였습니다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11185855" cy="1691640"/>
          </a:xfrm>
          <a:prstGeom prst="roundRect">
            <a:avLst>
              <a:gd name="adj" fmla="val 3784"/>
            </a:avLst>
          </a:prstGeom>
          <a:solidFill>
            <a:srgbClr val="101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10637215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
</a:t>
            </a:r>
            <a:pPr algn="ctr" indent="0" marL="0">
              <a:lnSpc>
                <a:spcPct val="145000"/>
              </a:lnSpc>
              <a:buNone/>
            </a:pPr>
            <a:r>
              <a:rPr lang="en-US" sz="2500" b="1" dirty="0">
                <a:solidFill>
                  <a:srgbClr val="FDA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회사도 오래되었고, 기계도 오래되었고, 사람도 오래되었습니다.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우리는 어떤 회사인가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오성철강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26700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직원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74136" y="164592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1828800"/>
            <a:ext cx="26700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74136" y="28803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74136" y="3255264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설명서는 전부 한국어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164592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828800"/>
            <a:ext cx="26700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245352" y="28803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경력(년)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5352" y="3255264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정년이 눈앞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16568" y="1645920"/>
            <a:ext cx="2670048" cy="2148840"/>
          </a:xfrm>
          <a:prstGeom prst="roundRect">
            <a:avLst>
              <a:gd name="adj" fmla="val 2979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1828800"/>
            <a:ext cx="26700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9116568" y="28803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라인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6568" y="3255264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레벨링·슬리터1·2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11185855" cy="1417320"/>
          </a:xfrm>
          <a:prstGeom prst="roundRect">
            <a:avLst>
              <a:gd name="adj" fmla="val 4516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60520"/>
            <a:ext cx="1054577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그동안 </a:t>
            </a:r>
            <a:pPr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요구하는 품질 수준은 계속 올라갔습니다.</a:t>
            </a:r>
            <a:pPr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따라가지 못했습니다.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· 두 번의 실패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바꿨습니다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1907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생각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197510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"생산성을 올리면 살아남는다"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017520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" y="327355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실제로 올랐습니다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2920" y="4224528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315968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45720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값은 오르지 않았습니다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144768" y="1627632"/>
            <a:ext cx="5544007" cy="3602736"/>
          </a:xfrm>
          <a:prstGeom prst="roundRect">
            <a:avLst>
              <a:gd name="adj" fmla="val 1777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792224"/>
            <a:ext cx="1179576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그랬을까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64808" y="2331720"/>
            <a:ext cx="16916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2606040"/>
            <a:ext cx="1005840" cy="804672"/>
          </a:xfrm>
          <a:prstGeom prst="ellipse">
            <a:avLst/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798064"/>
            <a:ext cx="530352" cy="420624"/>
          </a:xfrm>
          <a:prstGeom prst="ellipse">
            <a:avLst/>
          </a:prstGeom>
          <a:solidFill>
            <a:srgbClr val="C7C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40156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비싼 세탁기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750808" y="2331720"/>
            <a:ext cx="2572207" cy="1325880"/>
          </a:xfrm>
          <a:prstGeom prst="roundRect">
            <a:avLst>
              <a:gd name="adj" fmla="val 4828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2248" y="2468880"/>
            <a:ext cx="2389327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그 세탁기를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수 없습니다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42248" y="3218688"/>
            <a:ext cx="2389327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세탁비를 못 올립니다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19088" y="3931920"/>
            <a:ext cx="49953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입장에서는 저희가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기계를 쓰는지 볼 방법이 없었습니다.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· 두 번의 실패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품질측정을 만들었습니다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931920" cy="3611880"/>
          </a:xfrm>
          <a:prstGeom prst="roundRect">
            <a:avLst>
              <a:gd name="adj" fmla="val 1772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179576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 최초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불량 측정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철판을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눈으로는 볼 수 없습니다.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기계는 해냈습니다.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3474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4773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수상까지 했습니다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1709928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사업은 실패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084832"/>
            <a:ext cx="6979615" cy="1170432"/>
          </a:xfrm>
          <a:prstGeom prst="roundRect">
            <a:avLst>
              <a:gd name="adj" fmla="val 5469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203704"/>
            <a:ext cx="657727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현장이 쓰지 않았습니다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10328" y="2560320"/>
            <a:ext cx="657727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보려면 다른 프로그램을 따로 켜야 했습니다. 작업자는 이미 여러 시스템에 같은 내용을 반복 입력하고 있었습니다.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3383280"/>
            <a:ext cx="6979615" cy="1170432"/>
          </a:xfrm>
          <a:prstGeom prst="roundRect">
            <a:avLst>
              <a:gd name="adj" fmla="val 5469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502152"/>
            <a:ext cx="6577279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고객이 알지 못했습니다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0328" y="3858768"/>
            <a:ext cx="657727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검사를 한다는 사실이 고객에게 전달될 통로가 없었습니다.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709160" y="4681728"/>
            <a:ext cx="6979615" cy="822960"/>
          </a:xfrm>
          <a:prstGeom prst="roundRect">
            <a:avLst>
              <a:gd name="adj" fmla="val 7778"/>
            </a:avLst>
          </a:prstGeom>
          <a:solidFill>
            <a:srgbClr val="101828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4681728"/>
            <a:ext cx="657727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그래서 매출은 그대로였습니다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998464" cy="365760"/>
          </a:xfrm>
          <a:prstGeom prst="roundRect">
            <a:avLst>
              <a:gd name="adj" fmla="val 1500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· 두 번 다 같은 착각이었습니다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118872" cy="1325880"/>
          </a:xfrm>
          <a:prstGeom prst="rect">
            <a:avLst/>
          </a:prstGeom>
          <a:solidFill>
            <a:srgbClr val="D92D2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7772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것을 갖추면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인정받는다"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325880" y="2788920"/>
            <a:ext cx="4572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8803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554480" y="31272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72200" y="2788920"/>
            <a:ext cx="4572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803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31272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검사 시스템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25880" y="3950208"/>
            <a:ext cx="9539935" cy="1188720"/>
          </a:xfrm>
          <a:prstGeom prst="roundRect">
            <a:avLst>
              <a:gd name="adj" fmla="val 5385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950208"/>
            <a:ext cx="91741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훌륭했습니다. 그런데 둘 다
</a:t>
            </a:r>
            <a:pPr algn="ctr" indent="0" marL="0">
              <a:lnSpc>
                <a:spcPct val="140000"/>
              </a:lnSpc>
              <a:buNone/>
            </a:pPr>
            <a:r>
              <a:rPr lang="en-US" sz="25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볼 수 없는 곳에 있었습니다.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02920" y="53492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목표를 세운 게 아니라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구매와 개발을 한 것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  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IT를 30년 한 저도 이것을 몰랐습니다.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907792" cy="365760"/>
          </a:xfrm>
          <a:prstGeom prst="roundRect">
            <a:avLst>
              <a:gd name="adj" fmla="val 15000"/>
            </a:avLst>
          </a:prstGeom>
          <a:solidFill>
            <a:srgbClr val="FFFA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· 전환점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남긴 것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있었습니다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584448" cy="2926080"/>
          </a:xfrm>
          <a:prstGeom prst="roundRect">
            <a:avLst>
              <a:gd name="adj" fmla="val 2188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73936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1차가 남긴 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176272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04088" y="3017520"/>
            <a:ext cx="3182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못 올렸지만 생산 능력 자체는 확보했습니다. 지금도 돌고 있습니다.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584448" cy="2926080"/>
          </a:xfrm>
          <a:prstGeom prst="roundRect">
            <a:avLst>
              <a:gd name="adj" fmla="val 2188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773936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2차가 남긴 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44568" y="2176272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타사에 없는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4568" y="3017520"/>
            <a:ext cx="3182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사업은 실패했지만 작동은 계속했습니다. 표면 전수 촬영, 결함 위치, 영상, 두께 — 매일, 모든 코일에.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3880" y="1627632"/>
            <a:ext cx="3584448" cy="2926080"/>
          </a:xfrm>
          <a:prstGeom prst="roundRect">
            <a:avLst>
              <a:gd name="adj" fmla="val 2188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773936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장비가 남긴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85048" y="2176272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수백만 건의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85048" y="2999232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4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 건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85048" y="371246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기록만 182만 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864608"/>
            <a:ext cx="11185855" cy="1115568"/>
          </a:xfrm>
          <a:prstGeom prst="roundRect">
            <a:avLst>
              <a:gd name="adj" fmla="val 5738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64608"/>
            <a:ext cx="11185855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팔 줄을 몰랐을 뿐, 가지고는 있었습니다.
</a:t>
            </a:r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그런데 아무도 보지 않았습니다. 그냥 쌓이고 있었습니다.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907792" cy="365760"/>
          </a:xfrm>
          <a:prstGeom prst="roundRect">
            <a:avLst>
              <a:gd name="adj" fmla="val 15000"/>
            </a:avLst>
          </a:prstGeom>
          <a:solidFill>
            <a:srgbClr val="FFFA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· 전환점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이전에는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 데이터로 아무것도 할 수 없었습니다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584448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82496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600" b="1" dirty="0">
                <a:solidFill>
                  <a:srgbClr val="E4E7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04088" y="2450592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사람이 없었습니다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3255264"/>
            <a:ext cx="3182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회사에 데이터 분석 인력이 있을 수 없습니다. 채용하려 해도 그 인력이 올 만한 회사가 아닙니다.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584448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82496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600" b="1" dirty="0">
                <a:solidFill>
                  <a:srgbClr val="E4E7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44568" y="2450592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사려면 먼저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볼지 정해야 했습니다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44568" y="3255264"/>
            <a:ext cx="3182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견적은 수천만 원. 발주하려면 명세서에 써야 합니다. 그런데 무엇을 봐야 하는지 몰랐습니다.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3880" y="1627632"/>
            <a:ext cx="3584448" cy="2697480"/>
          </a:xfrm>
          <a:prstGeom prst="roundRect">
            <a:avLst>
              <a:gd name="adj" fmla="val 2373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682496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600" b="1" dirty="0">
                <a:solidFill>
                  <a:srgbClr val="FDA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85048" y="2450592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이유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몰랐습니다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3255264"/>
            <a:ext cx="3182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질문에만 답합니다.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617720"/>
            <a:ext cx="11185855" cy="1371600"/>
          </a:xfrm>
          <a:prstGeom prst="roundRect">
            <a:avLst>
              <a:gd name="adj" fmla="val 4667"/>
            </a:avLst>
          </a:prstGeom>
          <a:solidFill>
            <a:srgbClr val="10182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106372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없으면 데이터는 </a:t>
            </a:r>
            <a:pPr algn="ctr" indent="0" marL="0">
              <a:lnSpc>
                <a:spcPct val="150000"/>
              </a:lnSpc>
              <a:buNone/>
            </a:pPr>
            <a:r>
              <a:rPr lang="en-US" sz="23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창고에 쌓인 재고</a:t>
            </a:r>
            <a:pPr algn="ctr" indent="0" marL="0">
              <a:lnSpc>
                <a:spcPct val="15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같습니다.
</a:t>
            </a:r>
            <a:pPr algn="ctr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D0D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자산으로 잡혀 있지만 아무것도 만들어내지 않습니다.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907792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· 전환점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나오자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풀렸습니다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584448" cy="2788920"/>
          </a:xfrm>
          <a:prstGeom prst="roundRect">
            <a:avLst>
              <a:gd name="adj" fmla="val 229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73936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됩니다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2249424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60개, 2주치 기록을 훑는 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" y="3127248"/>
            <a:ext cx="3182112" cy="22860"/>
          </a:xfrm>
          <a:prstGeom prst="rect">
            <a:avLst/>
          </a:prstGeom>
          <a:solidFill>
            <a:srgbClr val="A6F4C5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41448" y="26700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" y="32735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41448" y="320040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43400" y="1627632"/>
            <a:ext cx="3584448" cy="2788920"/>
          </a:xfrm>
          <a:prstGeom prst="roundRect">
            <a:avLst>
              <a:gd name="adj" fmla="val 229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1773936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질문을 해도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안 듭니다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44568" y="2578608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결정적이었습니다.</a:t>
            </a:r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예전엔 질문 하나 확인하려면 발주서를 써야 했습니다.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44568" y="3346704"/>
            <a:ext cx="3182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3346704"/>
            <a:ext cx="296265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되니까 많이 물었고,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물으니까 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나왔습니다.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83880" y="1627632"/>
            <a:ext cx="3584448" cy="2788920"/>
          </a:xfrm>
          <a:prstGeom prst="roundRect">
            <a:avLst>
              <a:gd name="adj" fmla="val 229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1773936"/>
            <a:ext cx="3182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만드는 것까지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할 수 있게 됐습니다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83880" y="2560320"/>
            <a:ext cx="35844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183880" y="3511296"/>
            <a:ext cx="35844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서비스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83880" y="3840480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30개가 실데이터로 돌아감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85048" y="41148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만든 것은 조잡했습니다. 그래도 하나씩 만들었습니다.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663440"/>
            <a:ext cx="11185855" cy="1188720"/>
          </a:xfrm>
          <a:prstGeom prst="roundRect">
            <a:avLst>
              <a:gd name="adj" fmla="val 5385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663440"/>
            <a:ext cx="106372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</a:t>
            </a:r>
            <a:pPr algn="ctr"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자산을 쌓아두는 일</a:t>
            </a:r>
            <a:pPr algn="ctr"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이었고, 그것을 쓸 도구가 </a:t>
            </a:r>
            <a:pPr algn="ctr"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뒤늦게 도착</a:t>
            </a:r>
            <a:pPr algn="ctr"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것이었습니다.
</a:t>
            </a:r>
            <a:pPr algn="ctr"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헛되지 않았던 이유는 잘했기 때문이 아닙니다. 버티고 있었기 때문입니다.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998464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 · 그래서 질문을 다시 바꿨습니다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strike="sngStrike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"무엇을 도입하면 경쟁력이 생길까"  —  두 번 다 틀렸습니다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EEF0FF"/>
          </a:solidFill>
          <a:ln w="3175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2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보는 질문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품질이 완벽해집니다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EEF0FF"/>
          </a:solidFill>
          <a:ln w="31750">
            <a:solidFill>
              <a:srgbClr val="C7C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2996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2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629400" y="40233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보는 질문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받을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145536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 · 두 질문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한쪽만으로는 안 됩니다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두 번의 실패였습니다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만 하면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48840" y="2578608"/>
            <a:ext cx="0" cy="329184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2962656"/>
            <a:ext cx="3291840" cy="896112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62656"/>
            <a:ext cx="3291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품질은 좋아지는데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모릅니다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684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첫 번째 실패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396935" y="164592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6935" y="1645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만 하면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42855" y="2578608"/>
            <a:ext cx="0" cy="329184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96935" y="2962656"/>
            <a:ext cx="3291840" cy="896112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6935" y="2962656"/>
            <a:ext cx="3291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 것은 있는데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없습니다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396935" y="3968496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6935" y="39684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두 번째 실패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178808" y="2395728"/>
            <a:ext cx="3834079" cy="1554480"/>
          </a:xfrm>
          <a:prstGeom prst="roundRect">
            <a:avLst>
              <a:gd name="adj" fmla="val 4118"/>
            </a:avLst>
          </a:prstGeom>
          <a:solidFill>
            <a:srgbClr val="ECFDF3"/>
          </a:solidFill>
          <a:ln w="31750">
            <a:solidFill>
              <a:srgbClr val="0676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2395728"/>
            <a:ext cx="3468319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①과 ②를</a:t>
            </a:r>
            <a:endParaRPr lang="en-US" sz="2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물어야 했습니다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2920" y="4983480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10182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83480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아는 데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걸렸습니다.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236208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질문 ① 우리는 무엇을 모르는가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8585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시스템을 만들지 않았습니다
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답하지 못하는 질문을 하나씩 없앴습니다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084832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340864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27048" y="22860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잘 돌아가고 있나?"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27048" y="288950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감으로 판단 · 공장장 머릿속에만 있었다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84832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2340864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287768" y="22860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"아까 그 불량, 그때 어떻게 돌렸더라?"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87768" y="288950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의존 · 그래서 같은 불량이 또 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82219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527048" y="376732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우리 잘못인가, 원래 그랬나?"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27048" y="43708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숫자만으로는 표면 흠집을 가릴 수 없었다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82219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287768" y="376732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데이터는 믿을 만한가?"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87768" y="43708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질문이었고, 답은 "아니오"였다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몰랐던 것 ①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순간을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숫자로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보게 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514600" cy="4160520"/>
          </a:xfrm>
          <a:prstGeom prst="roundRect">
            <a:avLst>
              <a:gd name="adj" fmla="val 5091"/>
            </a:avLst>
          </a:prstGeom>
          <a:solidFill>
            <a:srgbClr val="1D2939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2084832"/>
            <a:ext cx="2258568" cy="3575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556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· 슬리터2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7556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162205708302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" y="2505456"/>
            <a:ext cx="2002536" cy="96012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19050">
            <a:solidFill>
              <a:srgbClr val="A6F4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786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속도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7797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mpm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68680" y="321868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78~85 · 적정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" y="3547872"/>
            <a:ext cx="61874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602736"/>
            <a:ext cx="618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8952" y="3785616"/>
            <a:ext cx="6187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50848" y="3547872"/>
            <a:ext cx="61874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0848" y="3602736"/>
            <a:ext cx="618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50848" y="3785616"/>
            <a:ext cx="6187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42744" y="3547872"/>
            <a:ext cx="618744" cy="603504"/>
          </a:xfrm>
          <a:prstGeom prst="roundRect">
            <a:avLst>
              <a:gd name="adj" fmla="val 10606"/>
            </a:avLst>
          </a:prstGeom>
          <a:solidFill>
            <a:srgbClr val="FFFAEB"/>
          </a:solidFill>
          <a:ln w="17780">
            <a:solidFill>
              <a:srgbClr val="FEC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2744" y="3602736"/>
            <a:ext cx="618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2744" y="3785616"/>
            <a:ext cx="6187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" y="42428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 995 / 1,989 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4498848"/>
            <a:ext cx="2002536" cy="12801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" y="4498848"/>
            <a:ext cx="1001268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1627632"/>
            <a:ext cx="8305495" cy="1874520"/>
          </a:xfrm>
          <a:prstGeom prst="roundRect">
            <a:avLst>
              <a:gd name="adj" fmla="val 3415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773936"/>
            <a:ext cx="649224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11880" y="2157984"/>
            <a:ext cx="784829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</a:t>
            </a:r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 소리와 손끝 감각</a:t>
            </a:r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판단했습니다. 40년 경력 공장장님은 아셨습니다. 그런데 그 감각은 </a:t>
            </a:r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어디에도 적혀 있지 않았습니다.
</a:t>
            </a:r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퇴직하시면 같이 사라지는 것이었습니다.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8305495" cy="2084832"/>
          </a:xfrm>
          <a:prstGeom prst="roundRect">
            <a:avLst>
              <a:gd name="adj" fmla="val 3070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803904"/>
            <a:ext cx="64922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11880" y="4187952"/>
            <a:ext cx="784829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태블릿과 휴대폰에 </a:t>
            </a:r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순간의 속도와 힘</a:t>
            </a:r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큰 숫자로 뜹니다.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공장장님이 암산하던 설정값은 화면이 알려줍니다.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11880" y="5230368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크게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86884" y="5230368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한국어판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29300" y="5230368"/>
            <a:ext cx="781812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영어판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몰랐던 것 ②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생긴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시점으로 되감아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볼 수 있게 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514600" cy="4297680"/>
          </a:xfrm>
          <a:prstGeom prst="roundRect">
            <a:avLst>
              <a:gd name="adj" fmla="val 5091"/>
            </a:avLst>
          </a:prstGeom>
          <a:solidFill>
            <a:srgbClr val="1D2939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2084832"/>
            <a:ext cx="2258568" cy="3712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55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 정보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7556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1762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 · 코일 1622057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" y="24140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위치를 움직여 보세요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2670048"/>
            <a:ext cx="2002536" cy="10972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2670048"/>
            <a:ext cx="1241572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1960474" y="2560320"/>
            <a:ext cx="274320" cy="27432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94436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</a:t>
            </a:r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 지점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3401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40156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mpm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" y="3694176"/>
            <a:ext cx="2002536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1~4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749040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/ 2.3 / 0.0 / 2.5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" y="4041648"/>
            <a:ext cx="2002536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096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상태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4096512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" y="4389120"/>
            <a:ext cx="2002536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4443984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09:21:14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" y="4736592"/>
            <a:ext cx="2002536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" y="4864608"/>
            <a:ext cx="2002536" cy="475488"/>
          </a:xfrm>
          <a:prstGeom prst="roundRect">
            <a:avLst>
              <a:gd name="adj" fmla="val 13462"/>
            </a:avLst>
          </a:prstGeom>
          <a:solidFill>
            <a:srgbClr val="FEF3F2"/>
          </a:solidFill>
          <a:ln w="19050">
            <a:solidFill>
              <a:srgbClr val="FDA2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864608"/>
            <a:ext cx="2002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 이상 — 작업 내내 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1627632"/>
            <a:ext cx="8305495" cy="1691640"/>
          </a:xfrm>
          <a:prstGeom prst="roundRect">
            <a:avLst>
              <a:gd name="adj" fmla="val 3784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773936"/>
            <a:ext cx="649224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11880" y="2157984"/>
            <a:ext cx="7848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나와도 </a:t>
            </a:r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순간 기계가 어떤 상태였는지 아무도 답하지 못했습니다.</a:t>
            </a:r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기억은 사람마다 달랐습니다. </a:t>
            </a:r>
            <a:pPr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같은 불량이 또 났습니다.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83280" y="3474720"/>
            <a:ext cx="8305495" cy="2267712"/>
          </a:xfrm>
          <a:prstGeom prst="roundRect">
            <a:avLst>
              <a:gd name="adj" fmla="val 2823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621024"/>
            <a:ext cx="64922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39312" y="416052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67647"/>
          </a:solidFill>
          <a:ln/>
        </p:spPr>
      </p:sp>
      <p:sp>
        <p:nvSpPr>
          <p:cNvPr id="35" name="Text 33"/>
          <p:cNvSpPr/>
          <p:nvPr/>
        </p:nvSpPr>
        <p:spPr>
          <a:xfrm>
            <a:off x="3913632" y="4059936"/>
            <a:ext cx="7482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두루마리 번호 + 위치를 넣으면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지점의 속도·힘이 그대로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39312" y="46908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67647"/>
          </a:solidFill>
          <a:ln/>
        </p:spPr>
      </p:sp>
      <p:sp>
        <p:nvSpPr>
          <p:cNvPr id="37" name="Text 35"/>
          <p:cNvSpPr/>
          <p:nvPr/>
        </p:nvSpPr>
        <p:spPr>
          <a:xfrm>
            <a:off x="3913632" y="4590288"/>
            <a:ext cx="7482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막대를 움직이면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구간을 되감아 봄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39312" y="522122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67647"/>
          </a:solidFill>
          <a:ln/>
        </p:spPr>
      </p:sp>
      <p:sp>
        <p:nvSpPr>
          <p:cNvPr id="39" name="Text 37"/>
          <p:cNvSpPr/>
          <p:nvPr/>
        </p:nvSpPr>
        <p:spPr>
          <a:xfrm>
            <a:off x="3913632" y="5120640"/>
            <a:ext cx="7482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 이름만 넣으면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라인 전체에서 찾아 바로 답변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285232" cy="365760"/>
          </a:xfrm>
          <a:prstGeom prst="roundRect">
            <a:avLst>
              <a:gd name="adj" fmla="val 15000"/>
            </a:avLst>
          </a:prstGeom>
          <a:solidFill>
            <a:srgbClr val="FFFA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여기서 벽에 부딪혔습니다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바꾸지 않고 데이터를 얻었습니다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한 대로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514600" cy="2331720"/>
          </a:xfrm>
          <a:prstGeom prst="roundRect">
            <a:avLst>
              <a:gd name="adj" fmla="val 2745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105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된 장비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691640" cy="822960"/>
          </a:xfrm>
          <a:prstGeom prst="rect">
            <a:avLst/>
          </a:prstGeom>
          <a:solidFill>
            <a:srgbClr val="1D293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12B7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PR-DTC-3100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단자가 없음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922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1 · 장비 교체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6120" y="206654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수천만 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246888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포기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9260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CFDF3"/>
          </a:solidFill>
          <a:ln w="31750">
            <a:solidFill>
              <a:srgbClr val="067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 · 카메라 + AI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3346704"/>
            <a:ext cx="566928" cy="658368"/>
          </a:xfrm>
          <a:prstGeom prst="roundRect">
            <a:avLst>
              <a:gd name="adj" fmla="val 12903"/>
            </a:avLst>
          </a:prstGeom>
          <a:solidFill>
            <a:srgbClr val="1D2939"/>
          </a:solidFill>
          <a:ln/>
        </p:spPr>
      </p:sp>
      <p:sp>
        <p:nvSpPr>
          <p:cNvPr id="18" name="Shape 16"/>
          <p:cNvSpPr/>
          <p:nvPr/>
        </p:nvSpPr>
        <p:spPr>
          <a:xfrm>
            <a:off x="3922776" y="347472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453128" y="352958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1대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502920" cy="0"/>
          </a:xfrm>
          <a:prstGeom prst="line">
            <a:avLst/>
          </a:prstGeom>
          <a:noFill/>
          <a:ln w="31750">
            <a:solidFill>
              <a:srgbClr val="067647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852160" y="2880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화면의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읽음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9400" y="1691640"/>
            <a:ext cx="5059375" cy="2468880"/>
          </a:xfrm>
          <a:prstGeom prst="roundRect">
            <a:avLst>
              <a:gd name="adj" fmla="val 259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874520"/>
            <a:ext cx="46021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1분마다 6개 값이 자동 기록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0" y="237744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출력% · 전압 · 두께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시작경 · 장력설정 · 장력율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3401568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데이터베이스에 계속 쌓임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11185855" cy="1170432"/>
          </a:xfrm>
          <a:prstGeom prst="roundRect">
            <a:avLst>
              <a:gd name="adj" fmla="val 5469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89120"/>
            <a:ext cx="10637215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오래된 기계라고 데이터를 못 얻는 게 아니었습니다.  </a:t>
            </a:r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몰랐던 것입니다.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711696" cy="365760"/>
          </a:xfrm>
          <a:prstGeom prst="roundRect">
            <a:avLst>
              <a:gd name="adj" fmla="val 1500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몰랐던 것 ④ — 가장 중요한 질문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숫자를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믿지 않고, 확인합니다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584448" cy="2880360"/>
          </a:xfrm>
          <a:prstGeom prst="roundRect">
            <a:avLst>
              <a:gd name="adj" fmla="val 222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73936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설비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난 센서를 찾아냈습니다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257860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3/4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센서가 작업 내내 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04088" y="3182112"/>
            <a:ext cx="3182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60개·2주치를 한 번에 훑어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발견. 가공 문제가 아니라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배선이 끊어져 있던 것.
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눈으로는 평생 못 찾을 문제입니다.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627632"/>
            <a:ext cx="3584448" cy="2880360"/>
          </a:xfrm>
          <a:prstGeom prst="roundRect">
            <a:avLst>
              <a:gd name="adj" fmla="val 222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73936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납품받은 시스템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44568" y="2157984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검사 시스템을 뜯어봤습니다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44568" y="25786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20건 중 문제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0528" y="2523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44568" y="2926080"/>
            <a:ext cx="3182112" cy="16459"/>
          </a:xfrm>
          <a:prstGeom prst="rect">
            <a:avLst/>
          </a:prstGeom>
          <a:solidFill>
            <a:srgbClr val="FDA29B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30175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시험용 가짜 데이터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0528" y="29626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44568" y="3364992"/>
            <a:ext cx="3182112" cy="16459"/>
          </a:xfrm>
          <a:prstGeom prst="rect">
            <a:avLst/>
          </a:prstGeom>
          <a:solidFill>
            <a:srgbClr val="FDA29B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34564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측정값 (표본 5건)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0528" y="3401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44568" y="3986784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아예 돌고 있지 않았습니다.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83880" y="1627632"/>
            <a:ext cx="3584448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1773936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만든 것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85048" y="2157984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 것도 의심했습니다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85048" y="26517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시간씩 어긋남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385048" y="3474720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시각이 밀려 기록되던 오류를 </a:t>
            </a:r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 전부 고쳤습니다.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68172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10182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681728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건이 있어도,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검증하지 않은 데이터는 자산이 아니라 위험입니다.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285232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첫 번째 질문이 남긴 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것 1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1051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공정이 표준화됐습니다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2578608"/>
            <a:ext cx="22677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감으로 하던 작업이 숫자가 되니 누가 작업하든 같은 기준이 됩니다. 경력 40년이든 입사 한 달이든 같은 화면, 같은 값.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74136" y="164592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81051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불량이 거의 사라졌습니다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75304" y="2578608"/>
            <a:ext cx="22677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계산 도구를 만든 뒤, 기계 설정을 잘못해서 나던 불량은 사실상 없어졌습니다.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64592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1051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검증 체계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578608"/>
            <a:ext cx="22677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표면은 전부 촬영, 운전 조건은 2초마다 기록, 이상은 자동 필터. 샘플로 보지 않습니다. 전부 봅니다.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16568" y="1645920"/>
            <a:ext cx="2670048" cy="2697480"/>
          </a:xfrm>
          <a:prstGeom prst="roundRect">
            <a:avLst>
              <a:gd name="adj" fmla="val 2397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1810512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자체를 검증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17736" y="2578608"/>
            <a:ext cx="22677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센서가 죽었는지, 측정이 돌고 있는지, 기록이 밀렸는지를 의심하고 확인합니다.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11185855" cy="1234440"/>
          </a:xfrm>
          <a:prstGeom prst="roundRect">
            <a:avLst>
              <a:gd name="adj" fmla="val 518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634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장비에 걸맞는 </a:t>
            </a:r>
            <a:pPr algn="ctr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</a:t>
            </a:r>
            <a:pPr algn="ctr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을, 이제 갖췄습니다.
</a:t>
            </a:r>
            <a:pPr algn="ctr"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장비를 샀고, 3차에 그 장비를 제대로 쓰는 기술을 얻었습니다.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285232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첫 번째 질문이 남긴 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것 2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(이게 더 중요할지도 모릅니다)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167128" cy="1188720"/>
          </a:xfrm>
          <a:prstGeom prst="roundRect">
            <a:avLst>
              <a:gd name="adj" fmla="val 538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19072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서비스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1627632"/>
            <a:ext cx="2167128" cy="1188720"/>
          </a:xfrm>
          <a:prstGeom prst="roundRect">
            <a:avLst>
              <a:gd name="adj" fmla="val 538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719072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71216" y="237744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39512" y="1627632"/>
            <a:ext cx="2167128" cy="1188720"/>
          </a:xfrm>
          <a:prstGeom prst="roundRect">
            <a:avLst>
              <a:gd name="adj" fmla="val 538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719072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239512" y="237744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요구 반영 기간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6903720" cy="2798064"/>
          </a:xfrm>
          <a:prstGeom prst="roundRect">
            <a:avLst>
              <a:gd name="adj" fmla="val 2288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1577340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93008"/>
            <a:ext cx="6446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직원들이 장비를 고치기 시작했습니다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3950208"/>
            <a:ext cx="6446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5명이 외국에서 오신 분들. 그런데 설명서도 작업 기준도 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한국어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 — 개선 제안이 나올 수 없는 구조.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한국어·영어 두 벌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만들자, AI의 도움으로 언어의 벽을 넘어 기계 기록을 직접 읽기 시작했습니다.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99248" y="1627632"/>
            <a:ext cx="3989527" cy="4114800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0416" y="1773936"/>
            <a:ext cx="1975104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저희에게 있는 것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00416" y="2157984"/>
            <a:ext cx="3587191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개조 도면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73568" y="2578608"/>
            <a:ext cx="3440887" cy="1417320"/>
          </a:xfrm>
          <a:prstGeom prst="rect">
            <a:avLst/>
          </a:prstGeom>
          <a:solidFill>
            <a:srgbClr val="F9FAFB"/>
          </a:solidFill>
          <a:ln w="15240">
            <a:solidFill>
              <a:srgbClr val="98A2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67928" y="3090672"/>
            <a:ext cx="1965960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101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7616" y="3090672"/>
            <a:ext cx="420624" cy="402336"/>
          </a:xfrm>
          <a:prstGeom prst="ellipse">
            <a:avLst/>
          </a:prstGeom>
          <a:ln w="25400">
            <a:solidFill>
              <a:srgbClr val="101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3090672"/>
            <a:ext cx="420624" cy="402336"/>
          </a:xfrm>
          <a:prstGeom prst="ellipse">
            <a:avLst/>
          </a:prstGeom>
          <a:ln w="25400">
            <a:solidFill>
              <a:srgbClr val="1018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7928" y="3675888"/>
            <a:ext cx="1965960" cy="1280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8567928" y="371246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1,320 mm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91856" y="267004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Ø40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76688" y="26700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Ø20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73568" y="4059936"/>
            <a:ext cx="3440887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롤러 지름 40 · 길이 1,320 · 축 20 · 베어링 규격까지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73568" y="4443984"/>
            <a:ext cx="3440887" cy="1115568"/>
          </a:xfrm>
          <a:prstGeom prst="roundRect">
            <a:avLst>
              <a:gd name="adj" fmla="val 5738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83296" y="4443984"/>
            <a:ext cx="3221431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도면을 그린 사람은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엔지니어가 아니라 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 현장 직원입니다.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가장 큰 변화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요구가 올라왔습니다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739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2차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691640" y="2231136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22311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/ 외부 업체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63240" y="2852928"/>
            <a:ext cx="0" cy="420624"/>
          </a:xfrm>
          <a:prstGeom prst="line">
            <a:avLst/>
          </a:prstGeom>
          <a:noFill/>
          <a:ln w="31750">
            <a:solidFill>
              <a:srgbClr val="D92D2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91640" y="3328416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3284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4015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9867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내려준 것 → 안 썼습니다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68135" y="164592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ECFDF3"/>
          </a:solidFill>
          <a:ln w="31750">
            <a:solidFill>
              <a:srgbClr val="0676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8135" y="17739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56855" y="2231136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6855" y="22311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flipV="1">
            <a:off x="9128455" y="2852928"/>
            <a:ext cx="0" cy="420624"/>
          </a:xfrm>
          <a:prstGeom prst="line">
            <a:avLst/>
          </a:prstGeom>
          <a:noFill/>
          <a:ln w="31750">
            <a:solidFill>
              <a:srgbClr val="06764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56855" y="3328416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6855" y="33284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68135" y="39867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달라고 한 것 → 씁니다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4617720"/>
            <a:ext cx="11185855" cy="1234440"/>
          </a:xfrm>
          <a:prstGeom prst="roundRect">
            <a:avLst>
              <a:gd name="adj" fmla="val 518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1772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시키지도 않았는데 직원들끼리 </a:t>
            </a:r>
            <a:pPr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개선 회의</a:t>
            </a:r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열었습니다. 그리고 </a:t>
            </a:r>
            <a:pPr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"설정값을 계산해주는 도구를 만들어달라"</a:t>
            </a:r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요구가 </a:t>
            </a:r>
            <a:pPr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올라왔습니다.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얼마나 다양하게 쓰는가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직접 만들었고,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30개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실데이터로 돌아갑니다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44068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73936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생산현장 도구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13969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04088" y="2798064"/>
            <a:ext cx="503834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키오스크 · 작업현황 대시보드 1/2/3 · 코일 상세분석 · 레벨링 공정×ERP · 행정 모니터링 · 라인 통합관제(NMS) · PLC 상세조회 · 통합 타임라인 · HMI 미러 · AI 헬퍼 3종 · 슬리터2 모니터 KR/EN · 라인배정 변경 KR/EN · 작업확인 · 재고검색 · 테이퍼 텐션 3종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27632"/>
            <a:ext cx="269748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755648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주문접수 자동화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36792" y="206654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36792" y="2542032"/>
            <a:ext cx="23682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통합흐름 v2 · OCR 문서인식 · 카카오톡 접수 · FAX 작업요청서 · 현장 코일확정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269748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3694176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재무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36792" y="40050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36792" y="4480560"/>
            <a:ext cx="236829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통합 · 거래명세서 입금확인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1627632"/>
            <a:ext cx="26974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755648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대면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71432" y="206654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71432" y="2542032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현황 트래커 · 고객사 챗봇 · 영업대상 리스트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3108960"/>
            <a:ext cx="26974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3236976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· 설비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71432" y="35478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71432" y="402336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장애 원인 분석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4498848"/>
            <a:ext cx="26974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4626864"/>
            <a:ext cx="1179576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연동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71432" y="493776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171432" y="5413248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자동연동 모니터링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321808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5468112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 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276856" y="5468112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28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17036" y="5468112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시험판 8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5468112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개발용 3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얼마나 다양하게 쓰는가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AI가 아닙니다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 방식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씁니다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584448" cy="1810512"/>
          </a:xfrm>
          <a:prstGeom prst="roundRect">
            <a:avLst>
              <a:gd name="adj" fmla="val 353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19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" y="252374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계기판 사진에서 숫자를 읽고, 팩스 작업요청서와 지출 영수증에서 글자를 뽑아냅니다.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3035808"/>
            <a:ext cx="1975104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 · 이미지 인식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27632"/>
            <a:ext cx="3584448" cy="1810512"/>
          </a:xfrm>
          <a:prstGeom prst="roundRect">
            <a:avLst>
              <a:gd name="adj" fmla="val 353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19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44568" y="215798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4568" y="252374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 표면을 전수 촬영해 흠집 위치를 찾아냅니다.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44568" y="3035808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검사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627632"/>
            <a:ext cx="3584448" cy="1810512"/>
          </a:xfrm>
          <a:prstGeom prst="roundRect">
            <a:avLst>
              <a:gd name="adj" fmla="val 353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719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85048" y="2157984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찾아내는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5048" y="252374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60개·2주치를 한 번에 훑어 고장 난 센서와 이상 구간을 걸러냅니다.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85048" y="3035808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탐지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3584448" cy="1810512"/>
          </a:xfrm>
          <a:prstGeom prst="roundRect">
            <a:avLst>
              <a:gd name="adj" fmla="val 353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7490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" y="418795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추천하는 AI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" y="455371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사양 완료 코일들의 실측값으로 권장 속도·힘·예상 가동시간을 제시합니다.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4088" y="5065776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추천 · 완료 예측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3584448" cy="1810512"/>
          </a:xfrm>
          <a:prstGeom prst="roundRect">
            <a:avLst>
              <a:gd name="adj" fmla="val 353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37490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44568" y="418795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답하는 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44568" y="455371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말로 물으면 실제 기록을 근거로 자연어로 답합니다. 사람이 응대하지 않습니다.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44568" y="5065776"/>
            <a:ext cx="1179576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조회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83880" y="3657600"/>
            <a:ext cx="3584448" cy="1810512"/>
          </a:xfrm>
          <a:prstGeom prst="roundRect">
            <a:avLst>
              <a:gd name="adj" fmla="val 353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5048" y="37490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385048" y="4187952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AI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85048" y="455371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분석 도구 자체를 AI로 만들었습니다. 41개가 이 방식으로 나왔습니다.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85048" y="5065776"/>
            <a:ext cx="1709928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자체를 AI로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5742432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742432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06번이 앞의 다섯 개를 가능하게 했습니다.  </a:t>
            </a:r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개발을 AI로 하니, 나머지를 직접 만들 수 있었습니다.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얼마나 다양하게 쓰는가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열리는 화면들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584448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3584448" cy="438912"/>
          </a:xfrm>
          <a:prstGeom prst="rect">
            <a:avLst/>
          </a:prstGeom>
          <a:solidFill>
            <a:srgbClr val="1D293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계산기 · 키오스크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19456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가공규격  0.75 × 4 × 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" y="2523744"/>
            <a:ext cx="1011936" cy="658368"/>
          </a:xfrm>
          <a:prstGeom prst="roundRect">
            <a:avLst>
              <a:gd name="adj" fmla="val 9722"/>
            </a:avLst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578608"/>
            <a:ext cx="101193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스페이서 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4088" y="2761488"/>
            <a:ext cx="10119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789176" y="2523744"/>
            <a:ext cx="101193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9176" y="2578608"/>
            <a:ext cx="101193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9176" y="2761488"/>
            <a:ext cx="10119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74264" y="2523744"/>
            <a:ext cx="101193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4264" y="2578608"/>
            <a:ext cx="101193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74264" y="2761488"/>
            <a:ext cx="10119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04088" y="3273552"/>
            <a:ext cx="3182112" cy="530352"/>
          </a:xfrm>
          <a:prstGeom prst="roundRect">
            <a:avLst>
              <a:gd name="adj" fmla="val 12069"/>
            </a:avLst>
          </a:prstGeom>
          <a:solidFill>
            <a:srgbClr val="ECFDF3"/>
          </a:solidFill>
          <a:ln w="19050">
            <a:solidFill>
              <a:srgbClr val="A6F4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273552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확정 · 합계 8.7mm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3584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공장장 암산을 화면이 대신합니다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1645920"/>
            <a:ext cx="3584448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645920"/>
            <a:ext cx="3584448" cy="438912"/>
          </a:xfrm>
          <a:prstGeom prst="rect">
            <a:avLst/>
          </a:prstGeom>
          <a:solidFill>
            <a:srgbClr val="1D2939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645920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 관제 (NMS)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44568" y="2194560"/>
            <a:ext cx="1011936" cy="658368"/>
          </a:xfrm>
          <a:prstGeom prst="roundRect">
            <a:avLst>
              <a:gd name="adj" fmla="val 9722"/>
            </a:avLst>
          </a:prstGeom>
          <a:solidFill>
            <a:srgbClr val="ECFDF3"/>
          </a:solidFill>
          <a:ln w="17780">
            <a:solidFill>
              <a:srgbClr val="A6F4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2249424"/>
            <a:ext cx="938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● 가동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81144" y="2450592"/>
            <a:ext cx="9387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29656" y="2194560"/>
            <a:ext cx="1011936" cy="658368"/>
          </a:xfrm>
          <a:prstGeom prst="roundRect">
            <a:avLst>
              <a:gd name="adj" fmla="val 9722"/>
            </a:avLst>
          </a:prstGeom>
          <a:solidFill>
            <a:srgbClr val="ECFDF3"/>
          </a:solidFill>
          <a:ln w="17780">
            <a:solidFill>
              <a:srgbClr val="A6F4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6232" y="2249424"/>
            <a:ext cx="938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● 가동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6232" y="2450592"/>
            <a:ext cx="9387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714744" y="2194560"/>
            <a:ext cx="101193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1320" y="2249424"/>
            <a:ext cx="93878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슬리터1 ○ 대기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51320" y="2450592"/>
            <a:ext cx="9387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 flipV="1">
            <a:off x="4572000" y="3224174"/>
            <a:ext cx="250180" cy="8083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2180" y="3224174"/>
            <a:ext cx="281452" cy="38039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103632" y="3095793"/>
            <a:ext cx="250180" cy="16642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53812" y="3095793"/>
            <a:ext cx="250180" cy="6656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603992" y="3057754"/>
            <a:ext cx="281452" cy="104607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85444" y="3057754"/>
            <a:ext cx="250180" cy="6181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135624" y="3038734"/>
            <a:ext cx="250180" cy="8083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5804" y="3038734"/>
            <a:ext cx="281452" cy="104607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667256" y="3081528"/>
            <a:ext cx="250180" cy="6181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7436" y="3081528"/>
            <a:ext cx="250180" cy="9985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167616" y="3119567"/>
            <a:ext cx="281452" cy="61813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49068" y="3119567"/>
            <a:ext cx="250180" cy="4279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44568" y="3602736"/>
            <a:ext cx="3182112" cy="502920"/>
          </a:xfrm>
          <a:prstGeom prst="roundRect">
            <a:avLst>
              <a:gd name="adj" fmla="val 12727"/>
            </a:avLst>
          </a:prstGeom>
          <a:solidFill>
            <a:srgbClr val="FFFAEB"/>
          </a:solidFill>
          <a:ln w="19050">
            <a:solidFill>
              <a:srgbClr val="FEC8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44568" y="3602736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알림 1건 · 20초 자동 갱신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43400" y="4526280"/>
            <a:ext cx="3584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연동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통신사 관제센터 방식을 공장에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183880" y="1645920"/>
            <a:ext cx="3584448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83880" y="1645920"/>
            <a:ext cx="3584448" cy="438912"/>
          </a:xfrm>
          <a:prstGeom prst="rect">
            <a:avLst/>
          </a:prstGeom>
          <a:solidFill>
            <a:srgbClr val="1D2939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0" y="1645920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출고관리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385048" y="2194560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A구역 · 거래처별 보관 코일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58200" y="3054096"/>
            <a:ext cx="3035808" cy="384048"/>
          </a:xfrm>
          <a:prstGeom prst="rect">
            <a:avLst/>
          </a:prstGeom>
          <a:solidFill>
            <a:srgbClr val="F2F4F7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86800" y="2889504"/>
            <a:ext cx="62179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4" name="Shape 52"/>
          <p:cNvSpPr/>
          <p:nvPr/>
        </p:nvSpPr>
        <p:spPr>
          <a:xfrm>
            <a:off x="9354312" y="2889504"/>
            <a:ext cx="621792" cy="347472"/>
          </a:xfrm>
          <a:prstGeom prst="ellipse">
            <a:avLst/>
          </a:prstGeom>
          <a:solidFill>
            <a:srgbClr val="7A73F0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21824" y="2889504"/>
            <a:ext cx="621792" cy="347472"/>
          </a:xfrm>
          <a:prstGeom prst="ellipse">
            <a:avLst/>
          </a:prstGeom>
          <a:solidFill>
            <a:srgbClr val="8C86F5"/>
          </a:solidFill>
          <a:ln/>
        </p:spPr>
      </p:sp>
      <p:sp>
        <p:nvSpPr>
          <p:cNvPr id="56" name="Shape 54"/>
          <p:cNvSpPr/>
          <p:nvPr/>
        </p:nvSpPr>
        <p:spPr>
          <a:xfrm>
            <a:off x="10689336" y="2889504"/>
            <a:ext cx="621792" cy="347472"/>
          </a:xfrm>
          <a:prstGeom prst="ellipse">
            <a:avLst/>
          </a:prstGeom>
          <a:solidFill>
            <a:srgbClr val="98A2B3"/>
          </a:solidFill>
          <a:ln/>
        </p:spPr>
      </p:sp>
      <p:sp>
        <p:nvSpPr>
          <p:cNvPr id="57" name="Shape 55"/>
          <p:cNvSpPr/>
          <p:nvPr/>
        </p:nvSpPr>
        <p:spPr>
          <a:xfrm>
            <a:off x="9354312" y="2523744"/>
            <a:ext cx="621792" cy="347472"/>
          </a:xfrm>
          <a:prstGeom prst="ellipse">
            <a:avLst/>
          </a:prstGeom>
          <a:solidFill>
            <a:srgbClr val="067647"/>
          </a:solidFill>
          <a:ln/>
        </p:spPr>
      </p:sp>
      <p:sp>
        <p:nvSpPr>
          <p:cNvPr id="58" name="Text 56"/>
          <p:cNvSpPr/>
          <p:nvPr/>
        </p:nvSpPr>
        <p:spPr>
          <a:xfrm>
            <a:off x="8403336" y="3584448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대한강재 12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806940" y="3584448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가능 4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11210544" y="3584448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3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183880" y="4526280"/>
            <a:ext cx="3584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어느 자리에 누구 물건인지 한눈에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711696" cy="365760"/>
          </a:xfrm>
          <a:prstGeom prst="roundRect">
            <a:avLst>
              <a:gd name="adj" fmla="val 15000"/>
            </a:avLst>
          </a:prstGeom>
          <a:solidFill>
            <a:srgbClr val="FFFA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다만, 아직 모르는 것이 남았습니다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보여주기는 하고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하지 않습니다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10512"/>
            <a:ext cx="649224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31136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4086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도구가 알려주는 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15184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속도 82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3364992"/>
            <a:ext cx="4983480" cy="2084832"/>
          </a:xfrm>
          <a:prstGeom prst="roundRect">
            <a:avLst>
              <a:gd name="adj" fmla="val 3070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29584"/>
            <a:ext cx="4617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82는 </a:t>
            </a:r>
            <a:pPr indent="0" marL="0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과거에 그렇게 돌렸던 평균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
</a:t>
            </a:r>
            <a:pPr indent="0" marL="0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돌려야 하는 값이 아닙니다.
</a:t>
            </a:r>
            <a:pPr indent="0" marL="0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과거에 불량이 났던 작업도 그 평균 안에 섞여 있습니다.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10512"/>
            <a:ext cx="1444752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되어야 하는 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2231136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34086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판정까지 해주는 화면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63347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82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표준 78~85 이내 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75120" y="299923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 1.8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표준 2.2~2.6 이탈 ⚠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92240" y="3639312"/>
            <a:ext cx="498348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785616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이탈하면 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이유를 남기게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합니다.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/ 설비 이상 / 고객 요청 / 급한 납기 / 기타
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한 줄이 쌓이면 1년 뒤 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"표준을 못 지키는 진짜 이유"의 순위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나옵니다. 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아무도 모릅니다.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285232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 · 남은 과제 — 운용 체계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작업해도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결과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나오게, 그리고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증명할 기록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남게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103120" cy="3566160"/>
          </a:xfrm>
          <a:prstGeom prst="roundRect">
            <a:avLst>
              <a:gd name="adj" fmla="val 304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190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7512" y="2231136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확정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2962656"/>
            <a:ext cx="17739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불량·재작업·중단이 없었던 작업만 남겨 표준값을 뽑고 문서로 박습니다. 추천을 "과거 평균"에서 "표준값+허용범위"로.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4736592"/>
            <a:ext cx="1773936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선행: 품질이력↔작업데이터 연결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70632" y="1645920"/>
            <a:ext cx="2103120" cy="3566160"/>
          </a:xfrm>
          <a:prstGeom prst="roundRect">
            <a:avLst>
              <a:gd name="adj" fmla="val 304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17190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35224" y="2231136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판정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35224" y="2962656"/>
            <a:ext cx="17739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안/밖을 표시하고 경고합니다. 이탈하면 이유 한 줄을 남깁니다.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38344" y="1645920"/>
            <a:ext cx="2103120" cy="3566160"/>
          </a:xfrm>
          <a:prstGeom prst="roundRect">
            <a:avLst>
              <a:gd name="adj" fmla="val 304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17190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02936" y="2231136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표준서를 화면으로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02936" y="2962656"/>
            <a:ext cx="17739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사양을 고르면 세팅 순서가 단계별로 뜨고, 확인하면 다음 단계로.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02936" y="4736592"/>
            <a:ext cx="1773936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정년 전에 — 시한 있음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06056" y="1645920"/>
            <a:ext cx="2103120" cy="3566160"/>
          </a:xfrm>
          <a:prstGeom prst="roundRect">
            <a:avLst>
              <a:gd name="adj" fmla="val 304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17190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70648" y="2231136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결측 제거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0648" y="2962656"/>
            <a:ext cx="17739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배선, 외부 시스템 가동, 카메라 고정, 코일번호 태깅 100%. 매일 아침 결측률을 봅니다.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70648" y="4736592"/>
            <a:ext cx="1773936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지루하고 가장 중요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73768" y="1645920"/>
            <a:ext cx="2103120" cy="3566160"/>
          </a:xfrm>
          <a:prstGeom prst="roundRect">
            <a:avLst>
              <a:gd name="adj" fmla="val 304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17190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738360" y="2231136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마감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38360" y="2962656"/>
            <a:ext cx="17739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저녁마다 한 장이 자동으로: 작업 건수 · 이탈 건수(이유별) · 결측 · 정지.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440680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10182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440680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챙기는 체계는 사람이 빠지면 멈추지만,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한 장이 나오는 체계는 멈추면 표가 납니다.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187184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질문 ② 우리 고객들은 무엇을 원하는가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고객이 </a:t>
            </a:r>
            <a:pPr algn="ct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정밀한 분석</a:t>
            </a:r>
            <a:pPr algn="ct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원할 거라 생각했습니다.
</a:t>
            </a:r>
            <a:pPr algn="ct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실패가 바로 그 생각에서 나왔습니다.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80160" y="2121408"/>
            <a:ext cx="9631375" cy="1874520"/>
          </a:xfrm>
          <a:prstGeom prst="roundRect">
            <a:avLst>
              <a:gd name="adj" fmla="val 3415"/>
            </a:avLst>
          </a:prstGeom>
          <a:solidFill>
            <a:srgbClr val="EEF0FF"/>
          </a:solidFill>
          <a:ln w="3175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21408"/>
            <a:ext cx="9357055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아무 때나 물어보고,
</a:t>
            </a:r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확인받고 싶습니다."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434340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정밀한 분석 리포트를 원하는 게 아닙니다.
</a:t>
            </a:r>
            <a:pPr algn="ctr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열 시에 궁금한 것이 생겼을 때, 그때 답을 받고 싶은 것입니다.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047488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지금 고객이 겪는 현실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시간은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때나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물어볼 시간은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업무시간뿐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8275320" cy="7315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2706624"/>
            <a:ext cx="2240280" cy="237744"/>
          </a:xfrm>
          <a:prstGeom prst="roundRect">
            <a:avLst>
              <a:gd name="adj" fmla="val 46154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업무시간 09:00–18:00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37360" y="2788920"/>
            <a:ext cx="1810512" cy="73152"/>
          </a:xfrm>
          <a:prstGeom prst="rect">
            <a:avLst/>
          </a:prstGeom>
          <a:solidFill>
            <a:srgbClr val="FDA29B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11시간 대기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18488" y="2706624"/>
            <a:ext cx="237744" cy="237744"/>
          </a:xfrm>
          <a:prstGeom prst="ellipse">
            <a:avLst/>
          </a:prstGeom>
          <a:solidFill>
            <a:srgbClr val="D92D2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22:00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궁금증 발생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언제 오지?"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47288" y="2706624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09:00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99432" y="2734056"/>
            <a:ext cx="182880" cy="182880"/>
          </a:xfrm>
          <a:prstGeom prst="ellipse">
            <a:avLst/>
          </a:prstGeom>
          <a:solidFill>
            <a:srgbClr val="B54708"/>
          </a:solidFill>
          <a:ln/>
        </p:spPr>
      </p:sp>
      <p:sp>
        <p:nvSpPr>
          <p:cNvPr id="18" name="Text 16"/>
          <p:cNvSpPr/>
          <p:nvPr/>
        </p:nvSpPr>
        <p:spPr>
          <a:xfrm>
            <a:off x="3776472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부재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76472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걸어야 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87568" y="2706624"/>
            <a:ext cx="237744" cy="237744"/>
          </a:xfrm>
          <a:prstGeom prst="ellipse">
            <a:avLst/>
          </a:prstGeom>
          <a:solidFill>
            <a:srgbClr val="06764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들음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2734056"/>
            <a:ext cx="182880" cy="182880"/>
          </a:xfrm>
          <a:prstGeom prst="ellipse">
            <a:avLst/>
          </a:prstGeom>
          <a:solidFill>
            <a:srgbClr val="98A2B3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또 물어야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어디에도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남지 않습니다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09760" y="1874520"/>
            <a:ext cx="2179015" cy="2606040"/>
          </a:xfrm>
          <a:prstGeom prst="roundRect">
            <a:avLst>
              <a:gd name="adj" fmla="val 2937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2011680"/>
            <a:ext cx="21790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결국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9760" y="2395728"/>
            <a:ext cx="21790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미안해서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묻고 넘어감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09760" y="3246120"/>
            <a:ext cx="21790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여유 재고를 쥐고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라인을 비워둠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4846320"/>
            <a:ext cx="11185855" cy="1051560"/>
          </a:xfrm>
          <a:prstGeom prst="roundRect">
            <a:avLst>
              <a:gd name="adj" fmla="val 6087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46320"/>
            <a:ext cx="106372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 더 좋은 기술이 아니었습니다.  </a:t>
            </a:r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데서 다 되는 것이, 여기서만 안 되는 그 불편이었습니다.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424928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고객은 이미 24시간을 경험하고 있습니다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터미널에 있는지까지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보는데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70048" cy="2514600"/>
          </a:xfrm>
          <a:prstGeom prst="roundRect">
            <a:avLst>
              <a:gd name="adj" fmla="val 254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주문하고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새벽에 배송 상태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0724" y="3383280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645920"/>
            <a:ext cx="2670048" cy="2514600"/>
          </a:xfrm>
          <a:prstGeom prst="roundRect">
            <a:avLst>
              <a:gd name="adj" fmla="val 254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82880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11296" y="234086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잔고·이체·명세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조회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91940" y="3383280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1645920"/>
            <a:ext cx="2670048" cy="2514600"/>
          </a:xfrm>
          <a:prstGeom prst="roundRect">
            <a:avLst>
              <a:gd name="adj" fmla="val 2545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82880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82512" y="234086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터미널에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있는지까지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63156" y="3383280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16568" y="1645920"/>
            <a:ext cx="2670048" cy="2514600"/>
          </a:xfrm>
          <a:prstGeom prst="roundRect">
            <a:avLst>
              <a:gd name="adj" fmla="val 2545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182880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발주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53728" y="2340864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수천만 원짜리인데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9시를 기다림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34372" y="3383280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526280"/>
            <a:ext cx="11185855" cy="1371600"/>
          </a:xfrm>
          <a:prstGeom prst="roundRect">
            <a:avLst>
              <a:gd name="adj" fmla="val 4667"/>
            </a:avLst>
          </a:prstGeom>
          <a:solidFill>
            <a:srgbClr val="10182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2628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수천만 원짜리 철강 발주 건이,
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확인하기 어려운 거래가 되어 있었습니다.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334256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고객이 원하는 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가지였습니다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"24시간"</a:t>
            </a:r>
            <a:endParaRPr lang="en-US" sz="2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7040880"/>
                <a:gridCol w="3456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고객이 하고 싶은 것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문의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— 언제든 묻고 바로 답받기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업무시간에 전화, 담당자 없으면 다시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발주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— 밤에도 주문 넣기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팩스·전화, 업무시간만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진행 조회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— 내 물건이 지금 어디까지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전화해서 물어봐야 함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상세 내역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— 지난 거래·미출고·미수금·맡긴 재고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요청하면 정리해서 보내줌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품질 결과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— 내가 발주한 그 물건의 AI 검사 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92D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어디에도 없음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38928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13892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쇼핑에서 이미 당연한 것들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언젠가 다른 코일센터도 하게 될 것입니다.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5138928"/>
            <a:ext cx="5425135" cy="868680"/>
          </a:xfrm>
          <a:prstGeom prst="roundRect">
            <a:avLst>
              <a:gd name="adj" fmla="val 7368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5138928"/>
            <a:ext cx="50593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⑤가 다릅니다.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5부에서 얻은 것이 없으면 불가능합니다.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809744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⑤번이 왜 결정적인가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시스템만 만들면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됩니다.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⑤는 다릅니다.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584448" cy="2834640"/>
          </a:xfrm>
          <a:prstGeom prst="roundRect">
            <a:avLst>
              <a:gd name="adj" fmla="val 2258"/>
            </a:avLst>
          </a:prstGeom>
          <a:solidFill>
            <a:srgbClr val="F9FAFB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92224"/>
            <a:ext cx="3218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문의·발주·조회·내역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615184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것: 돈과 시간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할 수 있습니다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9344" y="35661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편의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400507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경쟁사도 언젠가 합니다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584448" cy="2834640"/>
          </a:xfrm>
          <a:prstGeom prst="roundRect">
            <a:avLst>
              <a:gd name="adj" fmla="val 2258"/>
            </a:avLst>
          </a:prstGeom>
          <a:solidFill>
            <a:srgbClr val="EEF0FF"/>
          </a:solidFill>
          <a:ln w="317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92224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품질 결과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226771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578608"/>
            <a:ext cx="3218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 단위 운전 기록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데이터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58384" y="3730752"/>
            <a:ext cx="1554480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차별화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1645920"/>
            <a:ext cx="3584448" cy="2834640"/>
          </a:xfrm>
          <a:prstGeom prst="roundRect">
            <a:avLst>
              <a:gd name="adj" fmla="val 2258"/>
            </a:avLst>
          </a:prstGeom>
          <a:solidFill>
            <a:srgbClr val="ECFDF3"/>
          </a:solidFill>
          <a:ln w="31750">
            <a:solidFill>
              <a:srgbClr val="0676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810512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그건 5부의 답입니다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340864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질문에 답하지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않았다면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10896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번째는 못 합니다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93192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질문이 여기서 연결됩니다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185855" cy="1234440"/>
          </a:xfrm>
          <a:prstGeom prst="roundRect">
            <a:avLst>
              <a:gd name="adj" fmla="val 518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0916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상황만 보여주는 포털은 </a:t>
            </a:r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편리한 서비스</a:t>
            </a:r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
</a:t>
            </a:r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결과까지 보여주는 포털은 </a:t>
            </a:r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대신해주는 서비스</a:t>
            </a:r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621024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그래서 만약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열한 시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휴대폰을 열어서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377440" cy="4224528"/>
          </a:xfrm>
          <a:prstGeom prst="roundRect">
            <a:avLst>
              <a:gd name="adj" fmla="val 5385"/>
            </a:avLst>
          </a:prstGeom>
          <a:solidFill>
            <a:srgbClr val="1D2939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2048256"/>
            <a:ext cx="2139696" cy="3675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37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고객 포털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39112" y="1737360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" y="2432304"/>
            <a:ext cx="1901952" cy="896112"/>
          </a:xfrm>
          <a:prstGeom prst="roundRect">
            <a:avLst>
              <a:gd name="adj" fmla="val 7143"/>
            </a:avLst>
          </a:prstGeom>
          <a:solidFill>
            <a:srgbClr val="EEF0FF"/>
          </a:solidFill>
          <a:ln w="19050">
            <a:solidFill>
              <a:srgbClr val="C7C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49631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 · 코일 1622057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" y="268833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54480" y="27614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예정 </a:t>
            </a:r>
            <a:pPr algn="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01:40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2104" y="3072384"/>
            <a:ext cx="1719072" cy="100584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" y="3072384"/>
            <a:ext cx="1065825" cy="1005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40664" y="3419856"/>
            <a:ext cx="1901952" cy="1170432"/>
          </a:xfrm>
          <a:prstGeom prst="roundRect">
            <a:avLst>
              <a:gd name="adj" fmla="val 5469"/>
            </a:avLst>
          </a:prstGeom>
          <a:solidFill>
            <a:srgbClr val="ECFDF3"/>
          </a:solidFill>
          <a:ln w="19050">
            <a:solidFill>
              <a:srgbClr val="A6F4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483864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 품질 결과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" y="36941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· 표준 범위 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" y="396849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0 · 두께 편차 ±0.01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없음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" y="43525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보기 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" y="4681728"/>
            <a:ext cx="90525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472744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0664" y="4901184"/>
            <a:ext cx="9052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4681728"/>
            <a:ext cx="90525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4727448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맡긴 재고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37360" y="4901184"/>
            <a:ext cx="9052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12코일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" y="5285232"/>
            <a:ext cx="1901952" cy="420624"/>
          </a:xfrm>
          <a:prstGeom prst="roundRect">
            <a:avLst>
              <a:gd name="adj" fmla="val 17391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5285232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새 주문 넣기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36392" y="1627632"/>
            <a:ext cx="2377440" cy="4224528"/>
          </a:xfrm>
          <a:prstGeom prst="roundRect">
            <a:avLst>
              <a:gd name="adj" fmla="val 5385"/>
            </a:avLst>
          </a:prstGeom>
          <a:solidFill>
            <a:srgbClr val="1D2939"/>
          </a:solidFill>
          <a:ln/>
        </p:spPr>
      </p:sp>
      <p:sp>
        <p:nvSpPr>
          <p:cNvPr id="30" name="Shape 28"/>
          <p:cNvSpPr/>
          <p:nvPr/>
        </p:nvSpPr>
        <p:spPr>
          <a:xfrm>
            <a:off x="3255264" y="2048256"/>
            <a:ext cx="2139696" cy="3675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72584" y="1737360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139696"/>
            <a:ext cx="1810512" cy="512064"/>
          </a:xfrm>
          <a:prstGeom prst="roundRect">
            <a:avLst>
              <a:gd name="adj" fmla="val 17857"/>
            </a:avLst>
          </a:prstGeom>
          <a:solidFill>
            <a:srgbClr val="F2F4F7"/>
          </a:solidFill>
          <a:ln/>
        </p:spPr>
      </p:sp>
      <p:sp>
        <p:nvSpPr>
          <p:cNvPr id="34" name="Text 32"/>
          <p:cNvSpPr/>
          <p:nvPr/>
        </p:nvSpPr>
        <p:spPr>
          <a:xfrm>
            <a:off x="3465576" y="21762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보낸 코일 중에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중단된 게 있었나요?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65576" y="2743200"/>
            <a:ext cx="1810512" cy="1481328"/>
          </a:xfrm>
          <a:prstGeom prst="roundRect">
            <a:avLst>
              <a:gd name="adj" fmla="val 6173"/>
            </a:avLst>
          </a:prstGeom>
          <a:solidFill>
            <a:srgbClr val="EE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57016" y="2779776"/>
            <a:ext cx="16276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어제(9/12) 출고 6건 중 1건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작업 중단 기록이 있습니다.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· 1,240m 지점에서 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정지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재가동. 해당 구간 표면 검사는 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없음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57016" y="39684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기록 보기 ›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74136" y="4315968"/>
            <a:ext cx="1810512" cy="365760"/>
          </a:xfrm>
          <a:prstGeom prst="roundRect">
            <a:avLst>
              <a:gd name="adj" fmla="val 25000"/>
            </a:avLst>
          </a:prstGeom>
          <a:solidFill>
            <a:srgbClr val="F2F4F7"/>
          </a:solidFill>
          <a:ln/>
        </p:spPr>
      </p:sp>
      <p:sp>
        <p:nvSpPr>
          <p:cNvPr id="39" name="Text 37"/>
          <p:cNvSpPr/>
          <p:nvPr/>
        </p:nvSpPr>
        <p:spPr>
          <a:xfrm>
            <a:off x="3465576" y="43159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미수금도 알려주세요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74136" y="4828032"/>
            <a:ext cx="1901952" cy="658368"/>
          </a:xfrm>
          <a:prstGeom prst="roundRect">
            <a:avLst>
              <a:gd name="adj" fmla="val 9722"/>
            </a:avLst>
          </a:prstGeom>
          <a:solidFill>
            <a:srgbClr val="FFFAEB"/>
          </a:solidFill>
          <a:ln w="19050">
            <a:solidFill>
              <a:srgbClr val="FEC8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4901184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않습니다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65576" y="510235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응대합니다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24728" y="174650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1645920"/>
            <a:ext cx="555315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주문을 넣고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824728" y="21854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46" name="Text 44"/>
          <p:cNvSpPr/>
          <p:nvPr/>
        </p:nvSpPr>
        <p:spPr>
          <a:xfrm>
            <a:off x="6080760" y="2084832"/>
            <a:ext cx="555315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넣은 주문이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라인에서 가공 중인지 보고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824728" y="262432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48" name="Text 46"/>
          <p:cNvSpPr/>
          <p:nvPr/>
        </p:nvSpPr>
        <p:spPr>
          <a:xfrm>
            <a:off x="6080760" y="2523744"/>
            <a:ext cx="555315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끝나는지 확인하고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824728" y="306324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50" name="Text 48"/>
          <p:cNvSpPr/>
          <p:nvPr/>
        </p:nvSpPr>
        <p:spPr>
          <a:xfrm>
            <a:off x="6080760" y="2962656"/>
            <a:ext cx="555315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거래 내역과 안 나간 물량을 확인하고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824728" y="350215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67647"/>
          </a:solidFill>
          <a:ln/>
        </p:spPr>
      </p:sp>
      <p:sp>
        <p:nvSpPr>
          <p:cNvPr id="52" name="Text 50"/>
          <p:cNvSpPr/>
          <p:nvPr/>
        </p:nvSpPr>
        <p:spPr>
          <a:xfrm>
            <a:off x="6080760" y="3401568"/>
            <a:ext cx="555315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물건의 품질 검사 결과를 열어보고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824728" y="394106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54" name="Text 52"/>
          <p:cNvSpPr/>
          <p:nvPr/>
        </p:nvSpPr>
        <p:spPr>
          <a:xfrm>
            <a:off x="6080760" y="3840480"/>
            <a:ext cx="5553151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채팅으로 물어서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기록에 근거한 답을 받는다면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769864" y="4370832"/>
            <a:ext cx="5918911" cy="841248"/>
          </a:xfrm>
          <a:prstGeom prst="roundRect">
            <a:avLst>
              <a:gd name="adj" fmla="val 7609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4370832"/>
            <a:ext cx="555315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회사는 코일 가공업체가 아닙니다.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돌아가는 서비스 회사입니다.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769864" y="5321808"/>
            <a:ext cx="5918911" cy="658368"/>
          </a:xfrm>
          <a:prstGeom prst="roundRect">
            <a:avLst>
              <a:gd name="adj" fmla="val 9722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52744" y="5321808"/>
            <a:ext cx="555315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단가가 조금 싼 곳으로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옮기지 않습니다.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옮기면 이 모든 게 없어지기 때문입니다.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096512" cy="365760"/>
          </a:xfrm>
          <a:prstGeom prst="roundRect">
            <a:avLst>
              <a:gd name="adj" fmla="val 15000"/>
            </a:avLst>
          </a:prstGeom>
          <a:solidFill>
            <a:srgbClr val="FFFA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솔직하게 나누면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있습니다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그런데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나간 것은 하나도 없습니다.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5650992"/>
                <a:gridCol w="35661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 만든 것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것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문의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실데이터로 답하는 채팅 창구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시연용 → 실서비스 전환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발주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팩스·카톡·문서인식 자동 접수 (시험판 4개)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실배포 — 현재 0건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진행 조회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포털 · 진행 트래커 · 완료 예측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470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예정시각 정확도 검증 후 개방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상세 내역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재고·미출고·미수금 조회 · 3D 창고 뷰어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470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계정에 연결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품질 결과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전수 촬영 자료 · 운전 기록 · 분석 도구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양식 + 자동 발행 + 판정 기준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2064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12064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"아무도 볼 수 없는 곳에 좋은 것을 두었다"</a:t>
            </a:r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것이었습니다.
</a:t>
            </a:r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상태는 그 실수의 축소판이고, 저희는 반복 직전에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334256" cy="365760"/>
          </a:xfrm>
          <a:prstGeom prst="roundRect">
            <a:avLst>
              <a:gd name="adj" fmla="val 15000"/>
            </a:avLst>
          </a:prstGeom>
          <a:solidFill>
            <a:srgbClr val="FFFA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 · 값은 어떻게 받나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무료면 값을 못 받고, 전부 유료면 아무도 안 씁니다</a:t>
            </a:r>
            <a:endParaRPr lang="en-US" sz="2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291840"/>
                <a:gridCol w="304495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 방식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문의 · 발주 · 진행 조회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무료, 단 계약서에 명시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거래 조건화 · 이탈 방지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결과 요약  (판정만)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거래처 무료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표준으로 자리 잡게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성적서 상세본  (영상·실측)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단가 반영 또는 별도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값을 받는 지점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분쟁 판별 리포트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건당 유상 또는 연간 약정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값을 받는 지점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보관 · 재고 대행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요율 계약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 수입 · 이탈 방지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74920"/>
            <a:ext cx="11185855" cy="1188720"/>
          </a:xfrm>
          <a:prstGeom prst="roundRect">
            <a:avLst>
              <a:gd name="adj" fmla="val 5385"/>
            </a:avLst>
          </a:prstGeom>
          <a:solidFill>
            <a:srgbClr val="10182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074920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신규 견적서에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"24시간 조회 · 품질 결과 제공"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한 줄 적습니다.
</a:t>
            </a:r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적히지 않은 서비스는 존재하지 않는 서비스입니다.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4572000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7부 · 두 질문이 만난 곳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들여다보려고 만든 것이,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밖에 내보낼 것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되었습니다</a:t>
            </a:r>
            <a:endParaRPr lang="en-US" sz="2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914400"/>
        </p:xfrm>
        <a:graphic>
          <a:graphicData uri="http://schemas.openxmlformats.org/drawingml/2006/table">
            <a:tbl>
              <a:tblPr/>
              <a:tblGrid>
                <a:gridCol w="5166360"/>
                <a:gridCol w="868680"/>
                <a:gridCol w="51480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우리는 무엇을 모르는가 — 의 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고객은 무엇을 원하는가 — 의 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잘 돌아가나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(실시간 상태)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24시간 진행 조회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그때 어떻게 돌렸나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(구간별 기록)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24시간 품질 결과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잘못인가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(원소재/가공 판별)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분쟁 판별 리포트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데이터를 믿을 수 있나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(전수 검증)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4F46E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 전부의 신뢰 근거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29768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4443984"/>
            <a:ext cx="649224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" y="4828032"/>
            <a:ext cx="50383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불량이라고 했고 저희는 아니라고 했습니다. </a:t>
            </a:r>
            <a:pPr indent="0" marL="0">
              <a:lnSpc>
                <a:spcPct val="145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증명할 방법이 없었습니다.</a:t>
            </a:r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그래서 AI에게 물어 </a:t>
            </a:r>
            <a:pPr indent="0" marL="0">
              <a:lnSpc>
                <a:spcPct val="145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리포트</a:t>
            </a:r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만들어냈습니다.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4297680"/>
            <a:ext cx="5425135" cy="1691640"/>
          </a:xfrm>
          <a:prstGeom prst="roundRect">
            <a:avLst>
              <a:gd name="adj" fmla="val 3784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4808" y="4443984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그날의 깨달음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64808" y="4809744"/>
            <a:ext cx="502279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"우리는 무엇을 모르는가"에 답하려고 모은 기록이,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"고객이 무엇을 원하는가"의 답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047488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7부 · 세 번을 나란히 놓으면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번이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아니었던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이유</a:t>
            </a:r>
            <a:endParaRPr lang="en-US" sz="2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291840"/>
                <a:gridCol w="3977640"/>
                <a:gridCol w="22219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물었나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얻은 것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번째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사면 될까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5470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생산성 높은 장비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값은 그대로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번째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만들면 될까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5470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측정 자료 + 공정 데이터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매출은 그대로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번째</a:t>
                      </a:r>
                      <a:endParaRPr lang="en-US" sz="1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우리는 무엇을 모르나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고객은 무엇을 원하나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완벽한 품질 + 기술 내재화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+ 24시간 서비스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회사의 성격이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434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43400"/>
            <a:ext cx="10637215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번째가 </a:t>
            </a:r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남기고, 두 번째가 </a:t>
            </a:r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남겼고,
</a:t>
            </a:r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번째가 그 둘을 쓸 수 있게 만들었습니다.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2920" y="5486400"/>
            <a:ext cx="11185855" cy="841248"/>
          </a:xfrm>
          <a:prstGeom prst="roundRect">
            <a:avLst>
              <a:gd name="adj" fmla="val 7609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486400"/>
            <a:ext cx="106372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</a:t>
            </a:r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만들려다</a:t>
            </a:r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 번 실패하고, AI로 </a:t>
            </a:r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시작하자</a:t>
            </a:r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달라졌습니다.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236208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8부 · 그래서 오성철강은 무엇이 되었나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40680" cy="3520440"/>
          </a:xfrm>
          <a:prstGeom prst="roundRect">
            <a:avLst>
              <a:gd name="adj" fmla="val 1818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장비에 걸맞는
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 기술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확보했습니다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장비는 첫 번째 시도에서 샀습니다. 그런데 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장비를 제대로 쓰는 기술이 없었습니다.
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있습니다 — 공정 표준화, 설정 불량 제거, 전수 검증, 데이터 자체의 검증.
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외주로 산 게 아니라 직접 만들었기 때문에, 계속 고칠 수 있습니다.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440680" cy="3520440"/>
          </a:xfrm>
          <a:prstGeom prst="roundRect">
            <a:avLst>
              <a:gd name="adj" fmla="val 1818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2618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차별화 기술로
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거듭납니다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944368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밤에 주문을 넣고, 진행 상황을 보고, 품질 결과를 확인합니다.
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않아도 됩니다. 기록이 응대합니다.
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직원 12명 회사가 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인력을 늘리지 않고 영업시간을 세 배로 늘리는 유일한 방법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864608"/>
            <a:ext cx="11185855" cy="1417320"/>
          </a:xfrm>
          <a:prstGeom prst="roundRect">
            <a:avLst>
              <a:gd name="adj" fmla="val 4516"/>
            </a:avLst>
          </a:prstGeom>
          <a:solidFill>
            <a:srgbClr val="101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864608"/>
            <a:ext cx="1082009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이제 철판을 자르는 회사가 아닙니다.
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철판을 자르고, 그 결과를 증명하고, 24시간 답하는 회사입니다.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900416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8부 · 그리고 이게 가격 경쟁에서 벗어나는 길입니다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낮에만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돕니다. 서비스는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돕니다.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사람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11185855" cy="530352"/>
          </a:xfrm>
          <a:prstGeom prst="rect">
            <a:avLst/>
          </a:prstGeom>
          <a:solidFill>
            <a:srgbClr val="F2F4F7"/>
          </a:solidFill>
          <a:ln w="19050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1993392"/>
            <a:ext cx="2560320" cy="530352"/>
          </a:xfrm>
          <a:prstGeom prst="rect">
            <a:avLst/>
          </a:prstGeom>
          <a:solidFill>
            <a:srgbClr val="98A2B3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99339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– 18:00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199339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99339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· 기록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118104"/>
            <a:ext cx="11185855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18104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 — 24:00 · 쉬지 않습니다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31181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C7C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새벽에도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29800" y="31181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C7C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11185855" cy="1938528"/>
          </a:xfrm>
          <a:prstGeom prst="roundRect">
            <a:avLst>
              <a:gd name="adj" fmla="val 3302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10545775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코일센터는 단가와 납기로만 비교됩니다. 그건 사실입니다.
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고객이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확인할 수 있고, 품질 결과를 받아보고, 재고를 맡겨두고 있으면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
</a:t>
            </a:r>
            <a:pPr indent="0" marL="0">
              <a:lnSpc>
                <a:spcPct val="150000"/>
              </a:lnSpc>
              <a:buNone/>
            </a:pPr>
            <a:r>
              <a:rPr lang="en-US" sz="23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몇 % 차이로는 옮기지 않습니다. 옮기면 이 전부를 잃기 때문입니다.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711696" cy="365760"/>
          </a:xfrm>
          <a:prstGeom prst="roundRect">
            <a:avLst>
              <a:gd name="adj" fmla="val 1500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9부 · 냉정한 진단 — 지금 어디까지 왔나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질문의 진도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931920" cy="3611880"/>
          </a:xfrm>
          <a:prstGeom prst="roundRect">
            <a:avLst>
              <a:gd name="adj" fmla="val 1772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92224"/>
            <a:ext cx="263804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우리는 무엇을 모르는가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212848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704088" y="3218688"/>
            <a:ext cx="3529584" cy="20116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3218688"/>
            <a:ext cx="2470709" cy="201168"/>
          </a:xfrm>
          <a:prstGeom prst="rect">
            <a:avLst/>
          </a:prstGeom>
          <a:solidFill>
            <a:srgbClr val="067647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584448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 기술 내재화는 얻었습니다.
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표준이 없는 것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남았습니다.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90872" y="1645920"/>
            <a:ext cx="3931920" cy="3611880"/>
          </a:xfrm>
          <a:prstGeom prst="roundRect">
            <a:avLst>
              <a:gd name="adj" fmla="val 177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92224"/>
            <a:ext cx="2638044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고객은 무엇을 원하는가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212848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5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4892040" y="3218688"/>
            <a:ext cx="3529584" cy="20116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3218688"/>
            <a:ext cx="705917" cy="201168"/>
          </a:xfrm>
          <a:prstGeom prst="rect">
            <a:avLst/>
          </a:prstGeom>
          <a:solidFill>
            <a:srgbClr val="D92D2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584448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찾았고 기능도 거의 만들었습니다.
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고객에게 나간 것이 하나도 없습니다.
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창구가 아직 닫혀 있습니다.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878824" y="1645920"/>
            <a:ext cx="2809951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1704" y="1792224"/>
            <a:ext cx="1709928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41개의 실제 상태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61704" y="221284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도구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997135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61704" y="2578608"/>
            <a:ext cx="2444191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2" name="Text 20"/>
          <p:cNvSpPr/>
          <p:nvPr/>
        </p:nvSpPr>
        <p:spPr>
          <a:xfrm>
            <a:off x="9061704" y="265176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도구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997135" y="26334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61704" y="3017520"/>
            <a:ext cx="2444191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5" name="Text 23"/>
          <p:cNvSpPr/>
          <p:nvPr/>
        </p:nvSpPr>
        <p:spPr>
          <a:xfrm>
            <a:off x="9061704" y="309067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값을 넣는 도구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97135" y="307238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61704" y="3456432"/>
            <a:ext cx="2444191" cy="1280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8" name="Shape 26"/>
          <p:cNvSpPr/>
          <p:nvPr/>
        </p:nvSpPr>
        <p:spPr>
          <a:xfrm>
            <a:off x="8988552" y="3493008"/>
            <a:ext cx="2590495" cy="420624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29" name="Text 27"/>
          <p:cNvSpPr/>
          <p:nvPr/>
        </p:nvSpPr>
        <p:spPr>
          <a:xfrm>
            <a:off x="9061704" y="352958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나가는 것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97135" y="351129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전부 시연용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88552" y="3931920"/>
            <a:ext cx="2590495" cy="420624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32" name="Text 30"/>
          <p:cNvSpPr/>
          <p:nvPr/>
        </p:nvSpPr>
        <p:spPr>
          <a:xfrm>
            <a:off x="9061704" y="396849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주문접수 자동화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997135" y="39502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실배포 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61704" y="4498848"/>
            <a:ext cx="2444191" cy="658368"/>
          </a:xfrm>
          <a:prstGeom prst="roundRect">
            <a:avLst>
              <a:gd name="adj" fmla="val 972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144" y="4498848"/>
            <a:ext cx="22613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매일 상주하는 것은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2개뿐입니다.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5440680"/>
            <a:ext cx="11185855" cy="841248"/>
          </a:xfrm>
          <a:prstGeom prst="roundRect">
            <a:avLst>
              <a:gd name="adj" fmla="val 7609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440680"/>
            <a:ext cx="106372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 회사라고 말할 수 있으려면, </a:t>
            </a:r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질문을 80%까지 올려야 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5047488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10부 · 그래서 무엇부터 하나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만들지 않습니다 —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만든 것을 쓰이게 만듭니다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584448" cy="42062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92224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F9FAFB"/>
          </a:solidFill>
          <a:ln w="17780">
            <a:solidFill>
              <a:srgbClr val="E4E7E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1~3개월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19456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개발 없음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376" y="2907792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8163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 수리 · 카메라 고정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" y="334670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" y="32552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번호 태깅 100%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" y="3785616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36941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검사 두께 측정 가동 요구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" y="422452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" y="41330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품질이력 ↔ 작업데이터 연결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2376" y="4663440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" y="45720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 도구 3개를 현장 상주로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4088" y="5468112"/>
            <a:ext cx="3182112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① 데이터 구멍 막기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1645920"/>
            <a:ext cx="3584448" cy="4206240"/>
          </a:xfrm>
          <a:prstGeom prst="roundRect">
            <a:avLst>
              <a:gd name="adj" fmla="val 1786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1792224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44568" y="219456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만들고 창구를 엽니다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62856" y="2907792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28163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사양별 표준값 확정·문서화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62856" y="334670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32552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판정·경고 + 이유 한 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62856" y="3785616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36941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포털을 시연용 → 실서비스 (1곳)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62856" y="422452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41330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 1호 발행 (3개월 무료)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62856" y="4663440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45720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예정시각 정확도 2개월 측정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62856" y="5102352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501091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저녁 자동 마감 리포트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44568" y="5468112"/>
            <a:ext cx="3182112" cy="274320"/>
          </a:xfrm>
          <a:prstGeom prst="roundRect">
            <a:avLst>
              <a:gd name="adj" fmla="val 46667"/>
            </a:avLst>
          </a:prstGeom>
          <a:solidFill>
            <a:srgbClr val="FEF3F2"/>
          </a:solidFill>
          <a:ln w="17780">
            <a:solidFill>
              <a:srgbClr val="FDA29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맞히는 예측은 안 보여주는 것보다 나쁩니다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1645920"/>
            <a:ext cx="3584448" cy="4206240"/>
          </a:xfrm>
          <a:prstGeom prst="roundRect">
            <a:avLst>
              <a:gd name="adj" fmla="val 1786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5048" y="1792224"/>
            <a:ext cx="1179576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85048" y="219456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24시간을 완성하고 값을 받습니다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03336" y="2907792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067647"/>
          </a:solidFill>
          <a:ln/>
        </p:spPr>
      </p:sp>
      <p:sp>
        <p:nvSpPr>
          <p:cNvPr id="39" name="Text 37"/>
          <p:cNvSpPr/>
          <p:nvPr/>
        </p:nvSpPr>
        <p:spPr>
          <a:xfrm>
            <a:off x="8622792" y="28163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 실배포 (시험판 4개)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403336" y="334670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067647"/>
          </a:solidFill>
          <a:ln/>
        </p:spPr>
      </p:sp>
      <p:sp>
        <p:nvSpPr>
          <p:cNvPr id="41" name="Text 39"/>
          <p:cNvSpPr/>
          <p:nvPr/>
        </p:nvSpPr>
        <p:spPr>
          <a:xfrm>
            <a:off x="8622792" y="32552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 전 거래처 + 상세본 유상화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403336" y="3785616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067647"/>
          </a:solidFill>
          <a:ln/>
        </p:spPr>
      </p:sp>
      <p:sp>
        <p:nvSpPr>
          <p:cNvPr id="43" name="Text 41"/>
          <p:cNvSpPr/>
          <p:nvPr/>
        </p:nvSpPr>
        <p:spPr>
          <a:xfrm>
            <a:off x="8622792" y="36941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조회·품질을 계약서에 명시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403336" y="422452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067647"/>
          </a:solidFill>
          <a:ln/>
        </p:spPr>
      </p:sp>
      <p:sp>
        <p:nvSpPr>
          <p:cNvPr id="45" name="Text 43"/>
          <p:cNvSpPr/>
          <p:nvPr/>
        </p:nvSpPr>
        <p:spPr>
          <a:xfrm>
            <a:off x="8622792" y="41330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판별 리포트 표준 양식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403336" y="4663440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067647"/>
          </a:solidFill>
          <a:ln/>
        </p:spPr>
      </p:sp>
      <p:sp>
        <p:nvSpPr>
          <p:cNvPr id="47" name="Text 45"/>
          <p:cNvSpPr/>
          <p:nvPr/>
        </p:nvSpPr>
        <p:spPr>
          <a:xfrm>
            <a:off x="8622792" y="45720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 대행 1개 거래처 요율 계약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403336" y="5102352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067647"/>
          </a:solidFill>
          <a:ln/>
        </p:spPr>
      </p:sp>
      <p:sp>
        <p:nvSpPr>
          <p:cNvPr id="49" name="Text 47"/>
          <p:cNvSpPr/>
          <p:nvPr/>
        </p:nvSpPr>
        <p:spPr>
          <a:xfrm>
            <a:off x="8622792" y="501091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표준서 화면 — 정년 전에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711696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11부 · 1년 뒤에 이걸로 확인해 주십시오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43584"/>
            <a:ext cx="2505456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품질과 기술이 단단해졌는지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645920"/>
          <a:ext cx="503834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98448"/>
                <a:gridCol w="136245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표준값 있는 사양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80%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이탈률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안 됨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측정+하락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결측률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구간별 존재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3% 이하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코일번호 태깅률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100%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셋업 시간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안 됨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측정+하락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재작업·클레임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산재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집계+하락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04088" y="4828032"/>
            <a:ext cx="50383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"측정 안 됨 → 측정됨"도 성과입니다.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0972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4808" y="1243584"/>
            <a:ext cx="2505456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24시간이 실제로 열렸는지</a:t>
            </a:r>
            <a:endParaRPr lang="en-US" sz="115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08" y="1645920"/>
          <a:ext cx="5038344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07008"/>
                <a:gridCol w="131673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창구 쓰는 거래처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(시연만)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5곳+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업무시간 외 접속 비율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764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30%+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 발주 비율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30%+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결과 받는 거래처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0곳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5곳+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문의 전화 건수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수준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440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적힌 견적서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670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1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100%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64808" y="4663440"/>
            <a:ext cx="503834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56248" y="4663440"/>
            <a:ext cx="4855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밤·주말에 고객이 들어오면 진짜 24시간 회사, 낮에만 들어오면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하나 더 만든 것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5440680"/>
            <a:ext cx="11185855" cy="841248"/>
          </a:xfrm>
          <a:prstGeom prst="roundRect">
            <a:avLst>
              <a:gd name="adj" fmla="val 7609"/>
            </a:avLst>
          </a:prstGeom>
          <a:solidFill>
            <a:srgbClr val="101828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5440680"/>
            <a:ext cx="108200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외 매출 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DA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0원이 아니게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0D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1원과 0원의 차이가, 1,000만 원과 1,100만 원의 차이보다 큽니다.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473952" cy="36576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6A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12부 · 이건 저희만의 이야기가 아닙니다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반월시화에는 저희 같은 공장이 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</a:t>
            </a:r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28800"/>
            <a:ext cx="492861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통신회사에서 30년 가까이 IT를 했습니다.
</a:t>
            </a:r>
            <a:pPr indent="0" marL="0">
              <a:lnSpc>
                <a:spcPct val="155000"/>
              </a:lnSpc>
              <a:buNone/>
            </a:pPr>
            <a:r>
              <a:rPr lang="en-US" sz="16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 저도 AI 이전에는 못 했습니다.
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두고도 못 했습니다. 두 번 실패했습니다.
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AI가 나오자 </a:t>
            </a:r>
            <a:pPr indent="0" marL="0">
              <a:lnSpc>
                <a:spcPct val="15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수 있게 됐습니다.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그게 전부였습니다.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" y="3584448"/>
            <a:ext cx="4928616" cy="1143000"/>
          </a:xfrm>
          <a:prstGeom prst="roundRect">
            <a:avLst>
              <a:gd name="adj" fmla="val 5600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84448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말은,
</a:t>
            </a:r>
            <a:pPr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IT 전문가가 아니어도 된다</a:t>
            </a:r>
            <a:pPr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뜻입니다.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92224"/>
            <a:ext cx="1842516" cy="274320"/>
          </a:xfrm>
          <a:prstGeom prst="roundRect">
            <a:avLst>
              <a:gd name="adj" fmla="val 46667"/>
            </a:avLst>
          </a:prstGeom>
          <a:solidFill>
            <a:srgbClr val="FFFAEB"/>
          </a:solidFill>
          <a:ln w="17780">
            <a:solidFill>
              <a:srgbClr val="FEC84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외주로는 안 되나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2249424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FEC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2249424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물음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23774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2249424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FEC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08976" y="2249424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15400" y="23774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0" y="2249424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FEC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9136" y="2249424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만에 고침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95560" y="23774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332720" y="2249424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ECFDF3"/>
          </a:solidFill>
          <a:ln w="25400">
            <a:solidFill>
              <a:srgbClr val="0676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9296" y="2249424"/>
            <a:ext cx="1069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쓰임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3054096"/>
            <a:ext cx="4983480" cy="530352"/>
          </a:xfrm>
          <a:prstGeom prst="roundRect">
            <a:avLst>
              <a:gd name="adj" fmla="val 12069"/>
            </a:avLst>
          </a:prstGeom>
          <a:solidFill>
            <a:srgbClr val="ECFDF3"/>
          </a:solidFill>
          <a:ln w="25400">
            <a:solidFill>
              <a:srgbClr val="0676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054096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쌓임 → 고객에게 답할 근거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74904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외주를 줬다면 이 순서가 성립하지 않았을 겁니다.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질문 하나를 확인하는 데 견적서부터 받아야 했을 테니까요. </a:t>
            </a:r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저희는 무엇을 물어야 할지 처음부터 알지도 못했습니다.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02352"/>
            <a:ext cx="11185855" cy="1188720"/>
          </a:xfrm>
          <a:prstGeom prst="roundRect">
            <a:avLst>
              <a:gd name="adj" fmla="val 5385"/>
            </a:avLst>
          </a:prstGeom>
          <a:solidFill>
            <a:srgbClr val="101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102352"/>
            <a:ext cx="108200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 전부 회사도 오래되고, 기계도 오래되고, 사람도 오래되었습니다.
</a:t>
            </a:r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전부, 쓰지 못하고 쌓아둔 데이터를 갖고 있습니다. 전부, 아침 아홉 시에만 열립니다.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12부 · 요청드립니다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시범 지정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85855" cy="804672"/>
          </a:xfrm>
          <a:prstGeom prst="roundRect">
            <a:avLst>
              <a:gd name="adj" fmla="val 7955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063721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</a:t>
            </a:r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직접 물어볼 수 있는 역량</a:t>
            </a:r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투자하는 지원입니다.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3584448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7004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31012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94176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다룰 한 명,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적용할 한 명.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370832"/>
            <a:ext cx="3127248" cy="1078992"/>
          </a:xfrm>
          <a:prstGeom prst="roundRect">
            <a:avLst>
              <a:gd name="adj" fmla="val 5932"/>
            </a:avLst>
          </a:prstGeom>
          <a:solidFill>
            <a:srgbClr val="FEF3F2"/>
          </a:solidFill>
          <a:ln w="25400">
            <a:solidFill>
              <a:srgbClr val="FDA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4425696"/>
            <a:ext cx="29260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41개를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 혼자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만들고 있습니다. 혼자서도 여기까지 왔습니다.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혼자가 아니면 어디까지 갈 수 있을지 확인하고 싶습니다.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2542032"/>
            <a:ext cx="3584448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7004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331012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694176"/>
            <a:ext cx="31272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공정의 품질측정을 완성해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품질 결과 제공을 끝까지 완성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하고,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만든 것을 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공장도 쓸 수 있는 형태로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정리하는 데 쓰겠습니다.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2542032"/>
            <a:ext cx="3584448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7004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412480" y="331012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3694176"/>
            <a:ext cx="3127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실증장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열어 다른 공장이 보러 오게 하고,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프로그램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운영하겠습니다.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56048"/>
            <a:ext cx="1312164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시범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852660" y="4956048"/>
            <a:ext cx="1975104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 반월시화 확대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28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8A2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고향으로 돌아오는 데 20년이 걸렸다고 합니다.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950976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</a:t>
            </a:r>
            <a:pPr algn="ctr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</a:t>
            </a:r>
            <a:pPr algn="ctr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걸렸습니다.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44068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22225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배운 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48256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장비를 연결하고, 실시간으로 지켜보고, 누구나 할 수 있게 기준을 만들고, 문제가 생기면 원인을 분석해 다시는 안 생기게 하는 것.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145536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통신망은 24시간 돕니다.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사람이 자는 동안에도.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627632"/>
            <a:ext cx="5440680" cy="2267712"/>
          </a:xfrm>
          <a:prstGeom prst="roundRect">
            <a:avLst>
              <a:gd name="adj" fmla="val 2823"/>
            </a:avLst>
          </a:prstGeom>
          <a:solidFill>
            <a:srgbClr val="FFFAEB"/>
          </a:solidFill>
          <a:ln w="25400">
            <a:solidFill>
              <a:srgbClr val="FEC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헛되지 않았습니다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048256"/>
            <a:ext cx="498348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번째는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남겼고, 두 번째는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B547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남겼습니다.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AI가 그 데이터에 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방법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가져다주었습니다.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05072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CFDF3"/>
          </a:solidFill>
          <a:ln w="25400">
            <a:solidFill>
              <a:srgbClr val="A6F4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4105656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ECFDF3"/>
          </a:solidFill>
          <a:ln w="17780">
            <a:solidFill>
              <a:srgbClr val="A6F4C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76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3160" y="4005072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품질과, 직접 만들고 고칠 수 있는 기술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63640" y="4005072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0FF"/>
          </a:solidFill>
          <a:ln w="25400">
            <a:solidFill>
              <a:srgbClr val="C7C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4105656"/>
            <a:ext cx="1046988" cy="274320"/>
          </a:xfrm>
          <a:prstGeom prst="roundRect">
            <a:avLst>
              <a:gd name="adj" fmla="val 46667"/>
            </a:avLst>
          </a:prstGeom>
          <a:solidFill>
            <a:srgbClr val="EEF0FF"/>
          </a:solidFill>
          <a:ln w="17780">
            <a:solidFill>
              <a:srgbClr val="C7CD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4005072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2920" y="504748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3440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지금 다시 짓고 있습니다. </a:t>
            </a:r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01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저희도 다시 짓고 있습니다.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5504688"/>
            <a:ext cx="11185855" cy="960120"/>
          </a:xfrm>
          <a:prstGeom prst="roundRect">
            <a:avLst>
              <a:gd name="adj" fmla="val 6667"/>
            </a:avLst>
          </a:prstGeom>
          <a:solidFill>
            <a:srgbClr val="10182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504688"/>
            <a:ext cx="108200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EC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
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0D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 질문에서만 나옵니다.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AX 전환 종합 보고</dc:title>
  <dc:subject>PptxGenJS Presentation</dc:subject>
  <dc:creator>오성철강</dc:creator>
  <cp:lastModifiedBy>오성철강</cp:lastModifiedBy>
  <cp:revision>1</cp:revision>
  <dcterms:created xsi:type="dcterms:W3CDTF">2026-09-13T19:05:40Z</dcterms:created>
  <dcterms:modified xsi:type="dcterms:W3CDTF">2026-09-13T19:05:40Z</dcterms:modified>
</cp:coreProperties>
</file>