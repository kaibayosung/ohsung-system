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91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188720"/>
            <a:ext cx="5120640" cy="5120640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-548640"/>
            <a:ext cx="3840480" cy="3840480"/>
          </a:xfrm>
          <a:prstGeom prst="ellipse">
            <a:avLst/>
          </a:prstGeom>
          <a:solidFill>
            <a:srgbClr val="141F36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13385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00" b="1" kern="0" spc="34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   —  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1865376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우리는 경기장을 지었습니다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69264" y="2798064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4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2026년, 우리를 다시 짓습니다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969264" y="3913632"/>
            <a:ext cx="3291840" cy="16459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416966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가공 공장에서, AI로 일하는 회사로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" y="453542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지정을 요청드립니다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9264" y="5266944"/>
            <a:ext cx="54864" cy="676656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5230368"/>
            <a:ext cx="2080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70432" y="5687568"/>
            <a:ext cx="20802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1588" y="5266944"/>
            <a:ext cx="54864" cy="676656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6" name="Text 14"/>
          <p:cNvSpPr/>
          <p:nvPr/>
        </p:nvSpPr>
        <p:spPr>
          <a:xfrm>
            <a:off x="3762756" y="5230368"/>
            <a:ext cx="2080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62756" y="5687568"/>
            <a:ext cx="20802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53912" y="5266944"/>
            <a:ext cx="54864" cy="676656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5230368"/>
            <a:ext cx="2080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55080" y="5687568"/>
            <a:ext cx="20802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로봇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46236" y="5266944"/>
            <a:ext cx="54864" cy="676656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22" name="Text 20"/>
          <p:cNvSpPr/>
          <p:nvPr/>
        </p:nvSpPr>
        <p:spPr>
          <a:xfrm>
            <a:off x="8947404" y="5230368"/>
            <a:ext cx="20802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47404" y="5687568"/>
            <a:ext cx="20802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만든 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12064"/>
            <a:ext cx="68580" cy="2926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754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1983년 잠실 주경기장을 지으면서 시작한 회사입니다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1132572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된 공장이, </a:t>
            </a:r>
            <a:r>
              <a:rPr lang="en-US" sz="3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 만에 돌아온 사람과 다시 시작합니다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938528"/>
            <a:ext cx="4956048" cy="1499616"/>
          </a:xfrm>
          <a:prstGeom prst="roundRect">
            <a:avLst>
              <a:gd name="adj" fmla="val 5488"/>
            </a:avLst>
          </a:prstGeom>
          <a:solidFill>
            <a:srgbClr val="F7F9FC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38528"/>
            <a:ext cx="73152" cy="14996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21579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4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78608" y="217627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주경기장을 지으며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560724" y="2499643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회사를 시작했습니다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9264" y="2907792"/>
            <a:ext cx="3840480" cy="347472"/>
          </a:xfrm>
          <a:prstGeom prst="roundRect">
            <a:avLst>
              <a:gd name="adj" fmla="val 42105"/>
            </a:avLst>
          </a:prstGeom>
          <a:solidFill>
            <a:srgbClr val="FFF8E8"/>
          </a:solidFill>
          <a:ln w="1778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경기장도 지금 다시 짓고 있습니다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25312" y="1938528"/>
            <a:ext cx="5605272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25400">
            <a:solidFill>
              <a:srgbClr val="C7C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5312" y="1938528"/>
            <a:ext cx="73152" cy="14996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21579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4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083296" y="2176272"/>
            <a:ext cx="313639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그동안 KT에서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83296" y="2487168"/>
            <a:ext cx="313639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로봇 기술을 배웠습니다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36208" y="2907792"/>
            <a:ext cx="4983480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301752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오디세우스는 20년,  저는 28년이 걸렸습니다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" y="3493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400" b="1" kern="0" spc="6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그동안 공장에서는 이 세 가지가 안 되었습니다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" y="3858768"/>
            <a:ext cx="3471672" cy="1444752"/>
          </a:xfrm>
          <a:prstGeom prst="roundRect">
            <a:avLst>
              <a:gd name="adj" fmla="val 5696"/>
            </a:avLst>
          </a:prstGeom>
          <a:solidFill>
            <a:srgbClr val="FEF2F2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858768"/>
            <a:ext cx="347167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78224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기계를 다룰 줄 아는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370832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한 분뿐이었습니다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4736592"/>
            <a:ext cx="2959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그만두시면 회사 기술도 같이 사라집니다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58640" y="3858768"/>
            <a:ext cx="3471672" cy="1444752"/>
          </a:xfrm>
          <a:prstGeom prst="roundRect">
            <a:avLst>
              <a:gd name="adj" fmla="val 5696"/>
            </a:avLst>
          </a:prstGeom>
          <a:solidFill>
            <a:srgbClr val="FEF2F2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58640" y="3858768"/>
            <a:ext cx="347167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614672" y="4078224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 할 수 있는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14672" y="4370832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것이 없었습니다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14672" y="4736592"/>
            <a:ext cx="2959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깎는 것 말고는 내세울 게 없었습니다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58912" y="3858768"/>
            <a:ext cx="3471672" cy="1444752"/>
          </a:xfrm>
          <a:prstGeom prst="roundRect">
            <a:avLst>
              <a:gd name="adj" fmla="val 5696"/>
            </a:avLst>
          </a:prstGeom>
          <a:solidFill>
            <a:srgbClr val="FEF2F2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8912" y="3858768"/>
            <a:ext cx="347167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8314944" y="4078224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잘해도 고객이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14944" y="4370832"/>
            <a:ext cx="2959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수 없었습니다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14944" y="4736592"/>
            <a:ext cx="2959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만들어도 보여줄 곳이 없었습니다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" y="5394960"/>
            <a:ext cx="10872216" cy="804672"/>
          </a:xfrm>
          <a:prstGeom prst="roundRect">
            <a:avLst>
              <a:gd name="adj" fmla="val 11364"/>
            </a:avLst>
          </a:prstGeom>
          <a:solidFill>
            <a:srgbClr val="0B1220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5394960"/>
            <a:ext cx="1032357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오성철강은 </a:t>
            </a:r>
            <a:r>
              <a:rPr lang="en-US" sz="21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점점 늙어갔고, 점점 작아졌습니다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658368" y="6327648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0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 이야기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0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12064"/>
            <a:ext cx="6858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754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b="1" kern="0" spc="2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 THEN,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아니라, 현장에서 매일 켜는 화면으로 바뀌었습니다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108722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그 세 가지를 </a:t>
            </a:r>
            <a:r>
              <a:rPr lang="en-US" sz="3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바꿔 주었습니다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347167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83664"/>
            <a:ext cx="347167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66544"/>
            <a:ext cx="3252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</a:t>
            </a: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머릿속에만 있었습니다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2670048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알려줍니다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980944"/>
            <a:ext cx="3252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속도와 힘을 띄우고 잘못되면 경고합니다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6616" y="2596896"/>
            <a:ext cx="155448" cy="7315"/>
          </a:xfrm>
          <a:prstGeom prst="line">
            <a:avLst/>
          </a:prstGeom>
          <a:noFill/>
          <a:ln w="3302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58640" y="1883664"/>
            <a:ext cx="347167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8640" y="1883664"/>
            <a:ext cx="347167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614672" y="2066544"/>
            <a:ext cx="29596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우리만의</a:t>
            </a: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강점이 없었습니다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4672" y="2377440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철판을 전부 찍어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14672" y="2670048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검사합니다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14672" y="2980944"/>
            <a:ext cx="3252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흠집 위치까지 기록해 고객에게 드립니다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6888" y="2596896"/>
            <a:ext cx="155448" cy="7315"/>
          </a:xfrm>
          <a:prstGeom prst="line">
            <a:avLst/>
          </a:prstGeom>
          <a:noFill/>
          <a:ln w="33020">
            <a:solidFill>
              <a:srgbClr val="6EE7B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58912" y="1883664"/>
            <a:ext cx="3471672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8912" y="1883664"/>
            <a:ext cx="347167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314944" y="2066544"/>
            <a:ext cx="29596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물어볼</a:t>
            </a: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곳이 없었습니다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14944" y="2377440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밤에도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14944" y="2670048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 봅니다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14944" y="2980944"/>
            <a:ext cx="29596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· 진행 · 품질까지 24시간 확인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" y="3438144"/>
            <a:ext cx="5289804" cy="2249424"/>
          </a:xfrm>
          <a:prstGeom prst="roundRect">
            <a:avLst>
              <a:gd name="adj" fmla="val 3659"/>
            </a:avLst>
          </a:prstGeom>
          <a:solidFill>
            <a:srgbClr val="F7F9FC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438144"/>
            <a:ext cx="5289804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3657600"/>
            <a:ext cx="47411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공장들은 왜 잘 안 됐을까요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2688" y="4078224"/>
            <a:ext cx="4741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무엇을 만들지 미리 다 정해야 합니다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32688" y="4370832"/>
            <a:ext cx="47411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AI는 해봐야 압니다. 계약서는 미리 적으라고 합니다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2688" y="4736592"/>
            <a:ext cx="4741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계약이 끝나면 고쳐줄 사람이 없습니다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32688" y="5029200"/>
            <a:ext cx="47411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공장은 계속 바뀌는데 프로그램은 멈춰 있습니다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32688" y="5376672"/>
            <a:ext cx="47411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돈은 썼는데 현장은 그대로인 경우가 많습니다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40780" y="3438144"/>
            <a:ext cx="5289804" cy="2249424"/>
          </a:xfrm>
          <a:prstGeom prst="roundRect">
            <a:avLst>
              <a:gd name="adj" fmla="val 3659"/>
            </a:avLst>
          </a:prstGeom>
          <a:solidFill>
            <a:srgbClr val="EEF0FF"/>
          </a:solidFill>
          <a:ln w="2794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0780" y="3438144"/>
            <a:ext cx="5289804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6515100" y="3657600"/>
            <a:ext cx="47411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왜 다를까요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515100" y="4059936"/>
            <a:ext cx="47411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만드는 사람과 쓰는 사람이 같은 회사입니다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515100" y="4297680"/>
            <a:ext cx="47411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제조 43년 + AI · 로봇 28년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15100" y="4480560"/>
            <a:ext cx="47411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기계가 이미 기록을 남기고 있습니다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515100" y="4718304"/>
            <a:ext cx="47411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3개 공정 중 2개에 품질 사진과 운전 기록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15100" y="4901184"/>
            <a:ext cx="47411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직원들이 먼저 만들어 달라고 합니다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515100" y="5138928"/>
            <a:ext cx="47411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12명 중 5명이 외국인, 현장에서 요구가 올라옵니다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15100" y="5376672"/>
            <a:ext cx="47411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b="1" dirty="0" err="1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</a:t>
            </a: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「</a:t>
            </a:r>
            <a:r>
              <a:rPr lang="ko-KR" alt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</a:t>
            </a:r>
            <a:r>
              <a:rPr lang="en-US" sz="1300" b="1" dirty="0" err="1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연구소」라는</a:t>
            </a: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방식이 </a:t>
            </a:r>
            <a:r>
              <a:rPr lang="en-US" sz="1300" b="1" dirty="0" err="1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</a:t>
            </a:r>
            <a:r>
              <a:rPr lang="en-US" sz="1300" b="1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8368" y="5797296"/>
            <a:ext cx="10872216" cy="475488"/>
          </a:xfrm>
          <a:prstGeom prst="roundRect">
            <a:avLst>
              <a:gd name="adj" fmla="val 19231"/>
            </a:avLst>
          </a:prstGeom>
          <a:solidFill>
            <a:srgbClr val="0B1220"/>
          </a:solidFill>
          <a:ln/>
        </p:spPr>
      </p:sp>
      <p:sp>
        <p:nvSpPr>
          <p:cNvPr id="45" name="Text 43"/>
          <p:cNvSpPr/>
          <p:nvPr/>
        </p:nvSpPr>
        <p:spPr>
          <a:xfrm>
            <a:off x="932688" y="5797296"/>
            <a:ext cx="10323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프로그램을 사다 쓰는 공장이 아니라,  </a:t>
            </a: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만들고 고치는 공장입니다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8368" y="6327648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0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AI가 바꾼 것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0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12064"/>
            <a:ext cx="68580" cy="2926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754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OHSUNG LAB  ·  오성철강 연구소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모델공장」의 핵심은 장비가 아니라 이 방식입니다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108722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기술을 가지고, </a:t>
            </a:r>
            <a:r>
              <a:rPr lang="en-US" sz="3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일합니다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4956048" cy="1225296"/>
          </a:xfrm>
          <a:prstGeom prst="roundRect">
            <a:avLst>
              <a:gd name="adj" fmla="val 6716"/>
            </a:avLst>
          </a:prstGeom>
          <a:solidFill>
            <a:srgbClr val="FFF8E8"/>
          </a:solidFill>
          <a:ln w="25400">
            <a:solidFill>
              <a:srgbClr val="FBD8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10512"/>
            <a:ext cx="82296" cy="1225296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2084832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40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06624" y="2048256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전문 기술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706624" y="23957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철판을 어떻게 다뤄야 하는지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706624" y="263347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몸으로 아는 사람들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74536" y="1810512"/>
            <a:ext cx="4956048" cy="1225296"/>
          </a:xfrm>
          <a:prstGeom prst="roundRect">
            <a:avLst>
              <a:gd name="adj" fmla="val 6716"/>
            </a:avLst>
          </a:prstGeom>
          <a:solidFill>
            <a:srgbClr val="EEF0FF"/>
          </a:solidFill>
          <a:ln w="25400">
            <a:solidFill>
              <a:srgbClr val="C7C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4536" y="1810512"/>
            <a:ext cx="82296" cy="1225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885432" y="2084832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4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622792" y="2048256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로봇 기술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22792" y="23957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그것을 프로그램으로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22792" y="263347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줄 아는 사람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14416" y="21945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3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58368" y="29992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400" b="1" kern="0" spc="4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둘이 한 회사 안에 있어서,  연구소가 이렇게 돌아갑니다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" y="3383280"/>
            <a:ext cx="341680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C7C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529584"/>
            <a:ext cx="384048" cy="274320"/>
          </a:xfrm>
          <a:prstGeom prst="roundRect">
            <a:avLst>
              <a:gd name="adj" fmla="val 53333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3529584"/>
            <a:ext cx="2447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아이디어가 나오면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6112" y="3950208"/>
            <a:ext cx="2941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현장에서든 사무실에서든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20896" y="3840480"/>
            <a:ext cx="219456" cy="7315"/>
          </a:xfrm>
          <a:prstGeom prst="line">
            <a:avLst/>
          </a:prstGeom>
          <a:noFill/>
          <a:ln w="33020">
            <a:solidFill>
              <a:srgbClr val="C7CB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86072" y="3383280"/>
            <a:ext cx="341680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C7C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3816" y="3529584"/>
            <a:ext cx="384048" cy="274320"/>
          </a:xfrm>
          <a:prstGeom prst="roundRect">
            <a:avLst>
              <a:gd name="adj" fmla="val 53333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17592" y="3529584"/>
            <a:ext cx="2447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만들어 봅니다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23816" y="3950208"/>
            <a:ext cx="2941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며칠이면 됩니다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48600" y="3840480"/>
            <a:ext cx="219456" cy="7315"/>
          </a:xfrm>
          <a:prstGeom prst="line">
            <a:avLst/>
          </a:prstGeom>
          <a:noFill/>
          <a:ln w="33020">
            <a:solidFill>
              <a:srgbClr val="C7CB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13776" y="3383280"/>
            <a:ext cx="341680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C7C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1520" y="3529584"/>
            <a:ext cx="384048" cy="274320"/>
          </a:xfrm>
          <a:prstGeom prst="roundRect">
            <a:avLst>
              <a:gd name="adj" fmla="val 53333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45296" y="3529584"/>
            <a:ext cx="2447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써 봅니다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520" y="3950208"/>
            <a:ext cx="2941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작업에 넣어 봅니다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822180" y="4297680"/>
            <a:ext cx="7315" cy="219456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98848" y="4517136"/>
            <a:ext cx="5323332" cy="7315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98848" y="4517136"/>
            <a:ext cx="7315" cy="201168"/>
          </a:xfrm>
          <a:prstGeom prst="line">
            <a:avLst/>
          </a:prstGeom>
          <a:noFill/>
          <a:ln w="3048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249156" y="4517136"/>
            <a:ext cx="7315" cy="201168"/>
          </a:xfrm>
          <a:prstGeom prst="line">
            <a:avLst/>
          </a:prstGeom>
          <a:noFill/>
          <a:ln w="30480">
            <a:solidFill>
              <a:srgbClr val="F5B544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267700" y="42428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효과를 확인합니다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304288" y="4736592"/>
            <a:ext cx="4389120" cy="932688"/>
          </a:xfrm>
          <a:prstGeom prst="roundRect">
            <a:avLst>
              <a:gd name="adj" fmla="val 8824"/>
            </a:avLst>
          </a:prstGeom>
          <a:solidFill>
            <a:srgbClr val="ECFDF5"/>
          </a:solidFill>
          <a:ln w="2794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486460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효과가 있으면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2560320" y="5138928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제대로 된 서비스로 만듭니다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6967728" y="4736592"/>
            <a:ext cx="4562856" cy="932688"/>
          </a:xfrm>
          <a:prstGeom prst="roundRect">
            <a:avLst>
              <a:gd name="adj" fmla="val 8824"/>
            </a:avLst>
          </a:prstGeom>
          <a:solidFill>
            <a:srgbClr val="FFF8E8"/>
          </a:solidFill>
          <a:ln w="27940">
            <a:solidFill>
              <a:srgbClr val="F5B5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4864608"/>
            <a:ext cx="405079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B07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효과가 없으면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223760" y="5138928"/>
            <a:ext cx="40507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B07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버리고, 새로운 방법으로 다시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9249156" y="5669280"/>
            <a:ext cx="7315" cy="201168"/>
          </a:xfrm>
          <a:prstGeom prst="line">
            <a:avLst/>
          </a:prstGeom>
          <a:noFill/>
          <a:ln w="30480">
            <a:solidFill>
              <a:srgbClr val="F5B5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00784" y="5870448"/>
            <a:ext cx="7548372" cy="7315"/>
          </a:xfrm>
          <a:prstGeom prst="line">
            <a:avLst/>
          </a:prstGeom>
          <a:noFill/>
          <a:ln w="30480">
            <a:solidFill>
              <a:srgbClr val="F5B5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700784" y="4334256"/>
            <a:ext cx="7315" cy="1536192"/>
          </a:xfrm>
          <a:prstGeom prst="line">
            <a:avLst/>
          </a:prstGeom>
          <a:noFill/>
          <a:ln w="30480">
            <a:solidFill>
              <a:srgbClr val="F5B544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1901952" y="55778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다시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44768" y="5961888"/>
            <a:ext cx="53858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사이클을 계속 돌려서 41개를 만들었습니다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658368" y="6327648"/>
            <a:ext cx="10872216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0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오성철강 연구소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0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83664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12064"/>
            <a:ext cx="68580" cy="29260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4754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b="1" kern="0" spc="20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REQUEST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프로그램을 사주는 지원이 아니라, 공장이 스스로 만들 수 있게 해주는 지원입니다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207008"/>
            <a:ext cx="1087221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모델공장」으로 </a:t>
            </a:r>
            <a:r>
              <a:rPr lang="en-US" sz="32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지정해 주십시오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58368" y="1975104"/>
            <a:ext cx="3441192" cy="1371600"/>
          </a:xfrm>
          <a:prstGeom prst="roundRect">
            <a:avLst>
              <a:gd name="adj" fmla="val 6000"/>
            </a:avLst>
          </a:prstGeom>
          <a:solidFill>
            <a:srgbClr val="141F36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75104"/>
            <a:ext cx="3441192" cy="6400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12848"/>
            <a:ext cx="29291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2명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67004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볼 한 명,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 적용할 한 명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73880" y="1975104"/>
            <a:ext cx="3441192" cy="1371600"/>
          </a:xfrm>
          <a:prstGeom prst="roundRect">
            <a:avLst>
              <a:gd name="adj" fmla="val 6000"/>
            </a:avLst>
          </a:prstGeom>
          <a:solidFill>
            <a:srgbClr val="141F36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3880" y="1975104"/>
            <a:ext cx="3441192" cy="6400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4" name="Text 12"/>
          <p:cNvSpPr/>
          <p:nvPr/>
        </p:nvSpPr>
        <p:spPr>
          <a:xfrm>
            <a:off x="4629912" y="2212848"/>
            <a:ext cx="29291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볼 예산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29912" y="267004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공정까지 완성하고,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29912" y="294436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공장도 쓸 수 있게 정리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89392" y="1975104"/>
            <a:ext cx="3441192" cy="1371600"/>
          </a:xfrm>
          <a:prstGeom prst="roundRect">
            <a:avLst>
              <a:gd name="adj" fmla="val 6000"/>
            </a:avLst>
          </a:prstGeom>
          <a:solidFill>
            <a:srgbClr val="141F36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9392" y="1975104"/>
            <a:ext cx="3441192" cy="6400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9" name="Text 17"/>
          <p:cNvSpPr/>
          <p:nvPr/>
        </p:nvSpPr>
        <p:spPr>
          <a:xfrm>
            <a:off x="8345424" y="2212848"/>
            <a:ext cx="29291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와서 볼 수 있는 곳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45424" y="267004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산업단지 안에 상설 견학장,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45424" y="2944368"/>
            <a:ext cx="2929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공장 대상 교육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8368" y="3438144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한 곳을 도와주시면,  주변 공장들이 와서 보고 배울 곳이 생깁니다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37124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저희에게 꿈을 꾸게 해주었습니다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" y="4059936"/>
            <a:ext cx="3453384" cy="1207008"/>
          </a:xfrm>
          <a:prstGeom prst="roundRect">
            <a:avLst>
              <a:gd name="adj" fmla="val 6818"/>
            </a:avLst>
          </a:prstGeom>
          <a:solidFill>
            <a:srgbClr val="19243D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059936"/>
            <a:ext cx="3453384" cy="64008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61104"/>
            <a:ext cx="2941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직원들에게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4400" y="4590288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기술자가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4882896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될 수 있다는 꿈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367784" y="4059936"/>
            <a:ext cx="3453384" cy="1207008"/>
          </a:xfrm>
          <a:prstGeom prst="roundRect">
            <a:avLst>
              <a:gd name="adj" fmla="val 6818"/>
            </a:avLst>
          </a:prstGeom>
          <a:solidFill>
            <a:srgbClr val="19243D"/>
          </a:solidFill>
          <a:ln w="20320">
            <a:solidFill>
              <a:srgbClr val="2E3E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67784" y="4059936"/>
            <a:ext cx="3453384" cy="6400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31" name="Text 29"/>
          <p:cNvSpPr/>
          <p:nvPr/>
        </p:nvSpPr>
        <p:spPr>
          <a:xfrm>
            <a:off x="4623816" y="4261104"/>
            <a:ext cx="2941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오성철강에게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23816" y="4590288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싸구려가 아니라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623816" y="4882896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D5DC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품질로 파는 꿈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077200" y="4059936"/>
            <a:ext cx="3453384" cy="1207008"/>
          </a:xfrm>
          <a:prstGeom prst="roundRect">
            <a:avLst>
              <a:gd name="adj" fmla="val 6818"/>
            </a:avLst>
          </a:prstGeom>
          <a:solidFill>
            <a:srgbClr val="1C1407"/>
          </a:solidFill>
          <a:ln w="30480">
            <a:solidFill>
              <a:srgbClr val="F5B5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77200" y="4059936"/>
            <a:ext cx="3453384" cy="6400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6" name="Text 34"/>
          <p:cNvSpPr/>
          <p:nvPr/>
        </p:nvSpPr>
        <p:spPr>
          <a:xfrm>
            <a:off x="8333232" y="4261104"/>
            <a:ext cx="2941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4,000곳의 철강 회사에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333232" y="4590288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꿈을 같이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333232" y="4882896"/>
            <a:ext cx="2941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꾸게 하고 싶습니다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58368" y="5449824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3400" b="1" kern="0" spc="26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40" name="Text 38"/>
          <p:cNvSpPr/>
          <p:nvPr/>
        </p:nvSpPr>
        <p:spPr>
          <a:xfrm>
            <a:off x="5779008" y="5559552"/>
            <a:ext cx="575157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새로 만드는 것이 아니라,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찾아내는 것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779008" y="5907024"/>
            <a:ext cx="57515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찾아내려면, 계속 물어봐야 합니다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58368" y="6327648"/>
            <a:ext cx="10872216" cy="12802"/>
          </a:xfrm>
          <a:prstGeom prst="rect">
            <a:avLst/>
          </a:prstGeom>
          <a:solidFill>
            <a:srgbClr val="2E3E5C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050" b="1" kern="0" spc="14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요청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050" b="1" kern="0" spc="1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576</Words>
  <Application>Microsoft Office PowerPoint</Application>
  <PresentationFormat>와이드스크린</PresentationFormat>
  <Paragraphs>133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— 자체개발형 AI 모델공장 (4장)</dc:title>
  <dc:subject>PptxGenJS Presentation</dc:subject>
  <dc:creator>PptxGenJS</dc:creator>
  <cp:lastModifiedBy>대균 정</cp:lastModifiedBy>
  <cp:revision>2</cp:revision>
  <dcterms:created xsi:type="dcterms:W3CDTF">2026-09-16T08:28:22Z</dcterms:created>
  <dcterms:modified xsi:type="dcterms:W3CDTF">2026-09-17T04:27:11Z</dcterms:modified>
</cp:coreProperties>
</file>