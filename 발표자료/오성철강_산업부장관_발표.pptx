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6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97280"/>
            <a:ext cx="10872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〔 배경 사진 : 잠실 주경기장 재건축 현장 항공사진 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3246120"/>
            <a:ext cx="10872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7F93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산업통상자원부 장관 보고 ·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3657600"/>
            <a:ext cx="1087221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 만에,</a:t>
            </a:r>
            <a:endParaRPr lang="en-US" sz="50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우리도 다시 짓습니다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58368" y="5486400"/>
            <a:ext cx="10872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B0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· AI 전환 보고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457200"/>
            <a:ext cx="2368296" cy="411480"/>
          </a:xfrm>
          <a:prstGeom prst="roundRect">
            <a:avLst>
              <a:gd name="adj" fmla="val 4888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5720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자리에 왔는가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722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전기차 한 대에는</a:t>
            </a:r>
            <a:endParaRPr lang="en-US" sz="36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강판이 들어갑니다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2514600"/>
            <a:ext cx="1087221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완성차가 경쟁력을 가지려면 고품질 소재가 경쟁력 있는 가격에 공급되어야 합니다.</a:t>
            </a:r>
            <a:endParaRPr lang="en-US" sz="190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소재를 자르고 펴서 공장으로 보내는 일은, 우리 같은 회사가 합니다.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58368" y="3520440"/>
            <a:ext cx="2286000" cy="960120"/>
          </a:xfrm>
          <a:prstGeom prst="roundRect">
            <a:avLst>
              <a:gd name="adj" fmla="val 11429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36301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8368" y="40507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44368" y="3520440"/>
            <a:ext cx="3840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6BF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328416" y="3520440"/>
            <a:ext cx="2286000" cy="960120"/>
          </a:xfrm>
          <a:prstGeom prst="roundRect">
            <a:avLst>
              <a:gd name="adj" fmla="val 1142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6301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가공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328416" y="40507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14416" y="3520440"/>
            <a:ext cx="3840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6BF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998464" y="3520440"/>
            <a:ext cx="2286000" cy="960120"/>
          </a:xfrm>
          <a:prstGeom prst="roundRect">
            <a:avLst>
              <a:gd name="adj" fmla="val 11429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36301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998464" y="40507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벤더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84464" y="3520440"/>
            <a:ext cx="3840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6BF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668512" y="3520440"/>
            <a:ext cx="2286000" cy="960120"/>
          </a:xfrm>
          <a:prstGeom prst="roundRect">
            <a:avLst>
              <a:gd name="adj" fmla="val 11429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68512" y="36301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완성차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668512" y="40507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전기차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8368" y="4892040"/>
            <a:ext cx="82296" cy="12344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4892040"/>
            <a:ext cx="10579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35"/>
              </a:lnSpc>
              <a:buNone/>
            </a:pPr>
            <a:r>
              <a:rPr lang="en-US" sz="23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그 기초를 맡은 공장들이 무너지고 있습니다.</a:t>
            </a:r>
            <a:endParaRPr lang="en-US" sz="2300" dirty="0"/>
          </a:p>
          <a:p>
            <a:pPr indent="0" marL="0">
              <a:lnSpc>
                <a:spcPts val="3335"/>
              </a:lnSpc>
              <a:buNone/>
            </a:pPr>
            <a:r>
              <a:rPr lang="en-US" sz="23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소재가 흔들리면, 그 위의 모든 산업이 흔들립니다.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457200"/>
            <a:ext cx="2542032" cy="411480"/>
          </a:xfrm>
          <a:prstGeom prst="roundRect">
            <a:avLst>
              <a:gd name="adj" fmla="val 4888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57200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그런 회사입니다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1983년,</a:t>
            </a:r>
            <a:endParaRPr lang="en-US" sz="36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첨단이었습니다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 주경기장 지붕을 만들던 회사였습니다.</a:t>
            </a:r>
            <a:endParaRPr lang="en-US" sz="190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43년이 지났습니다.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58368" y="34290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8368" y="4251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1983년 설립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84448" y="34290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12명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84448" y="4251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임직원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0" y="1051560"/>
            <a:ext cx="4663440" cy="3566160"/>
          </a:xfrm>
          <a:prstGeom prst="roundRect">
            <a:avLst>
              <a:gd name="adj" fmla="val 2564"/>
            </a:avLst>
          </a:prstGeom>
          <a:solidFill>
            <a:srgbClr val="EEF1F6"/>
          </a:solidFill>
          <a:ln w="25400">
            <a:solidFill>
              <a:srgbClr val="B6BFD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040880" y="1051560"/>
            <a:ext cx="42976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7E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〔 잠실 주경기장 지붕 사진 〕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7E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당시 사진 또는 현재 재건축 사진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" y="4983480"/>
            <a:ext cx="82296" cy="12344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4983480"/>
            <a:ext cx="10579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80"/>
              </a:lnSpc>
              <a:buNone/>
            </a:pPr>
            <a:r>
              <a:rPr lang="en-US" sz="24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 전통의 회사가 아닙니다.</a:t>
            </a:r>
            <a:endParaRPr lang="en-US" sz="2400" dirty="0"/>
          </a:p>
          <a:p>
            <a:pPr indent="0" marL="0">
              <a:lnSpc>
                <a:spcPts val="3480"/>
              </a:lnSpc>
              <a:buNone/>
            </a:pPr>
            <a:r>
              <a:rPr lang="en-US" sz="24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회사도 오래되었고, 기계도 오래되었고, 사람도 오래되었습니다.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2194560"/>
            <a:ext cx="108722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우리가 잡은 목적은</a:t>
            </a:r>
            <a:endParaRPr lang="en-US" sz="4200" dirty="0"/>
          </a:p>
          <a:p>
            <a:pPr algn="ctr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 향상이었습니다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58368" y="4206240"/>
            <a:ext cx="108722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2200" b="1" dirty="0">
                <a:solidFill>
                  <a:srgbClr val="5C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빨리, 더 많이 만들면 살아남을 줄 알았습니다.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457200"/>
            <a:ext cx="1673352" cy="411480"/>
          </a:xfrm>
          <a:prstGeom prst="roundRect">
            <a:avLst>
              <a:gd name="adj" fmla="val 48889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57200"/>
            <a:ext cx="1673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2D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 실패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722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 답은 장비였습니다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58368" y="2331720"/>
            <a:ext cx="5207508" cy="1371600"/>
          </a:xfrm>
          <a:prstGeom prst="roundRect">
            <a:avLst>
              <a:gd name="adj" fmla="val 8000"/>
            </a:avLst>
          </a:prstGeom>
          <a:solidFill>
            <a:srgbClr val="E8F3E8"/>
          </a:solidFill>
          <a:ln w="12700">
            <a:solidFill>
              <a:srgbClr val="E8F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560320"/>
            <a:ext cx="46588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B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올라간 것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3081528"/>
            <a:ext cx="46588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323076" y="2331720"/>
            <a:ext cx="5207508" cy="1371600"/>
          </a:xfrm>
          <a:prstGeom prst="roundRect">
            <a:avLst>
              <a:gd name="adj" fmla="val 8000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7396" y="2560320"/>
            <a:ext cx="46588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2D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오르지 않은 것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97396" y="3081528"/>
            <a:ext cx="46588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· 고부가가치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58368" y="4114800"/>
            <a:ext cx="82296" cy="1097280"/>
          </a:xfrm>
          <a:prstGeom prst="rect">
            <a:avLst/>
          </a:prstGeom>
          <a:solidFill>
            <a:srgbClr val="B8791A"/>
          </a:solidFill>
          <a:ln w="12700">
            <a:solidFill>
              <a:srgbClr val="B879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4114800"/>
            <a:ext cx="105796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770"/>
              </a:lnSpc>
              <a:buNone/>
            </a:pPr>
            <a:r>
              <a:rPr lang="en-US" sz="2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세탁소가 비싼 세탁기를 들여놨다고</a:t>
            </a:r>
            <a:endParaRPr lang="en-US" sz="2600" dirty="0"/>
          </a:p>
          <a:p>
            <a:pPr indent="0" marL="0">
              <a:lnSpc>
                <a:spcPts val="3770"/>
              </a:lnSpc>
              <a:buNone/>
            </a:pPr>
            <a:r>
              <a:rPr lang="en-US" sz="2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세탁비를 더 받지는 못합니다.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8368" y="5349240"/>
            <a:ext cx="108722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5C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손님은 그 세탁기를 볼 수 없기 때문입니다.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457200"/>
            <a:ext cx="1673352" cy="411480"/>
          </a:xfrm>
          <a:prstGeom prst="roundRect">
            <a:avLst>
              <a:gd name="adj" fmla="val 48889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57200"/>
            <a:ext cx="1673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2D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실패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722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답은 차별화였습니다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2286000"/>
            <a:ext cx="108722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코일센터 최초로 AI 기반 불량 측정 서비스를 만들었습니다. 대상도 받았습니다.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58368" y="2880360"/>
            <a:ext cx="5207508" cy="1280160"/>
          </a:xfrm>
          <a:prstGeom prst="roundRect">
            <a:avLst>
              <a:gd name="adj" fmla="val 8571"/>
            </a:avLst>
          </a:prstGeom>
          <a:solidFill>
            <a:srgbClr val="E8F3E8"/>
          </a:solidFill>
          <a:ln w="12700">
            <a:solidFill>
              <a:srgbClr val="E8F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3108960"/>
            <a:ext cx="46588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B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3630168"/>
            <a:ext cx="46588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완벽하게 성공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323076" y="2880360"/>
            <a:ext cx="5207508" cy="1280160"/>
          </a:xfrm>
          <a:prstGeom prst="roundRect">
            <a:avLst>
              <a:gd name="adj" fmla="val 8571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7396" y="3108960"/>
            <a:ext cx="46588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2D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97396" y="3630168"/>
            <a:ext cx="46588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58368" y="4572000"/>
            <a:ext cx="82296" cy="123444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4572000"/>
            <a:ext cx="10579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35"/>
              </a:lnSpc>
              <a:buNone/>
            </a:pPr>
            <a:r>
              <a:rPr lang="en-US" sz="23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아무리 좋은 서비스도</a:t>
            </a:r>
            <a:endParaRPr lang="en-US" sz="2300" dirty="0"/>
          </a:p>
          <a:p>
            <a:pPr indent="0" marL="0">
              <a:lnSpc>
                <a:spcPts val="3335"/>
              </a:lnSpc>
              <a:buNone/>
            </a:pPr>
            <a:r>
              <a:rPr lang="en-US" sz="23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고객에게 닿지 않으면 없는 것과 같았습니다.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457200"/>
            <a:ext cx="1673352" cy="411480"/>
          </a:xfrm>
          <a:prstGeom prst="roundRect">
            <a:avLst>
              <a:gd name="adj" fmla="val 4888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57200"/>
            <a:ext cx="1673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실패했는가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722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알고 있습니다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13232" y="2478024"/>
            <a:ext cx="146304" cy="14630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331720"/>
            <a:ext cx="10460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목표가 추상적이었습니다 — "생산성을 올린다"는 목표가 아니라 구호였습니다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13232" y="3136392"/>
            <a:ext cx="146304" cy="14630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990088"/>
            <a:ext cx="10460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목적이 한쪽에 치우쳤습니다 — 만드는 쪽만 보고, 파는 쪽을 보지 않았습니다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3794760"/>
            <a:ext cx="146304" cy="14630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3648456"/>
            <a:ext cx="10460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기계로 공정을 개선하려면 공정을 알아야 하는데, 우리 공정을 몰랐습니다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58368" y="4617720"/>
            <a:ext cx="82296" cy="12344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4617720"/>
            <a:ext cx="10579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80"/>
              </a:lnSpc>
              <a:buNone/>
            </a:pPr>
            <a:r>
              <a:rPr lang="en-US" sz="24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목표를 세운 게 아니라, 구매를 한 것이었습니다.</a:t>
            </a:r>
            <a:endParaRPr lang="en-US" sz="2400" dirty="0"/>
          </a:p>
          <a:p>
            <a:pPr indent="0" marL="0">
              <a:lnSpc>
                <a:spcPts val="3480"/>
              </a:lnSpc>
              <a:buNone/>
            </a:pPr>
            <a:r>
              <a:rPr lang="en-US" sz="24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IT를 30년 한 저도 못 했습니다.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8722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AI가 나오면서</a:t>
            </a:r>
            <a:endParaRPr lang="en-US" sz="4000" dirty="0"/>
          </a:p>
          <a:p>
            <a:pPr algn="ctr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것이 바뀌었습니다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2606040"/>
            <a:ext cx="108722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만들 수 있게 되었습니다.</a:t>
            </a:r>
            <a:endParaRPr lang="en-US" sz="1900" dirty="0"/>
          </a:p>
          <a:p>
            <a:pPr algn="ctr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만든 것은 조잡했습니다. 그래도 하나씩 했습니다.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58368" y="3429000"/>
            <a:ext cx="10872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11개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10872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매일 돌아가는 서비스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4709160"/>
            <a:ext cx="82296" cy="12344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4709160"/>
            <a:ext cx="10579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IT를 30년 한 저도 못 했던 일이, AI가 나오자 되기 시작했습니다.</a:t>
            </a:r>
            <a:endParaRPr lang="en-US" sz="2200" dirty="0"/>
          </a:p>
          <a:p>
            <a:pPr indent="0" marL="0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말은 — 이제 IT 전문가가 아니어도 된다는 뜻입니다.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6035040"/>
            <a:ext cx="10872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지금부터 우리가 어디로 가는지 말씀드리겠습니다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457200"/>
            <a:ext cx="2542032" cy="411480"/>
          </a:xfrm>
          <a:prstGeom prst="roundRect">
            <a:avLst>
              <a:gd name="adj" fmla="val 4888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57200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목표를 다시 세웠습니다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722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국가가 필요한 것과,</a:t>
            </a:r>
            <a:endParaRPr lang="en-US" sz="36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공장이 필요한 것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58368" y="2743200"/>
            <a:ext cx="5207508" cy="1554480"/>
          </a:xfrm>
          <a:prstGeom prst="roundRect">
            <a:avLst>
              <a:gd name="adj" fmla="val 705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971800"/>
            <a:ext cx="46588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3493008"/>
            <a:ext cx="46588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고품질 소재를</a:t>
            </a:r>
            <a:endParaRPr lang="en-US" sz="1900" dirty="0"/>
          </a:p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경쟁력 있는 가격에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323076" y="2743200"/>
            <a:ext cx="5207508" cy="1554480"/>
          </a:xfrm>
          <a:prstGeom prst="roundRect">
            <a:avLst>
              <a:gd name="adj" fmla="val 7059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7396" y="2971800"/>
            <a:ext cx="46588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79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97396" y="3493008"/>
            <a:ext cx="46588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품질을 증명하지 못하면 값을 받지 못하고,</a:t>
            </a:r>
            <a:endParaRPr lang="en-US" sz="1700" dirty="0"/>
          </a:p>
          <a:p>
            <a:pPr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받지 못하면 품질에 투자할 수 없습니다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4709160"/>
            <a:ext cx="82296" cy="12344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4709160"/>
            <a:ext cx="10579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25"/>
              </a:lnSpc>
              <a:buNone/>
            </a:pPr>
            <a:r>
              <a:rPr lang="en-US" sz="25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"잘 만드는 회사"가 아니라</a:t>
            </a:r>
            <a:endParaRPr lang="en-US" sz="2500" dirty="0"/>
          </a:p>
          <a:p>
            <a:pPr indent="0" marL="0">
              <a:lnSpc>
                <a:spcPts val="3625"/>
              </a:lnSpc>
              <a:buNone/>
            </a:pPr>
            <a:r>
              <a:rPr lang="en-US" sz="25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"품질을 증명해서 값을 받는 회사"가 된다</a:t>
            </a:r>
            <a:endParaRPr lang="en-US" sz="2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457200"/>
            <a:ext cx="2020824" cy="411480"/>
          </a:xfrm>
          <a:prstGeom prst="roundRect">
            <a:avLst>
              <a:gd name="adj" fmla="val 4888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57200"/>
            <a:ext cx="2020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 배운 방식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10872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통신망은 장비만 감시하지 않습니다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91640"/>
          <a:ext cx="10872216" cy="914400"/>
        </p:xfrm>
        <a:graphic>
          <a:graphicData uri="http://schemas.openxmlformats.org/drawingml/2006/table">
            <a:tbl>
              <a:tblPr/>
              <a:tblGrid>
                <a:gridCol w="5436108"/>
                <a:gridCol w="5436108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KT에서 하던 일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오성철강에서 하는 일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B32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모든 장비를 연결한다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B32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설비 연결 — 2초 간격, 182만 건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B32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실시간으로 감시한다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B32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라인 관제 · 현장 대시보드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B32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누구나 하도록 SOP를 만든다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B32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태블릿 · 한국어 영어 도구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B32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장애를 분석해 재발을 막는다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B32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 상세분석 · 이상 알람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24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신청을 받아 자동으로 개통한다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24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→ 작업지시 자동 생성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24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완료되면 고객에게 통보한다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24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 · 출고 자동 통보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24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24시간 조회하게 한다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24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 포털 — 재고 · 작업 · 단가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24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이력을 보고 먼저 제안한다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24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조용해진 거래처 자동 탐지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8368" y="5943600"/>
            <a:ext cx="10872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실패는 정확히 아래 네 줄이 없어서 생긴 일이었습니다.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457200"/>
            <a:ext cx="2194560" cy="411480"/>
          </a:xfrm>
          <a:prstGeom prst="roundRect">
            <a:avLst>
              <a:gd name="adj" fmla="val 4888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57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장으로 설명하면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722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공장에 내비게이션과</a:t>
            </a:r>
            <a:endParaRPr lang="en-US" sz="36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블랙박스를 달았습니다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3017520"/>
          <a:ext cx="10872216" cy="914400"/>
        </p:xfrm>
        <a:graphic>
          <a:graphicData uri="http://schemas.openxmlformats.org/drawingml/2006/table">
            <a:tbl>
              <a:tblPr/>
              <a:tblGrid>
                <a:gridCol w="5436108"/>
                <a:gridCol w="543610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자동차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공장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32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출발 전 경로 안내 — 남들은 몇 분 걸렸나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32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 전 — 같은 제품을 전에 어떻게 만들었나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32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주행 중 안내 — 지금 과속인가 저속인가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32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 중 — 지금 빠른가 늦은가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32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블랙박스 — 언제든 되돌려 본다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32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 후 — 그 순간으로 되돌아간다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32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사고 원인 분석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324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불량 원인 분석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457200"/>
            <a:ext cx="3236976" cy="411480"/>
          </a:xfrm>
          <a:prstGeom prst="roundRect">
            <a:avLst>
              <a:gd name="adj" fmla="val 4888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57200"/>
            <a:ext cx="3236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경로 안내 · 실시간 안내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6309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숙련공의 기억이 아니라</a:t>
            </a:r>
            <a:endParaRPr lang="en-US" sz="27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작업의 실측이 기준입니다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2468880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제품을 이미 만든 코일들을 찾아, 그때 어떤 속도와 힘으로 돌았는지를 평균 내서 보여줍니다. 40년 공장장이 머릿속으로 하던 계산은 태블릿이 대신합니다.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3931920"/>
            <a:ext cx="6309360" cy="1143000"/>
          </a:xfrm>
          <a:prstGeom prst="roundRect">
            <a:avLst>
              <a:gd name="adj" fmla="val 9600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420624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서비스는 현장 직원의 요청으로 시작됐습니다.</a:t>
            </a:r>
            <a:endParaRPr lang="en-US" sz="1700" dirty="0"/>
          </a:p>
          <a:p>
            <a:pPr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한국어판과 영어판을 따로 만들었습니다.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178040" y="1051560"/>
            <a:ext cx="4343400" cy="4023360"/>
          </a:xfrm>
          <a:prstGeom prst="roundRect">
            <a:avLst>
              <a:gd name="adj" fmla="val 2273"/>
            </a:avLst>
          </a:prstGeom>
          <a:solidFill>
            <a:srgbClr val="EEF1F6"/>
          </a:solidFill>
          <a:ln w="25400">
            <a:solidFill>
              <a:srgbClr val="B6BFD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360920" y="1051560"/>
            <a:ext cx="39776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7E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〔 현장 사진 〕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7E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태블릿을 보는 작업자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5349240"/>
            <a:ext cx="10872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도구를 영어로도 만들었습니다. 나중에 이 사람들이 장비를 직접 고치기 시작합니다.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457200"/>
            <a:ext cx="2542032" cy="411480"/>
          </a:xfrm>
          <a:prstGeom prst="roundRect">
            <a:avLst>
              <a:gd name="adj" fmla="val 4888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57200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하나가 있었습니다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722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뽑을 단자가 없는 장비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58368" y="2514600"/>
            <a:ext cx="5207508" cy="1600200"/>
          </a:xfrm>
          <a:prstGeom prst="roundRect">
            <a:avLst>
              <a:gd name="adj" fmla="val 6857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743200"/>
            <a:ext cx="46588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2D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방법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3264408"/>
            <a:ext cx="46588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바꾼다</a:t>
            </a:r>
            <a:endParaRPr lang="en-US" sz="2100" dirty="0"/>
          </a:p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수천만 원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323076" y="2514600"/>
            <a:ext cx="5207508" cy="1600200"/>
          </a:xfrm>
          <a:prstGeom prst="roundRect">
            <a:avLst>
              <a:gd name="adj" fmla="val 6857"/>
            </a:avLst>
          </a:prstGeom>
          <a:solidFill>
            <a:srgbClr val="E8F3E8"/>
          </a:solidFill>
          <a:ln w="12700">
            <a:solidFill>
              <a:srgbClr val="E8F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7396" y="2743200"/>
            <a:ext cx="46588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B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한 것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97396" y="3264408"/>
            <a:ext cx="46588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카메라를 계기판 앞에 두고</a:t>
            </a:r>
            <a:endParaRPr lang="en-US" sz="1800" dirty="0"/>
          </a:p>
          <a:p>
            <a:pPr indent="0" marL="0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숫자를 읽는다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" y="4343400"/>
            <a:ext cx="108722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1분마다 6개 값이 자동으로 기록됩니다.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58368" y="4892040"/>
            <a:ext cx="82296" cy="12344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4892040"/>
            <a:ext cx="10579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80"/>
              </a:lnSpc>
              <a:buNone/>
            </a:pPr>
            <a:r>
              <a:rPr lang="en-US" sz="24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바꾸지 않고 데이터를 얻었습니다.</a:t>
            </a:r>
            <a:endParaRPr lang="en-US" sz="2400" dirty="0"/>
          </a:p>
          <a:p>
            <a:pPr indent="0" marL="0">
              <a:lnSpc>
                <a:spcPts val="3480"/>
              </a:lnSpc>
              <a:buNone/>
            </a:pPr>
            <a:r>
              <a:rPr lang="en-US" sz="24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억대 설비 교체 대신, 휴대폰 한 대였습니다.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457200"/>
            <a:ext cx="1499616" cy="411480"/>
          </a:xfrm>
          <a:prstGeom prst="roundRect">
            <a:avLst>
              <a:gd name="adj" fmla="val 4888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5720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블랙박스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722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"그때 어떻게 돌렸지?"에</a:t>
            </a:r>
            <a:endParaRPr lang="en-US" sz="36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답할 수 있습니다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58368" y="3017520"/>
            <a:ext cx="5207508" cy="1737360"/>
          </a:xfrm>
          <a:prstGeom prst="roundRect">
            <a:avLst>
              <a:gd name="adj" fmla="val 6316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3246120"/>
            <a:ext cx="46588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2D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3767328"/>
            <a:ext cx="46588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불량이 나와도</a:t>
            </a:r>
            <a:endParaRPr lang="en-US" sz="1900" dirty="0"/>
          </a:p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답하지 못했습니다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323076" y="3017520"/>
            <a:ext cx="5207508" cy="1737360"/>
          </a:xfrm>
          <a:prstGeom prst="roundRect">
            <a:avLst>
              <a:gd name="adj" fmla="val 6316"/>
            </a:avLst>
          </a:prstGeom>
          <a:solidFill>
            <a:srgbClr val="E8F3E8"/>
          </a:solidFill>
          <a:ln w="12700">
            <a:solidFill>
              <a:srgbClr val="E8F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7396" y="3246120"/>
            <a:ext cx="46588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B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97396" y="3767328"/>
            <a:ext cx="46588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번호와 위치를 넣으면</a:t>
            </a:r>
            <a:endParaRPr lang="en-US" sz="1900" dirty="0"/>
          </a:p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순간의 속도와 힘이 그대로 나옵니다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8368" y="5029200"/>
            <a:ext cx="108722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기사님이 전화하면 거래처 이름만 넣어 세 개 라인 전체에서 찾습니다.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457200"/>
            <a:ext cx="2194560" cy="411480"/>
          </a:xfrm>
          <a:prstGeom prst="roundRect">
            <a:avLst>
              <a:gd name="adj" fmla="val 4888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57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사고 원인 분석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722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찾아낸 것들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58368" y="2377440"/>
            <a:ext cx="3471672" cy="2286000"/>
          </a:xfrm>
          <a:prstGeom prst="roundRect">
            <a:avLst>
              <a:gd name="adj" fmla="val 4800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606040"/>
            <a:ext cx="292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난 센서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3127248"/>
            <a:ext cx="29230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60건을 한 번에 훑었더니, 5건은 힘을 재는 센서 4개 중 3개가 가동 내내 0이었습니다. 가공이 아니라 배선 문제였습니다.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58640" y="2377440"/>
            <a:ext cx="3471672" cy="2286000"/>
          </a:xfrm>
          <a:prstGeom prst="roundRect">
            <a:avLst>
              <a:gd name="adj" fmla="val 4800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2960" y="2606040"/>
            <a:ext cx="292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남의 시스템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32960" y="3127248"/>
            <a:ext cx="29230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납품받은 검사 시스템을 뜯어봤더니 일부 코일은 결함 기록의 94.2%가 시험용 가짜 데이터였습니다.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58912" y="2377440"/>
            <a:ext cx="3471672" cy="2286000"/>
          </a:xfrm>
          <a:prstGeom prst="roundRect">
            <a:avLst>
              <a:gd name="adj" fmla="val 4800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3232" y="2606040"/>
            <a:ext cx="292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시스템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33232" y="3127248"/>
            <a:ext cx="29230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화면에서 시각이 9시간 밀려 기록되던 오류를 찾아 전부 고쳤습니다.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" y="4983480"/>
            <a:ext cx="82296" cy="8229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4983480"/>
            <a:ext cx="10579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770"/>
              </a:lnSpc>
              <a:buNone/>
            </a:pPr>
            <a:r>
              <a:rPr lang="en-US" sz="2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숫자를 믿지 않고, 확인합니다.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457200"/>
            <a:ext cx="2020824" cy="411480"/>
          </a:xfrm>
          <a:prstGeom prst="roundRect">
            <a:avLst>
              <a:gd name="adj" fmla="val 4888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57200"/>
            <a:ext cx="2020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주문에서 통보까지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722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손이 없습니다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58368" y="2377440"/>
            <a:ext cx="1474797" cy="1143000"/>
          </a:xfrm>
          <a:prstGeom prst="roundRect">
            <a:avLst>
              <a:gd name="adj" fmla="val 9600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468880"/>
            <a:ext cx="14747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2743200"/>
            <a:ext cx="147479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24605" y="2377440"/>
            <a:ext cx="1474797" cy="1143000"/>
          </a:xfrm>
          <a:prstGeom prst="roundRect">
            <a:avLst>
              <a:gd name="adj" fmla="val 9600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24605" y="2468880"/>
            <a:ext cx="14747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24605" y="2743200"/>
            <a:ext cx="147479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확인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90841" y="2377440"/>
            <a:ext cx="1474797" cy="1143000"/>
          </a:xfrm>
          <a:prstGeom prst="roundRect">
            <a:avLst>
              <a:gd name="adj" fmla="val 9600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0841" y="2468880"/>
            <a:ext cx="14747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90841" y="2743200"/>
            <a:ext cx="147479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작업지시서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생성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57078" y="2377440"/>
            <a:ext cx="1474797" cy="1143000"/>
          </a:xfrm>
          <a:prstGeom prst="roundRect">
            <a:avLst>
              <a:gd name="adj" fmla="val 9600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7078" y="2468880"/>
            <a:ext cx="14747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57078" y="2743200"/>
            <a:ext cx="147479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하달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23314" y="2377440"/>
            <a:ext cx="1474797" cy="1143000"/>
          </a:xfrm>
          <a:prstGeom prst="roundRect">
            <a:avLst>
              <a:gd name="adj" fmla="val 9600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3314" y="2468880"/>
            <a:ext cx="14747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23314" y="2743200"/>
            <a:ext cx="147479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489551" y="2377440"/>
            <a:ext cx="1474797" cy="1143000"/>
          </a:xfrm>
          <a:prstGeom prst="roundRect">
            <a:avLst>
              <a:gd name="adj" fmla="val 9600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89551" y="2468880"/>
            <a:ext cx="14747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89551" y="2743200"/>
            <a:ext cx="147479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055787" y="2377440"/>
            <a:ext cx="1474797" cy="1143000"/>
          </a:xfrm>
          <a:prstGeom prst="roundRect">
            <a:avLst>
              <a:gd name="adj" fmla="val 9600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5787" y="2468880"/>
            <a:ext cx="14747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5787" y="2743200"/>
            <a:ext cx="147479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 ·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통보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8368" y="4023360"/>
            <a:ext cx="5207508" cy="1463040"/>
          </a:xfrm>
          <a:prstGeom prst="roundRect">
            <a:avLst>
              <a:gd name="adj" fmla="val 7500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4251960"/>
            <a:ext cx="46588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2D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32688" y="4773168"/>
            <a:ext cx="46588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보고 손으로 다시 입력</a:t>
            </a:r>
            <a:endParaRPr lang="en-US" sz="1800" dirty="0"/>
          </a:p>
          <a:p>
            <a:pPr indent="0" marL="0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빠뜨리면 현장이 모릅니다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323076" y="4023360"/>
            <a:ext cx="5207508" cy="1463040"/>
          </a:xfrm>
          <a:prstGeom prst="roundRect">
            <a:avLst>
              <a:gd name="adj" fmla="val 7500"/>
            </a:avLst>
          </a:prstGeom>
          <a:solidFill>
            <a:srgbClr val="E8F3E8"/>
          </a:solidFill>
          <a:ln w="12700">
            <a:solidFill>
              <a:srgbClr val="E8F3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97396" y="4251960"/>
            <a:ext cx="46588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B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97396" y="4773168"/>
            <a:ext cx="46588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업무시간 동안 1분마다 자동</a:t>
            </a:r>
            <a:endParaRPr lang="en-US" sz="1800" dirty="0"/>
          </a:p>
          <a:p>
            <a:pPr indent="0" marL="0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팩스 요청서는 AI가 읽습니다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457200"/>
            <a:ext cx="2542032" cy="411480"/>
          </a:xfrm>
          <a:prstGeom prst="roundRect">
            <a:avLst>
              <a:gd name="adj" fmla="val 4888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57200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24시간 봅니다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코일의 재고 · 작업 · 출고를</a:t>
            </a:r>
            <a:endParaRPr lang="en-US" sz="27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언제든 봅니다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237744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상황은 접수부터 출고완료까지 5단계로 추적되고,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것은 채팅으로 물으면 실제 데이터로 답합니다.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566160"/>
            <a:ext cx="6583680" cy="1463040"/>
          </a:xfrm>
          <a:prstGeom prst="roundRect">
            <a:avLst>
              <a:gd name="adj" fmla="val 7500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3794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우리가 먼저 찾아갑니다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431596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재고를 맡겨둔 채 조용해진 거래처를 시스템이 먼저 찾아냅니다.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63840" y="164592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A32D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9곳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86384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거래처 20곳 중 위험군 자동 식별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0" y="329184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A32D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171.9톤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863840" y="4114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거래처들에 묶여 있는 재고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457200"/>
            <a:ext cx="2368296" cy="411480"/>
          </a:xfrm>
          <a:prstGeom prst="roundRect">
            <a:avLst>
              <a:gd name="adj" fmla="val 48889"/>
            </a:avLst>
          </a:prstGeom>
          <a:solidFill>
            <a:srgbClr val="E8F3E8"/>
          </a:solidFill>
          <a:ln w="12700">
            <a:solidFill>
              <a:srgbClr val="E8F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5720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예상하지 못한 일 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722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먼저</a:t>
            </a:r>
            <a:endParaRPr lang="en-US" sz="36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요구하기 시작했습니다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2651760"/>
            <a:ext cx="108722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시키지 않았는데 내부에서 품질 개선 회의가 열렸습니다.</a:t>
            </a:r>
            <a:endParaRPr lang="en-US" sz="190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설정값을 계산해주는 도구를 만들어달라는 요구가 현장에서 올라왔습니다.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58368" y="3657600"/>
            <a:ext cx="10872216" cy="1005840"/>
          </a:xfrm>
          <a:prstGeom prst="roundRect">
            <a:avLst>
              <a:gd name="adj" fmla="val 10909"/>
            </a:avLst>
          </a:prstGeom>
          <a:solidFill>
            <a:srgbClr val="E8F3E8"/>
          </a:solidFill>
          <a:ln w="12700">
            <a:solidFill>
              <a:srgbClr val="E8F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3931920"/>
            <a:ext cx="103235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 적용했더니 설정을 잘못해서 나던 불량이 거의 사라졌습니다.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8368" y="4892040"/>
            <a:ext cx="82296" cy="12344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4892040"/>
            <a:ext cx="10579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35"/>
              </a:lnSpc>
              <a:buNone/>
            </a:pPr>
            <a:r>
              <a:rPr lang="en-US" sz="23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지시로 시작된 개선이 아니라,</a:t>
            </a:r>
            <a:endParaRPr lang="en-US" sz="2300" dirty="0"/>
          </a:p>
          <a:p>
            <a:pPr indent="0" marL="0">
              <a:lnSpc>
                <a:spcPts val="3335"/>
              </a:lnSpc>
              <a:buNone/>
            </a:pPr>
            <a:r>
              <a:rPr lang="en-US" sz="23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스스로 낸 요구였습니다.</a:t>
            </a:r>
            <a:endParaRPr lang="en-US" sz="2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457200"/>
            <a:ext cx="2368296" cy="411480"/>
          </a:xfrm>
          <a:prstGeom prst="roundRect">
            <a:avLst>
              <a:gd name="adj" fmla="val 48889"/>
            </a:avLst>
          </a:prstGeom>
          <a:solidFill>
            <a:srgbClr val="E8F3E8"/>
          </a:solidFill>
          <a:ln w="12700">
            <a:solidFill>
              <a:srgbClr val="E8F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5720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예상하지 못한 일 ②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6035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직원들이</a:t>
            </a:r>
            <a:endParaRPr lang="en-US" sz="27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고치기 시작했습니다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242316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12명 중 다섯은 외국인입니다. 설명서도 작업 기준도 전부 한국어라, 개선 제안이 나올 수 없는 구조였습니다.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도구를 한국어와 영어 두 벌로 만들자 상황이 바뀌었습니다. AI의 도움으로 언어의 벽을 넘어 장비 데이터를 직접 읽기 시작했고, 원인을 알게 되자 고치는 방법이 보였습니다.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03720" y="1051560"/>
            <a:ext cx="4617720" cy="3749040"/>
          </a:xfrm>
          <a:prstGeom prst="roundRect">
            <a:avLst>
              <a:gd name="adj" fmla="val 2439"/>
            </a:avLst>
          </a:prstGeom>
          <a:solidFill>
            <a:srgbClr val="EEF1F6"/>
          </a:solidFill>
          <a:ln w="25400">
            <a:solidFill>
              <a:srgbClr val="B6BFD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086600" y="1051560"/>
            <a:ext cx="42519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7E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〔 롤러 · 샤프트 개조 도면 〕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7E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Ø40 롤러 / 1,320mm / Ø20 샤프트 / 6204-2RS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5029200"/>
            <a:ext cx="82296" cy="8229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5029200"/>
            <a:ext cx="10579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80"/>
              </a:lnSpc>
              <a:buNone/>
            </a:pPr>
            <a:r>
              <a:rPr lang="en-US" sz="24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도면을 만든 사람은 엔지니어가 아니라, 우리 현장 직원입니다.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457200"/>
            <a:ext cx="2368296" cy="411480"/>
          </a:xfrm>
          <a:prstGeom prst="roundRect">
            <a:avLst>
              <a:gd name="adj" fmla="val 48889"/>
            </a:avLst>
          </a:prstGeom>
          <a:solidFill>
            <a:srgbClr val="E8F3E8"/>
          </a:solidFill>
          <a:ln w="12700">
            <a:solidFill>
              <a:srgbClr val="E8F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5720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예상하지 못한 일 ③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722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불량이라 했고,</a:t>
            </a:r>
            <a:endParaRPr lang="en-US" sz="36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우리를 믿지 않았습니다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2651760"/>
            <a:ext cx="108722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증명할 방법이 없었습니다. 말은 말을 이기지 못합니다.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58368" y="3200400"/>
            <a:ext cx="6583680" cy="155448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342900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AI에게 물었습니다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3950208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코일들의 작업 기록을 전부 분석해 품질 리포트를 만들어냈습니다.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863840" y="320040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EEF1F6"/>
          </a:solidFill>
          <a:ln w="25400">
            <a:solidFill>
              <a:srgbClr val="B6BFD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046720" y="320040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7E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〔 품질 분석 리포트 표지 〕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4983480"/>
            <a:ext cx="82296" cy="9144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4983480"/>
            <a:ext cx="10579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분쟁이 데이터로 끝났습니다.</a:t>
            </a:r>
            <a:endParaRPr lang="en-US" sz="2200" dirty="0"/>
          </a:p>
          <a:p>
            <a:pPr indent="0" marL="0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이건 방어 수단이 아니라 팔 수 있는 것이었습니다.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6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1920240"/>
            <a:ext cx="1087221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000" b="1" dirty="0">
                <a:solidFill>
                  <a:srgbClr val="9FB0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AI로 무언가를 만들려다 두 번 실패했습니다.</a:t>
            </a:r>
            <a:endParaRPr lang="en-US" sz="20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2000" b="1" dirty="0">
                <a:solidFill>
                  <a:srgbClr val="9FB0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번째에는 AI로 보기 시작했습니다.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" y="3291840"/>
            <a:ext cx="1087221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개발이 아니라,</a:t>
            </a:r>
            <a:endParaRPr lang="en-US" sz="44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발견을 하게 해줍니다</a:t>
            </a:r>
            <a:endParaRPr lang="en-US" sz="4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457200"/>
            <a:ext cx="1499616" cy="411480"/>
          </a:xfrm>
          <a:prstGeom prst="roundRect">
            <a:avLst>
              <a:gd name="adj" fmla="val 4888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5720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요청드립니다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005840"/>
            <a:ext cx="108722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「자체개발형 AI 모델공장」 시범 지정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1874520"/>
            <a:ext cx="108722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반월시화에는 우리 같은 공장이 4,000곳 있습니다.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이 모든 것을 지금 저 혼자 하고 있습니다.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2880360"/>
            <a:ext cx="3471672" cy="1691640"/>
          </a:xfrm>
          <a:prstGeom prst="roundRect">
            <a:avLst>
              <a:gd name="adj" fmla="val 6486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3108960"/>
            <a:ext cx="292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전담 인력 2명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3630168"/>
            <a:ext cx="29230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담당 1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적용 담당 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58640" y="2880360"/>
            <a:ext cx="3471672" cy="1691640"/>
          </a:xfrm>
          <a:prstGeom prst="roundRect">
            <a:avLst>
              <a:gd name="adj" fmla="val 6486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2960" y="3108960"/>
            <a:ext cx="292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예산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32960" y="3630168"/>
            <a:ext cx="29230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품질측정 완결 +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공장도 쓸 범용 모듈화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58912" y="2880360"/>
            <a:ext cx="3471672" cy="1691640"/>
          </a:xfrm>
          <a:prstGeom prst="roundRect">
            <a:avLst>
              <a:gd name="adj" fmla="val 6486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3232" y="3108960"/>
            <a:ext cx="292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4A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 채널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33232" y="3630168"/>
            <a:ext cx="29230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산단 내 공개 실증장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2B32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견학 · 교육 프로그램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" y="4846320"/>
            <a:ext cx="10872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E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2027년 1년 시범 → 2028년 반월시화 코일가공 업종 확대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8368" y="5303520"/>
            <a:ext cx="10872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지표 : 불량률 개선 · 적용 업체 수 · 신규 1곳 적용 소요기간 · 공개 모듈 개수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6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417320"/>
            <a:ext cx="108722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9FB0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오디세우스는 고향에 돌아오는 데 20년이 걸렸습니다.</a:t>
            </a:r>
            <a:endParaRPr lang="en-US" sz="18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9FB0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 30년이 걸렸습니다.</a:t>
            </a:r>
            <a:endParaRPr lang="en-US" sz="18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9FB0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돌아와 보니, 밖에서 배운 것이 여기서 쓸모가 있었습니다.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3063240"/>
            <a:ext cx="1087221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경기장도 다시 짓고 있습니다</a:t>
            </a:r>
            <a:endParaRPr lang="en-US" sz="3800" dirty="0"/>
          </a:p>
          <a:p>
            <a:pPr algn="ctr"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우리도 다시 짓고 있습니다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58368" y="4846320"/>
            <a:ext cx="108722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B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개발이 아니라, 발견이었습니다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오성철강 AI 전환 보고</dc:title>
  <dc:subject>PptxGenJS Presentation</dc:subject>
  <dc:creator>오성철강</dc:creator>
  <cp:lastModifiedBy>오성철강</cp:lastModifiedBy>
  <cp:revision>1</cp:revision>
  <dcterms:created xsi:type="dcterms:W3CDTF">2026-09-12T23:13:47Z</dcterms:created>
  <dcterms:modified xsi:type="dcterms:W3CDTF">2026-09-12T23:13:47Z</dcterms:modified>
</cp:coreProperties>
</file>