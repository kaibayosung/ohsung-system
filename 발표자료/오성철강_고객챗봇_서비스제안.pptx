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29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292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1097280"/>
            <a:ext cx="1188720" cy="4114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37160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kern="0" spc="22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서비스 제안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87452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챗봇 하나로,
</a:t>
            </a:r>
            <a:r>
              <a:rPr lang="en-US" sz="4400" b="1" dirty="0">
                <a:solidFill>
                  <a:srgbClr val="A5B4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오성철강의 모든 서비스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58368" y="3950208"/>
            <a:ext cx="1920240" cy="3200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4187952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· 진행 · 완료 · 재고 · 월간 실적 · 불량 · 영상 · 품질 성적서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58368" y="5138928"/>
            <a:ext cx="10872216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53766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58368" y="58338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응대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27248" y="53766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127248" y="58338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 업무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96128" y="53766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187만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596128" y="58338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 데이터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65008" y="53766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065008" y="58338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 추가 인력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244584" y="58338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WE ALREADY HAVE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2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질문에 답할 데이터는 </a:t>
            </a: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데이터베이스에 있습니다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2580894" cy="3108960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55648"/>
            <a:ext cx="2580894" cy="502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1920240"/>
            <a:ext cx="217855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59536" y="2267712"/>
            <a:ext cx="217855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b="1" kern="0" spc="4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그린ERP 미러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9536" y="2542032"/>
            <a:ext cx="217855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작업지시서 · 생산 · 입출고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· 미출고 · 미수금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59536" y="3182112"/>
            <a:ext cx="217855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3291840"/>
            <a:ext cx="217855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주기 자동 동기화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59536" y="3767328"/>
            <a:ext cx="217855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업무시간 08:00–17:40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59536" y="4059936"/>
            <a:ext cx="2178558" cy="694944"/>
          </a:xfrm>
          <a:prstGeom prst="roundRect">
            <a:avLst>
              <a:gd name="adj" fmla="val 10526"/>
            </a:avLst>
          </a:prstGeom>
          <a:solidFill>
            <a:srgbClr val="EEF0FF"/>
          </a:solidFill>
          <a:ln w="15240">
            <a:solidFill>
              <a:srgbClr val="C7C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4041648"/>
            <a:ext cx="199567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"내 물건 지금 어디까지?"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"이번 달 미출고 얼마?"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"맡긴 재고 몇 코일?"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22142" y="1755648"/>
            <a:ext cx="2580894" cy="3108960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2142" y="1755648"/>
            <a:ext cx="2580894" cy="502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3623310" y="1920240"/>
            <a:ext cx="217855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623310" y="2267712"/>
            <a:ext cx="217855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b="1" kern="0" spc="4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PLC 실측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23310" y="2542032"/>
            <a:ext cx="217855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 · 절단길이 · 사이클타임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가동/정지 · 부하율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23310" y="3182112"/>
            <a:ext cx="217855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3623310" y="3291840"/>
            <a:ext cx="217855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182만</a:t>
            </a: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행 누적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623310" y="3767328"/>
            <a:ext cx="217855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2초마다 1행 자동 기록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23310" y="4059936"/>
            <a:ext cx="2178558" cy="694944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14750" y="4041648"/>
            <a:ext cx="199567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"그 코일 중단된 적 있나?"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"어떤 조건으로 가공됐나?"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"몇 시에 끝나나?"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85916" y="1755648"/>
            <a:ext cx="2580894" cy="3108960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85916" y="1755648"/>
            <a:ext cx="2580894" cy="50292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27" name="Text 25"/>
          <p:cNvSpPr/>
          <p:nvPr/>
        </p:nvSpPr>
        <p:spPr>
          <a:xfrm>
            <a:off x="6387084" y="1920240"/>
            <a:ext cx="217855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387084" y="2267712"/>
            <a:ext cx="217855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b="1" kern="0" spc="4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비전 전수검사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87084" y="2542032"/>
            <a:ext cx="217855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결함 위치 · 전후 영상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두께 실측 프로파일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87084" y="3182112"/>
            <a:ext cx="217855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6387084" y="3291840"/>
            <a:ext cx="217855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</a:t>
            </a: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샘플 아님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387084" y="3767328"/>
            <a:ext cx="217855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코일 · 매일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87084" y="4059936"/>
            <a:ext cx="2178558" cy="694944"/>
          </a:xfrm>
          <a:prstGeom prst="roundRect">
            <a:avLst>
              <a:gd name="adj" fmla="val 10526"/>
            </a:avLst>
          </a:prstGeom>
          <a:solidFill>
            <a:srgbClr val="FFF8E8"/>
          </a:solidFill>
          <a:ln w="15240">
            <a:solidFill>
              <a:srgbClr val="FBD8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8524" y="4041648"/>
            <a:ext cx="199567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"표면 결함 있었나?"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"우리 잘못인가 원래 그랬나?"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"두께 편차 얼마?"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949690" y="1755648"/>
            <a:ext cx="2580894" cy="3108960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49690" y="1755648"/>
            <a:ext cx="2580894" cy="502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9150858" y="1920240"/>
            <a:ext cx="217855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9150858" y="2267712"/>
            <a:ext cx="217855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b="1" kern="0" spc="4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· 카메라 OCR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150858" y="2542032"/>
            <a:ext cx="217855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장력 6개 값 · 코일 외경</a:t>
            </a:r>
            <a:endParaRPr lang="en-US" sz="11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 신뢰도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150858" y="3182112"/>
            <a:ext cx="217855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Text 39"/>
          <p:cNvSpPr/>
          <p:nvPr/>
        </p:nvSpPr>
        <p:spPr>
          <a:xfrm>
            <a:off x="9150858" y="3291840"/>
            <a:ext cx="217855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</a:t>
            </a: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주기 수집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9150858" y="3767328"/>
            <a:ext cx="217855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노후 장비도 카메라로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150858" y="4059936"/>
            <a:ext cx="2178558" cy="694944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42298" y="4041648"/>
            <a:ext cx="199567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"장력은 적정했나?"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"설비 이상 없었나?"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58368" y="5029200"/>
            <a:ext cx="10872216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2688" y="5029200"/>
            <a:ext cx="258089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187만 건</a:t>
            </a: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전체 데이터 자산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3513582" y="5029200"/>
            <a:ext cx="258089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계층</a:t>
            </a: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거래·공정·품질·설비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094476" y="5029200"/>
            <a:ext cx="258089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30개</a:t>
            </a: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실데이터 가동 서비스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8675370" y="5029200"/>
            <a:ext cx="258089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</a:t>
            </a: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외주 개발</a:t>
            </a:r>
            <a:endParaRPr lang="en-US" sz="1700" dirty="0"/>
          </a:p>
        </p:txBody>
      </p:sp>
      <p:sp>
        <p:nvSpPr>
          <p:cNvPr id="50" name="Shape 48"/>
          <p:cNvSpPr/>
          <p:nvPr/>
        </p:nvSpPr>
        <p:spPr>
          <a:xfrm>
            <a:off x="658368" y="5870448"/>
            <a:ext cx="10872216" cy="402336"/>
          </a:xfrm>
          <a:prstGeom prst="roundRect">
            <a:avLst>
              <a:gd name="adj" fmla="val 18182"/>
            </a:avLst>
          </a:prstGeom>
          <a:solidFill>
            <a:srgbClr val="0B1220"/>
          </a:solidFill>
          <a:ln/>
        </p:spPr>
      </p:sp>
      <p:sp>
        <p:nvSpPr>
          <p:cNvPr id="51" name="Text 49"/>
          <p:cNvSpPr/>
          <p:nvPr/>
        </p:nvSpPr>
        <p:spPr>
          <a:xfrm>
            <a:off x="932688" y="5870448"/>
            <a:ext cx="103235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계층이 </a:t>
            </a: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코일번호 하나로 연결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됩니다. 한 번의 질문에 네 가지를 함께 답합니다.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Text 51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고객용 챗봇 서비스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CHANNEL, EVERY SERVICE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2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창구 하나로 </a:t>
            </a: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일곱 가지 업무</a:t>
            </a:r>
            <a:r>
              <a:rPr lang="en-US" sz="2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끝납니다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58368" y="1792224"/>
            <a:ext cx="256717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hape 4"/>
          <p:cNvSpPr/>
          <p:nvPr/>
        </p:nvSpPr>
        <p:spPr>
          <a:xfrm>
            <a:off x="658368" y="1792224"/>
            <a:ext cx="2567178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19385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194560"/>
            <a:ext cx="216484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접수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9536" y="2523744"/>
            <a:ext cx="216484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카톡·팩스로 규격·수량을 보내면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읽어 작업지시 초안 생성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59536" y="2994660"/>
            <a:ext cx="1229868" cy="265176"/>
          </a:xfrm>
          <a:prstGeom prst="roundRect">
            <a:avLst>
              <a:gd name="adj" fmla="val 44828"/>
            </a:avLst>
          </a:prstGeom>
          <a:solidFill>
            <a:srgbClr val="EEF0FF"/>
          </a:solidFill>
          <a:ln w="15240">
            <a:solidFill>
              <a:srgbClr val="C7CB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접수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6714" y="1792224"/>
            <a:ext cx="256717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6714" y="1792224"/>
            <a:ext cx="2567178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3627882" y="19385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27882" y="2194560"/>
            <a:ext cx="216484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상황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27882" y="2523744"/>
            <a:ext cx="216484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어느 라인에서 몇 % 진행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예정 시각까지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27882" y="2993994"/>
            <a:ext cx="736092" cy="265176"/>
          </a:xfrm>
          <a:prstGeom prst="roundRect">
            <a:avLst>
              <a:gd name="adj" fmla="val 44828"/>
            </a:avLst>
          </a:prstGeom>
          <a:solidFill>
            <a:srgbClr val="EEF0FF"/>
          </a:solidFill>
          <a:ln w="15240">
            <a:solidFill>
              <a:srgbClr val="C7CB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5060" y="1792224"/>
            <a:ext cx="256717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5060" y="1792224"/>
            <a:ext cx="256717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6396228" y="19385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96228" y="2194560"/>
            <a:ext cx="216484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완료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96228" y="2523744"/>
            <a:ext cx="216484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여부 · 완료 시각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 가능 상태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96228" y="2980944"/>
            <a:ext cx="98298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통보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63406" y="1792224"/>
            <a:ext cx="256717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3406" y="1792224"/>
            <a:ext cx="256717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9164574" y="19385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64574" y="2194560"/>
            <a:ext cx="216484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확인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64574" y="2523744"/>
            <a:ext cx="216484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맡긴 코일 몇 개 · 어느 자리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중량 · 입고일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65444" y="2994660"/>
            <a:ext cx="1353312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창고 연동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8368" y="3474720"/>
            <a:ext cx="256717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3474720"/>
            <a:ext cx="2567178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1" name="Text 29"/>
          <p:cNvSpPr/>
          <p:nvPr/>
        </p:nvSpPr>
        <p:spPr>
          <a:xfrm>
            <a:off x="859536" y="362102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9536" y="3877056"/>
            <a:ext cx="216484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실적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9536" y="4206240"/>
            <a:ext cx="216484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달 작업 건수 · 중량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미출고 · 미수금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13816" y="4686300"/>
            <a:ext cx="1229868" cy="265176"/>
          </a:xfrm>
          <a:prstGeom prst="roundRect">
            <a:avLst>
              <a:gd name="adj" fmla="val 44828"/>
            </a:avLst>
          </a:prstGeom>
          <a:solidFill>
            <a:srgbClr val="EEF0FF"/>
          </a:solidFill>
          <a:ln w="15240">
            <a:solidFill>
              <a:srgbClr val="C7CB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마감 없이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26714" y="3474720"/>
            <a:ext cx="256717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26714" y="3474720"/>
            <a:ext cx="2567178" cy="45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7" name="Text 35"/>
          <p:cNvSpPr/>
          <p:nvPr/>
        </p:nvSpPr>
        <p:spPr>
          <a:xfrm>
            <a:off x="3627882" y="362102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27882" y="3877056"/>
            <a:ext cx="216484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 내용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627882" y="4206240"/>
            <a:ext cx="216484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결함 위치 · 유형 · 크기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원소재 기인인지 가공 기인인지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627882" y="4700016"/>
            <a:ext cx="982980" cy="265176"/>
          </a:xfrm>
          <a:prstGeom prst="roundRect">
            <a:avLst>
              <a:gd name="adj" fmla="val 44828"/>
            </a:avLst>
          </a:prstGeom>
          <a:solidFill>
            <a:srgbClr val="FFF8E8"/>
          </a:solidFill>
          <a:ln w="15240">
            <a:solidFill>
              <a:srgbClr val="FBD88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검사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95060" y="3474720"/>
            <a:ext cx="256717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95060" y="3474720"/>
            <a:ext cx="2567178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1"/>
          <p:cNvSpPr/>
          <p:nvPr/>
        </p:nvSpPr>
        <p:spPr>
          <a:xfrm>
            <a:off x="6396228" y="362102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396228" y="3877056"/>
            <a:ext cx="216484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 영상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96228" y="4206240"/>
            <a:ext cx="216484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결함 지점 전후 촬영 영상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순간의 가공 조건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96228" y="4677005"/>
            <a:ext cx="982980" cy="265176"/>
          </a:xfrm>
          <a:prstGeom prst="roundRect">
            <a:avLst>
              <a:gd name="adj" fmla="val 44828"/>
            </a:avLst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제공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963406" y="3474720"/>
            <a:ext cx="2567178" cy="1481328"/>
          </a:xfrm>
          <a:prstGeom prst="roundRect">
            <a:avLst>
              <a:gd name="adj" fmla="val 4938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963406" y="3474720"/>
            <a:ext cx="2567178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7"/>
          <p:cNvSpPr/>
          <p:nvPr/>
        </p:nvSpPr>
        <p:spPr>
          <a:xfrm>
            <a:off x="9164574" y="362102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164574" y="3877056"/>
            <a:ext cx="216484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성적서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164574" y="4206240"/>
            <a:ext cx="216484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전부를 한 장으로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출하 시 자동 첨부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9237241" y="4709160"/>
            <a:ext cx="1106424" cy="265176"/>
          </a:xfrm>
          <a:prstGeom prst="roundRect">
            <a:avLst>
              <a:gd name="adj" fmla="val 44828"/>
            </a:avLst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유상 서비스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58368" y="5193792"/>
            <a:ext cx="10872216" cy="676656"/>
          </a:xfrm>
          <a:prstGeom prst="roundRect">
            <a:avLst>
              <a:gd name="adj" fmla="val 10811"/>
            </a:avLst>
          </a:prstGeom>
          <a:solidFill>
            <a:srgbClr val="0B1220"/>
          </a:solidFill>
          <a:ln/>
        </p:spPr>
      </p:sp>
      <p:sp>
        <p:nvSpPr>
          <p:cNvPr id="54" name="Text 52"/>
          <p:cNvSpPr/>
          <p:nvPr/>
        </p:nvSpPr>
        <p:spPr>
          <a:xfrm>
            <a:off x="932688" y="5193792"/>
            <a:ext cx="103235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전화도 팩스도 필요 없습니다. </a:t>
            </a: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물어보면 기록이 답합니다.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고객용 챗봇 서비스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EXAMPLE 01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</a:t>
            </a:r>
            <a:r>
              <a:rPr lang="en-US" sz="2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진행 ·  완료</a:t>
            </a:r>
            <a:r>
              <a:rPr lang="en-US" sz="2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— 전화 한 통 없이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58368" y="1773936"/>
            <a:ext cx="3310128" cy="4041648"/>
          </a:xfrm>
          <a:prstGeom prst="roundRect">
            <a:avLst>
              <a:gd name="adj" fmla="val 2210"/>
            </a:avLst>
          </a:prstGeom>
          <a:solidFill>
            <a:srgbClr val="0B122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76272"/>
            <a:ext cx="3072384" cy="35112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56232"/>
            <a:ext cx="23500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카카오톡 · 오성철강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27248" y="1856232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02:14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77824" y="2267712"/>
            <a:ext cx="2743200" cy="512064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" y="2267712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SGCC 1.2T × 1219 폭</a:t>
            </a:r>
            <a:endParaRPr lang="en-US" sz="7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8톤, 목요일까지 가능할까요?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005840" y="2871216"/>
            <a:ext cx="2743200" cy="841248"/>
          </a:xfrm>
          <a:prstGeom prst="roundRect">
            <a:avLst>
              <a:gd name="adj" fmla="val 8696"/>
            </a:avLst>
          </a:prstGeom>
          <a:solidFill>
            <a:srgbClr val="EEF0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907792"/>
            <a:ext cx="25603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접수했습니다.
</a:t>
            </a: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규격 SGCC 1.2×1219 · 8.0 t</a:t>
            </a:r>
            <a:endParaRPr lang="en-US" sz="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납기 9/18(목) — </a:t>
            </a:r>
            <a:endParaRPr lang="en-US" sz="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가능합니다.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005840" y="3803904"/>
            <a:ext cx="2743200" cy="896112"/>
          </a:xfrm>
          <a:prstGeom prst="roundRect">
            <a:avLst>
              <a:gd name="adj" fmla="val 8163"/>
            </a:avLst>
          </a:prstGeom>
          <a:solidFill>
            <a:srgbClr val="EEF0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840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 재고 </a:t>
            </a: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코일</a:t>
            </a: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확인. 작업지시 초안을 만들어 두겠습니다.
</a:t>
            </a:r>
            <a:r>
              <a:rPr lang="en-US" sz="70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출근 후 확정 안내드립니다.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05840" y="4992624"/>
            <a:ext cx="2423160" cy="265176"/>
          </a:xfrm>
          <a:prstGeom prst="roundRect">
            <a:avLst>
              <a:gd name="adj" fmla="val 44828"/>
            </a:avLst>
          </a:prstGeom>
          <a:solidFill>
            <a:srgbClr val="EEF0FF"/>
          </a:solidFill>
          <a:ln w="15240">
            <a:solidFill>
              <a:srgbClr val="C7CB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규격을 읽고 재고까지 확인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" y="5907024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새벽에도 접수됩니다.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39412" y="1773936"/>
            <a:ext cx="3310128" cy="4041648"/>
          </a:xfrm>
          <a:prstGeom prst="roundRect">
            <a:avLst>
              <a:gd name="adj" fmla="val 2210"/>
            </a:avLst>
          </a:prstGeom>
          <a:solidFill>
            <a:srgbClr val="0B1220"/>
          </a:solidFill>
          <a:ln/>
        </p:spPr>
      </p:sp>
      <p:sp>
        <p:nvSpPr>
          <p:cNvPr id="18" name="Shape 16"/>
          <p:cNvSpPr/>
          <p:nvPr/>
        </p:nvSpPr>
        <p:spPr>
          <a:xfrm>
            <a:off x="4558284" y="2176272"/>
            <a:ext cx="3072384" cy="35112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604004" y="1856232"/>
            <a:ext cx="23500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상황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08292" y="1856232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14:20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58868" y="2267712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4750308" y="22677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물건 지금 어디까지 왔어요?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786884" y="272491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EEF0FF"/>
          </a:solidFill>
          <a:ln/>
        </p:spPr>
      </p:sp>
      <p:sp>
        <p:nvSpPr>
          <p:cNvPr id="24" name="Text 22"/>
          <p:cNvSpPr/>
          <p:nvPr/>
        </p:nvSpPr>
        <p:spPr>
          <a:xfrm>
            <a:off x="4878324" y="2761488"/>
            <a:ext cx="256032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1622057 — </a:t>
            </a: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라인 가공 중</a:t>
            </a:r>
            <a:endParaRPr lang="en-US" sz="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62% · 완료 예정 </a:t>
            </a:r>
            <a:endParaRPr lang="en-US" sz="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16:40</a:t>
            </a: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현재 속도 24 MPM · 표준 범위 내
</a:t>
            </a:r>
            <a:r>
              <a:rPr lang="en-US" sz="65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· LEVELING_DATA 실시간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658868" y="3822192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4750308" y="38221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뒤에 대기 중인 것도 있나요?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786884" y="4279392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EEF0FF"/>
          </a:solidFill>
          <a:ln/>
        </p:spPr>
      </p:sp>
      <p:sp>
        <p:nvSpPr>
          <p:cNvPr id="28" name="Text 26"/>
          <p:cNvSpPr/>
          <p:nvPr/>
        </p:nvSpPr>
        <p:spPr>
          <a:xfrm>
            <a:off x="4878324" y="43159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2건 대기 중입니다.
1622058 (슬리터2) · 1622061 (레벨링)
</a:t>
            </a: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안에 모두 완료 가능합니다.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786884" y="5120640"/>
            <a:ext cx="1874520" cy="265176"/>
          </a:xfrm>
          <a:prstGeom prst="roundRect">
            <a:avLst>
              <a:gd name="adj" fmla="val 44828"/>
            </a:avLst>
          </a:prstGeom>
          <a:solidFill>
            <a:srgbClr val="EEF0FF"/>
          </a:solidFill>
          <a:ln w="15240">
            <a:solidFill>
              <a:srgbClr val="C7CB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시에 끝나는지까지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439412" y="5907024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전화해서 물어볼 필요가 없습니다.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220456" y="1773936"/>
            <a:ext cx="3310128" cy="4041648"/>
          </a:xfrm>
          <a:prstGeom prst="roundRect">
            <a:avLst>
              <a:gd name="adj" fmla="val 2210"/>
            </a:avLst>
          </a:prstGeom>
          <a:solidFill>
            <a:srgbClr val="0B1220"/>
          </a:solidFill>
          <a:ln/>
        </p:spPr>
      </p:sp>
      <p:sp>
        <p:nvSpPr>
          <p:cNvPr id="32" name="Shape 30"/>
          <p:cNvSpPr/>
          <p:nvPr/>
        </p:nvSpPr>
        <p:spPr>
          <a:xfrm>
            <a:off x="8339328" y="2176272"/>
            <a:ext cx="3072384" cy="35112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8385048" y="1856232"/>
            <a:ext cx="235000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알림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689336" y="1856232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16:41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567928" y="2267712"/>
            <a:ext cx="2743200" cy="859536"/>
          </a:xfrm>
          <a:prstGeom prst="roundRect">
            <a:avLst>
              <a:gd name="adj" fmla="val 8511"/>
            </a:avLst>
          </a:prstGeom>
          <a:solidFill>
            <a:srgbClr val="EEF0FF"/>
          </a:solidFill>
          <a:ln/>
        </p:spPr>
      </p:sp>
      <p:sp>
        <p:nvSpPr>
          <p:cNvPr id="36" name="Text 34"/>
          <p:cNvSpPr/>
          <p:nvPr/>
        </p:nvSpPr>
        <p:spPr>
          <a:xfrm>
            <a:off x="8659368" y="2304288"/>
            <a:ext cx="256032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완료</a:t>
            </a: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코일 1622057 · SGCC 1.2×1219
가공 8,040 kg · 완료 16:40
</a:t>
            </a: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중단 없음 · 표준 범위 내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567928" y="3218688"/>
            <a:ext cx="2743200" cy="603504"/>
          </a:xfrm>
          <a:prstGeom prst="roundRect">
            <a:avLst>
              <a:gd name="adj" fmla="val 12121"/>
            </a:avLst>
          </a:prstGeom>
          <a:solidFill>
            <a:srgbClr val="EEF0FF"/>
          </a:solidFill>
          <a:ln/>
        </p:spPr>
      </p:sp>
      <p:sp>
        <p:nvSpPr>
          <p:cNvPr id="38" name="Text 36"/>
          <p:cNvSpPr/>
          <p:nvPr/>
        </p:nvSpPr>
        <p:spPr>
          <a:xfrm>
            <a:off x="8659368" y="325526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성적서가 준비되었습니다.
</a:t>
            </a:r>
            <a:r>
              <a:rPr lang="en-US" sz="7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· 적합</a:t>
            </a:r>
            <a:r>
              <a:rPr lang="en-US" sz="70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[성적서 열기]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439912" y="3913632"/>
            <a:ext cx="2743200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8531352" y="39136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출고는 언제 되나요?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567928" y="4370832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EEF0FF"/>
          </a:solidFill>
          <a:ln/>
        </p:spPr>
      </p:sp>
      <p:sp>
        <p:nvSpPr>
          <p:cNvPr id="42" name="Text 40"/>
          <p:cNvSpPr/>
          <p:nvPr/>
        </p:nvSpPr>
        <p:spPr>
          <a:xfrm>
            <a:off x="8659368" y="440740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 가능 상태입니다.</a:t>
            </a:r>
            <a:endParaRPr lang="en-US" sz="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배차 요청하시면 </a:t>
            </a:r>
            <a:endParaRPr lang="en-US" sz="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 오전 출고</a:t>
            </a: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가능합니다.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8567928" y="5175504"/>
            <a:ext cx="214884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묻지 않아도 먼저 알려줍니다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220456" y="5907024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통보가 자동으로 나갑니다.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고객용 챗봇 서비스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EXAMPLE 02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2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확인 </a:t>
            </a:r>
            <a:r>
              <a:rPr lang="en-US" sz="2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이번 달 작업 내역</a:t>
            </a:r>
            <a:r>
              <a:rPr lang="en-US" sz="2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— 자료 요청 없이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58368" y="1773936"/>
            <a:ext cx="2834640" cy="4023360"/>
          </a:xfrm>
          <a:prstGeom prst="roundRect">
            <a:avLst>
              <a:gd name="adj" fmla="val 2581"/>
            </a:avLst>
          </a:prstGeom>
          <a:solidFill>
            <a:srgbClr val="0B122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76272"/>
            <a:ext cx="2596896" cy="3493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56232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조회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51760" y="1856232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21:07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77824" y="2267712"/>
            <a:ext cx="2267712" cy="347472"/>
          </a:xfrm>
          <a:prstGeom prst="roundRect">
            <a:avLst>
              <a:gd name="adj" fmla="val 21053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" y="2267712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재고 얼마나 남았어요?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005840" y="2706624"/>
            <a:ext cx="2267712" cy="1133856"/>
          </a:xfrm>
          <a:prstGeom prst="roundRect">
            <a:avLst>
              <a:gd name="adj" fmla="val 6452"/>
            </a:avLst>
          </a:prstGeom>
          <a:solidFill>
            <a:srgbClr val="EEF0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743200"/>
            <a:ext cx="2084832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(주)대한강재 보관 재고
</a:t>
            </a: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</a:t>
            </a: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코일 · 96.4 t</a:t>
            </a:r>
            <a:endParaRPr lang="en-US" sz="700" dirty="0"/>
          </a:p>
          <a:p>
            <a:pPr marL="0" indent="0">
              <a:lnSpc>
                <a:spcPct val="130000"/>
              </a:lnSpc>
              <a:buNone/>
            </a:pPr>
            <a:endParaRPr lang="en-US" sz="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SGCC 1.2T   5코일 · 41.2 t</a:t>
            </a:r>
            <a:endParaRPr lang="en-US" sz="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SGCC 2.0T   4코일 · 33.8 t</a:t>
            </a:r>
            <a:endParaRPr lang="en-US" sz="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SPCC 1.6T   3코일 · 21.4 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877824" y="3931920"/>
            <a:ext cx="2267712" cy="347472"/>
          </a:xfrm>
          <a:prstGeom prst="roundRect">
            <a:avLst>
              <a:gd name="adj" fmla="val 21053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969264" y="393192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오래된 것도 있나요?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005840" y="4370832"/>
            <a:ext cx="2267712" cy="822960"/>
          </a:xfrm>
          <a:prstGeom prst="roundRect">
            <a:avLst>
              <a:gd name="adj" fmla="val 8889"/>
            </a:avLst>
          </a:prstGeom>
          <a:solidFill>
            <a:srgbClr val="EEF0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407408"/>
            <a:ext cx="208483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3코일이 </a:t>
            </a:r>
            <a:r>
              <a:rPr lang="en-US" sz="7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입고 90일 경과</a:t>
            </a: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했습니다.
1621402 · 1621408 · 1621415
</a:t>
            </a:r>
            <a:r>
              <a:rPr lang="en-US" sz="6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창고 A구역 · 3단 적재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05840" y="5321808"/>
            <a:ext cx="160020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창고 위치까지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30752" y="1773936"/>
            <a:ext cx="2834640" cy="4023360"/>
          </a:xfrm>
          <a:prstGeom prst="roundRect">
            <a:avLst>
              <a:gd name="adj" fmla="val 2581"/>
            </a:avLst>
          </a:prstGeom>
          <a:solidFill>
            <a:srgbClr val="0B1220"/>
          </a:solidFill>
          <a:ln/>
        </p:spPr>
      </p:sp>
      <p:sp>
        <p:nvSpPr>
          <p:cNvPr id="19" name="Shape 17"/>
          <p:cNvSpPr/>
          <p:nvPr/>
        </p:nvSpPr>
        <p:spPr>
          <a:xfrm>
            <a:off x="3849624" y="2176272"/>
            <a:ext cx="2596896" cy="3493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895344" y="1856232"/>
            <a:ext cx="18745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달 실적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24144" y="1856232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21:12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950208" y="2267712"/>
            <a:ext cx="2267712" cy="420624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4041648" y="2267712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달 우리 작업 내역 정리해 주세요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078224" y="2779776"/>
            <a:ext cx="2267712" cy="1517904"/>
          </a:xfrm>
          <a:prstGeom prst="roundRect">
            <a:avLst>
              <a:gd name="adj" fmla="val 4819"/>
            </a:avLst>
          </a:prstGeom>
          <a:solidFill>
            <a:srgbClr val="EEF0FF"/>
          </a:solidFill>
          <a:ln/>
        </p:spPr>
      </p:sp>
      <p:sp>
        <p:nvSpPr>
          <p:cNvPr id="25" name="Text 23"/>
          <p:cNvSpPr/>
          <p:nvPr/>
        </p:nvSpPr>
        <p:spPr>
          <a:xfrm>
            <a:off x="4169664" y="2816352"/>
            <a:ext cx="2084832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9월 (1일~13일)
</a:t>
            </a: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완료   </a:t>
            </a: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건 · 142.6 t
</a:t>
            </a: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 완료   </a:t>
            </a: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건 · 118.2 t
</a:t>
            </a: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미출고      </a:t>
            </a:r>
            <a:r>
              <a:rPr lang="en-US" sz="7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건 · 24.4 t
</a:t>
            </a: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미수금      </a:t>
            </a:r>
            <a:r>
              <a:rPr lang="en-US" sz="7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건
</a:t>
            </a: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중단 발생   1건 (1622051, 4분)</a:t>
            </a:r>
            <a:endParaRPr lang="en-US" sz="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 판정   0건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950208" y="4389120"/>
            <a:ext cx="2267712" cy="347472"/>
          </a:xfrm>
          <a:prstGeom prst="roundRect">
            <a:avLst>
              <a:gd name="adj" fmla="val 21053"/>
            </a:avLst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4041648" y="438912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엑셀로 받을 수 있나요?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078224" y="4828032"/>
            <a:ext cx="2267712" cy="420624"/>
          </a:xfrm>
          <a:prstGeom prst="roundRect">
            <a:avLst>
              <a:gd name="adj" fmla="val 17391"/>
            </a:avLst>
          </a:prstGeom>
          <a:solidFill>
            <a:srgbClr val="EEF0FF"/>
          </a:solidFill>
          <a:ln/>
        </p:spPr>
      </p:sp>
      <p:sp>
        <p:nvSpPr>
          <p:cNvPr id="29" name="Text 27"/>
          <p:cNvSpPr/>
          <p:nvPr/>
        </p:nvSpPr>
        <p:spPr>
          <a:xfrm>
            <a:off x="4169664" y="4864608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전송했습니다. </a:t>
            </a:r>
            <a:r>
              <a:rPr lang="en-US" sz="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[다운로드]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078224" y="5321808"/>
            <a:ext cx="2148840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마감을 기다리지 않습니다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03136" y="1755648"/>
            <a:ext cx="472744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b="1" kern="0" spc="8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어떻게 하고 계신가요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03136" y="2048256"/>
            <a:ext cx="4727448" cy="566928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86016" y="2048256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확인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0" y="2048256"/>
            <a:ext cx="2441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 → 담당자가 창고 확인 → 회신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616184" y="2048256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반나절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803136" y="2706624"/>
            <a:ext cx="4727448" cy="566928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86016" y="2706624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실적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29600" y="2706624"/>
            <a:ext cx="2441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마감 후 자료 요청 → 정리 → 발송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616184" y="2706624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수일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803136" y="3364992"/>
            <a:ext cx="4727448" cy="566928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86016" y="3364992"/>
            <a:ext cx="1188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미출고 확인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229600" y="3364992"/>
            <a:ext cx="2441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팩스로 미출고 리스트 수신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616184" y="3364992"/>
            <a:ext cx="731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1회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803136" y="4078224"/>
            <a:ext cx="4727448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86016" y="4078224"/>
            <a:ext cx="43616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챗봇으로 바꾸면
</a:t>
            </a: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모두  즉시 · 24시간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03136" y="5212080"/>
            <a:ext cx="4727448" cy="585216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86016" y="5212080"/>
            <a:ext cx="43616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응대 인력 추가 0명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Text 47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고객용 챗봇 서비스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EXAMPLE 03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2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 내용 </a:t>
            </a:r>
            <a:r>
              <a:rPr lang="en-US" sz="2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결함 영상 확인</a:t>
            </a:r>
            <a:r>
              <a:rPr lang="en-US" sz="18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— 여기가 다른 회사와 갈리는 지점입니다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58368" y="1773936"/>
            <a:ext cx="2926080" cy="3931920"/>
          </a:xfrm>
          <a:prstGeom prst="roundRect">
            <a:avLst>
              <a:gd name="adj" fmla="val 2500"/>
            </a:avLst>
          </a:prstGeom>
          <a:solidFill>
            <a:srgbClr val="0B122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76272"/>
            <a:ext cx="2688336" cy="34015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56232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문의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1856232"/>
            <a:ext cx="69494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22:35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77824" y="2267712"/>
            <a:ext cx="2359152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969264" y="2267712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받은 코일에 스크래치가 있어요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005840" y="2724912"/>
            <a:ext cx="2359152" cy="1225296"/>
          </a:xfrm>
          <a:prstGeom prst="roundRect">
            <a:avLst>
              <a:gd name="adj" fmla="val 5970"/>
            </a:avLst>
          </a:prstGeom>
          <a:solidFill>
            <a:srgbClr val="EEF0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761488"/>
            <a:ext cx="217627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1622051 확인했습니다.
</a:t>
            </a: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검사에서 표면 결함 </a:t>
            </a:r>
            <a:r>
              <a:rPr lang="en-US" sz="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2건</a:t>
            </a: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기록되어 있습니다.
· 352 m 지점 · 스크래치 · 폭 3 mm
· 1,024 m 지점 · 덴트 · 지름 5 mm
</a:t>
            </a:r>
            <a:r>
              <a:rPr lang="en-US" sz="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지점 영상 있습니다. [보기]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877824" y="4041648"/>
            <a:ext cx="2359152" cy="36576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969264" y="4041648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쪽 잘못인가요?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005840" y="4498848"/>
            <a:ext cx="2359152" cy="1133856"/>
          </a:xfrm>
          <a:prstGeom prst="roundRect">
            <a:avLst>
              <a:gd name="adj" fmla="val 6452"/>
            </a:avLst>
          </a:prstGeom>
          <a:solidFill>
            <a:srgbClr val="EEF0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535424"/>
            <a:ext cx="2176272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건 모두 </a:t>
            </a:r>
            <a:r>
              <a:rPr lang="en-US" sz="7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원소재 기인으로 판단됩니다.</a:t>
            </a:r>
            <a:r>
              <a:rPr lang="en-US" sz="7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
입고 시 촬영본에 동일 위치 결함이 이미 있었고, 해당 구간 가공 조건은 표준 범위 내였습니다.
</a:t>
            </a:r>
            <a:r>
              <a:rPr lang="en-US" sz="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제철소 클레임 자료로 쓰실 수 있습니다.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877056" y="1773936"/>
            <a:ext cx="7653528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77056" y="1773936"/>
            <a:ext cx="7653528" cy="38404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9" name="Text 17"/>
          <p:cNvSpPr/>
          <p:nvPr/>
        </p:nvSpPr>
        <p:spPr>
          <a:xfrm>
            <a:off x="4041648" y="1773936"/>
            <a:ext cx="7324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결함 위치 맵  ·  코일 1622051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0" y="2377440"/>
            <a:ext cx="7178040" cy="4937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5406847" y="2505456"/>
            <a:ext cx="201168" cy="201168"/>
          </a:xfrm>
          <a:prstGeom prst="ellipse">
            <a:avLst/>
          </a:prstGeom>
          <a:solidFill>
            <a:srgbClr val="DC2626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95367" y="29260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352 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847381" y="2505456"/>
            <a:ext cx="201168" cy="201168"/>
          </a:xfrm>
          <a:prstGeom prst="ellipse">
            <a:avLst/>
          </a:prstGeom>
          <a:solidFill>
            <a:srgbClr val="F5B544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35901" y="292608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1,024 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0" y="29260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m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652760" y="29260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1,989 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0" y="3218688"/>
            <a:ext cx="71780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촬영 · 샘플 검사 아님 · 결함 좌표와 크기까지 기록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77056" y="3822192"/>
            <a:ext cx="765352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77056" y="3822192"/>
            <a:ext cx="7653528" cy="38404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0" name="Text 28"/>
          <p:cNvSpPr/>
          <p:nvPr/>
        </p:nvSpPr>
        <p:spPr>
          <a:xfrm>
            <a:off x="4041648" y="3822192"/>
            <a:ext cx="7324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결함 지점 전후 영상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14800" y="4334256"/>
            <a:ext cx="2319528" cy="56692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2" name="Shape 30"/>
          <p:cNvSpPr/>
          <p:nvPr/>
        </p:nvSpPr>
        <p:spPr>
          <a:xfrm>
            <a:off x="4261104" y="4553712"/>
            <a:ext cx="2026920" cy="128016"/>
          </a:xfrm>
          <a:prstGeom prst="line">
            <a:avLst/>
          </a:prstGeom>
          <a:noFill/>
          <a:ln w="22860">
            <a:solidFill>
              <a:srgbClr val="F1F5F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0" y="4937760"/>
            <a:ext cx="231952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-0.5 초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114800" y="5120640"/>
            <a:ext cx="231952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544056" y="4334256"/>
            <a:ext cx="2319528" cy="566928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6" name="Shape 34"/>
          <p:cNvSpPr/>
          <p:nvPr/>
        </p:nvSpPr>
        <p:spPr>
          <a:xfrm>
            <a:off x="6690360" y="4553712"/>
            <a:ext cx="2026920" cy="128016"/>
          </a:xfrm>
          <a:prstGeom prst="line">
            <a:avLst/>
          </a:prstGeom>
          <a:noFill/>
          <a:ln w="22860">
            <a:solidFill>
              <a:srgbClr val="FCA5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44056" y="4937760"/>
            <a:ext cx="231952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초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544056" y="5120640"/>
            <a:ext cx="231952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결함 검출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973312" y="4334256"/>
            <a:ext cx="2319528" cy="56692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0" name="Shape 38"/>
          <p:cNvSpPr/>
          <p:nvPr/>
        </p:nvSpPr>
        <p:spPr>
          <a:xfrm>
            <a:off x="9119616" y="4553712"/>
            <a:ext cx="2026920" cy="128016"/>
          </a:xfrm>
          <a:prstGeom prst="line">
            <a:avLst/>
          </a:prstGeom>
          <a:noFill/>
          <a:ln w="22860">
            <a:solidFill>
              <a:srgbClr val="F1F5F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73312" y="4937760"/>
            <a:ext cx="231952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+0.5 초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973312" y="5120640"/>
            <a:ext cx="2319528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05840" y="5449824"/>
            <a:ext cx="2331720" cy="265176"/>
          </a:xfrm>
          <a:prstGeom prst="roundRect">
            <a:avLst>
              <a:gd name="adj" fmla="val 44828"/>
            </a:avLst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잘못인지 아닌지를 가립니다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58368" y="5907024"/>
            <a:ext cx="10872216" cy="36576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/>
        </p:spPr>
      </p:sp>
      <p:sp>
        <p:nvSpPr>
          <p:cNvPr id="45" name="Text 43"/>
          <p:cNvSpPr/>
          <p:nvPr/>
        </p:nvSpPr>
        <p:spPr>
          <a:xfrm>
            <a:off x="932688" y="5907024"/>
            <a:ext cx="10323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결함이 있었는지가 아니라, </a:t>
            </a: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책임인지를 데이터로 답합니다.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고객용 챗봇 서비스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STEEL QUALITY DATA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2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1차에 구축한 </a:t>
            </a:r>
            <a:r>
              <a:rPr lang="en-US" sz="29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철판 품질 자료</a:t>
            </a:r>
            <a:r>
              <a:rPr lang="en-US" sz="2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</a:t>
            </a:r>
            <a:r>
              <a:rPr lang="en-US" sz="2900" b="1" dirty="0" err="1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</a:t>
            </a:r>
            <a:r>
              <a:rPr lang="en-US" sz="2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2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효과를 발휘 합니다</a:t>
            </a:r>
            <a:r>
              <a:rPr lang="en-US" altLang="ko-KR" sz="2900" b="1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58368" y="1773936"/>
            <a:ext cx="2567178" cy="2615184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73936"/>
            <a:ext cx="2567178" cy="45720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1920240"/>
            <a:ext cx="216484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결함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59536" y="2249424"/>
            <a:ext cx="216484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비전 전수 촬영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9536" y="2542032"/>
            <a:ext cx="216484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2651760"/>
            <a:ext cx="216484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결함 위치 (m 단위)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유형 (스크래치·덴트·홀)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크기 (mm)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등급 판정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59536" y="3968496"/>
            <a:ext cx="1723644" cy="265176"/>
          </a:xfrm>
          <a:prstGeom prst="roundRect">
            <a:avLst>
              <a:gd name="adj" fmla="val 44828"/>
            </a:avLst>
          </a:prstGeom>
          <a:solidFill>
            <a:srgbClr val="FFF8E8"/>
          </a:solidFill>
          <a:ln w="15240">
            <a:solidFill>
              <a:srgbClr val="FBD88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코일 · 전 길이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6714" y="1773936"/>
            <a:ext cx="2567178" cy="2615184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6714" y="1773936"/>
            <a:ext cx="2567178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3627882" y="1920240"/>
            <a:ext cx="216484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결함 영상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27882" y="2249424"/>
            <a:ext cx="216484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결함 지점 전후 프레임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27882" y="2542032"/>
            <a:ext cx="216484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3627882" y="2651760"/>
            <a:ext cx="216484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검출 순간 영상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전후 0.5초 비교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육안 확인 가능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고객 전달용 저장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27882" y="3968496"/>
            <a:ext cx="1353312" cy="265176"/>
          </a:xfrm>
          <a:prstGeom prst="roundRect">
            <a:avLst>
              <a:gd name="adj" fmla="val 44828"/>
            </a:avLst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분쟁 종결 근거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95060" y="1773936"/>
            <a:ext cx="2567178" cy="2615184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1773936"/>
            <a:ext cx="2567178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6396228" y="1920240"/>
            <a:ext cx="216484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두께 프로파일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96228" y="2249424"/>
            <a:ext cx="216484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두께 분포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96228" y="2542032"/>
            <a:ext cx="216484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6396228" y="2651760"/>
            <a:ext cx="216484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길이별 두께 편차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허용 공차 대비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최대/최소 지점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평균 ± 표준편차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96228" y="3968496"/>
            <a:ext cx="1353312" cy="265176"/>
          </a:xfrm>
          <a:prstGeom prst="roundRect">
            <a:avLst>
              <a:gd name="adj" fmla="val 44828"/>
            </a:avLst>
          </a:prstGeom>
          <a:solidFill>
            <a:srgbClr val="EEF0FF"/>
          </a:solidFill>
          <a:ln w="15240">
            <a:solidFill>
              <a:srgbClr val="C7CBFF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샘플 아닌 전수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63406" y="1773936"/>
            <a:ext cx="2567178" cy="2615184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63406" y="1773936"/>
            <a:ext cx="2567178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9164574" y="1920240"/>
            <a:ext cx="216484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가공 조건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164574" y="2249424"/>
            <a:ext cx="2164842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PLC 운전 기록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64574" y="2542032"/>
            <a:ext cx="2164842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9164574" y="2651760"/>
            <a:ext cx="216484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 지점의 속도·장력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중단 발생 여부·시각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표준 범위 대비 판정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2초 단위 원기록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164574" y="3968496"/>
            <a:ext cx="1353312" cy="265176"/>
          </a:xfrm>
          <a:prstGeom prst="roundRect">
            <a:avLst>
              <a:gd name="adj" fmla="val 44828"/>
            </a:avLst>
          </a:prstGeom>
          <a:solidFill>
            <a:srgbClr val="ECFDF5"/>
          </a:solidFill>
          <a:ln w="15240">
            <a:solidFill>
              <a:srgbClr val="6EE7B7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귀책 판별 근거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8368" y="4590288"/>
            <a:ext cx="10872216" cy="1042416"/>
          </a:xfrm>
          <a:prstGeom prst="roundRect">
            <a:avLst>
              <a:gd name="adj" fmla="val 7018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590288"/>
            <a:ext cx="20116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가지를 합치면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035808" y="5111496"/>
            <a:ext cx="411480" cy="7315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584448" y="4700016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7780">
            <a:solidFill>
              <a:srgbClr val="FBD8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84448" y="4700016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품질 성적서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84848" y="4590288"/>
            <a:ext cx="4489704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출하 시 자동 첨부  ·  요약본 무료 / </a:t>
            </a: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영상·실측 포함 상세본은 유상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0872216" cy="420624"/>
          </a:xfrm>
          <a:prstGeom prst="roundRect">
            <a:avLst>
              <a:gd name="adj" fmla="val 17391"/>
            </a:avLst>
          </a:prstGeom>
          <a:solidFill>
            <a:srgbClr val="0B1220"/>
          </a:solidFill>
          <a:ln/>
        </p:spPr>
      </p:sp>
      <p:sp>
        <p:nvSpPr>
          <p:cNvPr id="40" name="Text 38"/>
          <p:cNvSpPr/>
          <p:nvPr/>
        </p:nvSpPr>
        <p:spPr>
          <a:xfrm>
            <a:off x="932688" y="5779008"/>
            <a:ext cx="103235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때는 팔 줄을 몰랐습니다. </a:t>
            </a: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자료가 지금은 상품입니다.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고객용 챗봇 서비스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OVERNIGHT ORDER FLOW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2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새벽 02시 카톡 주문이 </a:t>
            </a: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 08시 작업지시</a:t>
            </a:r>
            <a:r>
              <a:rPr lang="en-US" sz="2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이어집니다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32688" y="2615184"/>
            <a:ext cx="10323576" cy="45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615184"/>
            <a:ext cx="6400617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>
            <a:off x="832104" y="2537460"/>
            <a:ext cx="201168" cy="201168"/>
          </a:xfrm>
          <a:prstGeom prst="ellipse">
            <a:avLst/>
          </a:prstGeom>
          <a:solidFill>
            <a:srgbClr val="4F46E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03120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02:14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6304" y="2907792"/>
            <a:ext cx="1572768" cy="1207008"/>
          </a:xfrm>
          <a:prstGeom prst="roundRect">
            <a:avLst>
              <a:gd name="adj" fmla="val 6061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" y="2999232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카톡 주문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" y="3401568"/>
            <a:ext cx="142646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SGCC 1.2T × 1219</a:t>
            </a:r>
            <a:endParaRPr lang="en-US" sz="8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8톤 · 목요일 납기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83876" y="2537460"/>
            <a:ext cx="201168" cy="201168"/>
          </a:xfrm>
          <a:prstGeom prst="ellipse">
            <a:avLst/>
          </a:prstGeom>
          <a:solidFill>
            <a:srgbClr val="4F46E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7532" y="2103120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02:14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98076" y="2907792"/>
            <a:ext cx="1572768" cy="1207008"/>
          </a:xfrm>
          <a:prstGeom prst="roundRect">
            <a:avLst>
              <a:gd name="adj" fmla="val 6061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1228" y="2999232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주문서 판독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71228" y="3401568"/>
            <a:ext cx="142646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규격·수량·납기 추출</a:t>
            </a:r>
            <a:endParaRPr lang="en-US" sz="8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오타·약어까지 해석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35648" y="2537460"/>
            <a:ext cx="201168" cy="201168"/>
          </a:xfrm>
          <a:prstGeom prst="ellipse">
            <a:avLst/>
          </a:prstGeom>
          <a:solidFill>
            <a:srgbClr val="4F46E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69304" y="2103120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02:15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49848" y="2907792"/>
            <a:ext cx="1572768" cy="1207008"/>
          </a:xfrm>
          <a:prstGeom prst="roundRect">
            <a:avLst>
              <a:gd name="adj" fmla="val 6061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3000" y="2999232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자동 조회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23000" y="3401568"/>
            <a:ext cx="142646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 코일 3개 후보</a:t>
            </a:r>
            <a:endParaRPr lang="en-US" sz="8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중량·입고일 확인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787420" y="2537460"/>
            <a:ext cx="201168" cy="201168"/>
          </a:xfrm>
          <a:prstGeom prst="ellipse">
            <a:avLst/>
          </a:prstGeom>
          <a:solidFill>
            <a:srgbClr val="4F46E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21076" y="2103120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02:15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01620" y="2907792"/>
            <a:ext cx="1572768" cy="1207008"/>
          </a:xfrm>
          <a:prstGeom prst="roundRect">
            <a:avLst>
              <a:gd name="adj" fmla="val 6061"/>
            </a:avLst>
          </a:prstGeom>
          <a:solidFill>
            <a:srgbClr val="EEF0FF"/>
          </a:solidFill>
          <a:ln w="19050">
            <a:solidFill>
              <a:srgbClr val="C7C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74772" y="2999232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작업지시 초안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74772" y="3401568"/>
            <a:ext cx="142646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 배정 · 예상 시간</a:t>
            </a:r>
            <a:endParaRPr lang="en-US" sz="8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대기 상태로 저장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232721" y="2537460"/>
            <a:ext cx="201168" cy="201168"/>
          </a:xfrm>
          <a:prstGeom prst="ellipse">
            <a:avLst/>
          </a:prstGeom>
          <a:solidFill>
            <a:srgbClr val="F5B54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377" y="2103120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07:50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46921" y="2907792"/>
            <a:ext cx="1572768" cy="1207008"/>
          </a:xfrm>
          <a:prstGeom prst="roundRect">
            <a:avLst>
              <a:gd name="adj" fmla="val 6061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0073" y="2999232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출근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20073" y="3401568"/>
            <a:ext cx="142646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 확인 · 승인</a:t>
            </a:r>
            <a:endParaRPr lang="en-US" sz="8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소요 1분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297436" y="2537460"/>
            <a:ext cx="201168" cy="201168"/>
          </a:xfrm>
          <a:prstGeom prst="ellipse">
            <a:avLst/>
          </a:prstGeom>
          <a:solidFill>
            <a:srgbClr val="05966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31092" y="2103120"/>
            <a:ext cx="113385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08:00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611636" y="2907792"/>
            <a:ext cx="1572768" cy="1207008"/>
          </a:xfrm>
          <a:prstGeom prst="roundRect">
            <a:avLst>
              <a:gd name="adj" fmla="val 6061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4788" y="2999232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 태블릿 표시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684788" y="3401568"/>
            <a:ext cx="142646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작업지시 자동 도착</a:t>
            </a:r>
            <a:endParaRPr lang="en-US" sz="8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시작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32688" y="1682496"/>
            <a:ext cx="598767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 b="1" kern="0" spc="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없는 시간  ·  자동 처리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126834" y="1682496"/>
            <a:ext cx="412943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50" b="1" kern="0" spc="60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출근 후  ·  확인만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58368" y="4626864"/>
            <a:ext cx="5280660" cy="1097280"/>
          </a:xfrm>
          <a:prstGeom prst="roundRect">
            <a:avLst>
              <a:gd name="adj" fmla="val 6667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7824" y="4754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77824" y="5047488"/>
            <a:ext cx="484174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09:00 전화·팩스 수신 → 수기 입력 → 재고 확인 → 라인 배정 → 10:30 작업 시작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49924" y="4626864"/>
            <a:ext cx="5280660" cy="109728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69380" y="47548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챗봇 도입 후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69380" y="5047488"/>
            <a:ext cx="4841748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02:14 접수·판독·재고확인·초안 완료  →  07:50 승인 1분  →  08:00 작업 시작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58368" y="5870448"/>
            <a:ext cx="10872216" cy="402336"/>
          </a:xfrm>
          <a:prstGeom prst="roundRect">
            <a:avLst>
              <a:gd name="adj" fmla="val 18182"/>
            </a:avLst>
          </a:prstGeom>
          <a:solidFill>
            <a:srgbClr val="0B1220"/>
          </a:solidFill>
          <a:ln/>
        </p:spPr>
      </p:sp>
      <p:sp>
        <p:nvSpPr>
          <p:cNvPr id="46" name="Text 44"/>
          <p:cNvSpPr/>
          <p:nvPr/>
        </p:nvSpPr>
        <p:spPr>
          <a:xfrm>
            <a:off x="932688" y="5870448"/>
            <a:ext cx="103235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주문은 밤에 들어오고, </a:t>
            </a: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작업은 아침 8시에 시작됩니다.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그 사이에 사람은 없습니다.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6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고객용 챗봇 서비스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6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2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가공업체가 아니라 </a:t>
            </a: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응답하는 소재 서비스 기업</a:t>
            </a:r>
            <a:r>
              <a:rPr lang="en-US" sz="2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77824" y="14630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b="1" kern="0" spc="8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35808" y="146304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b="1" kern="0" spc="8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10528" y="14630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b="1" kern="0" spc="8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챗봇 도입 후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8368" y="2194560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175564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접수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035808" y="175564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업무시간 · 전화/팩스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90488" y="1975104"/>
            <a:ext cx="210312" cy="7315"/>
          </a:xfrm>
          <a:prstGeom prst="line">
            <a:avLst/>
          </a:prstGeom>
          <a:noFill/>
          <a:ln w="2032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510528" y="1755648"/>
            <a:ext cx="4800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· 자동 판독 + 초안 생성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2688336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224942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확인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035808" y="2249424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 문의 · 담당자 확인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0488" y="2468880"/>
            <a:ext cx="210312" cy="7315"/>
          </a:xfrm>
          <a:prstGeom prst="line">
            <a:avLst/>
          </a:prstGeom>
          <a:noFill/>
          <a:ln w="2032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510528" y="2249424"/>
            <a:ext cx="4800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· 완료 예정시각 포함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" y="3182112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" y="27432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통보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035808" y="274320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연락 없음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90488" y="2962656"/>
            <a:ext cx="210312" cy="7315"/>
          </a:xfrm>
          <a:prstGeom prst="line">
            <a:avLst/>
          </a:prstGeom>
          <a:noFill/>
          <a:ln w="2032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510528" y="2743200"/>
            <a:ext cx="4800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통보 + 성적서 동봉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" y="3675888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877824" y="323697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확인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035808" y="3236976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 → 창고 확인 → 회신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90488" y="3456432"/>
            <a:ext cx="210312" cy="7315"/>
          </a:xfrm>
          <a:prstGeom prst="line">
            <a:avLst/>
          </a:prstGeom>
          <a:noFill/>
          <a:ln w="2032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510528" y="3236976"/>
            <a:ext cx="4800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· 위치·중량·경과일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8368" y="416966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877824" y="373075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실적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035808" y="373075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마감 후 요청·정리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90488" y="3950208"/>
            <a:ext cx="210312" cy="7315"/>
          </a:xfrm>
          <a:prstGeom prst="line">
            <a:avLst/>
          </a:prstGeom>
          <a:noFill/>
          <a:ln w="2032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6510528" y="3730752"/>
            <a:ext cx="4800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· 엑셀 즉시 전송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8368" y="4224528"/>
            <a:ext cx="10872216" cy="438912"/>
          </a:xfrm>
          <a:prstGeom prst="roundRect">
            <a:avLst>
              <a:gd name="adj" fmla="val 16667"/>
            </a:avLst>
          </a:prstGeom>
          <a:solidFill>
            <a:srgbClr val="FFF8E8"/>
          </a:solidFill>
          <a:ln w="19050">
            <a:solidFill>
              <a:srgbClr val="FBD8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422452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 대응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035808" y="4224528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 대 주장 · 수 주 소요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90488" y="4443984"/>
            <a:ext cx="210312" cy="7315"/>
          </a:xfrm>
          <a:prstGeom prst="line">
            <a:avLst/>
          </a:prstGeom>
          <a:noFill/>
          <a:ln w="2032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6510528" y="4224528"/>
            <a:ext cx="4800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좌표·크기·영상·귀책 판별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58368" y="4718304"/>
            <a:ext cx="10872216" cy="438912"/>
          </a:xfrm>
          <a:prstGeom prst="roundRect">
            <a:avLst>
              <a:gd name="adj" fmla="val 16667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7824" y="4718304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증빙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3035808" y="4718304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 수단 없음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190488" y="4937760"/>
            <a:ext cx="210312" cy="7315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6510528" y="4718304"/>
            <a:ext cx="4800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성적서 자동 발행 (상세본 유상)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58368" y="5358384"/>
            <a:ext cx="3477768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7824" y="5358384"/>
            <a:ext cx="3038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0명</a:t>
            </a:r>
            <a:r>
              <a:rPr lang="en-US" sz="1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추가 응대 인력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4355592" y="5358384"/>
            <a:ext cx="3477768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5048" y="5358384"/>
            <a:ext cx="3038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3배</a:t>
            </a:r>
            <a:r>
              <a:rPr lang="en-US" sz="1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응대 가능 시간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8052816" y="5358384"/>
            <a:ext cx="3477768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72272" y="5358384"/>
            <a:ext cx="3038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 → ?</a:t>
            </a:r>
            <a:r>
              <a:rPr lang="en-US" sz="1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가공 외 매출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8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고객용 챗봇 서비스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kern="0" spc="12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09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1457</Words>
  <Application>Microsoft Office PowerPoint</Application>
  <PresentationFormat>와이드스크린</PresentationFormat>
  <Paragraphs>306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챗봇 하나로, 오성철강의 모든 서비스</dc:title>
  <dc:subject>PptxGenJS Presentation</dc:subject>
  <dc:creator>오성철강</dc:creator>
  <cp:lastModifiedBy>대균 정</cp:lastModifiedBy>
  <cp:revision>2</cp:revision>
  <dcterms:created xsi:type="dcterms:W3CDTF">2026-09-14T05:18:38Z</dcterms:created>
  <dcterms:modified xsi:type="dcterms:W3CDTF">2026-09-14T05:28:05Z</dcterms:modified>
</cp:coreProperties>
</file>