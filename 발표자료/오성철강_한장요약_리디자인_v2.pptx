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0233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spc="36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ONE PAGE SUMMARY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658368" y="768096"/>
            <a:ext cx="10872216" cy="12802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896112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실패가 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자산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남겼고,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58368" y="1316736"/>
            <a:ext cx="108722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AI가 그 자산에서 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발견</a:t>
            </a:r>
            <a:pPr indent="0" marL="0">
              <a:lnSpc>
                <a:spcPct val="118000"/>
              </a:lnSpc>
              <a:buNone/>
            </a:pPr>
            <a:r>
              <a:rPr lang="en-US" sz="29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을 꺼냈습니다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658368" y="2029968"/>
            <a:ext cx="2457450" cy="3236976"/>
          </a:xfrm>
          <a:prstGeom prst="roundRect">
            <a:avLst>
              <a:gd name="adj" fmla="val 3721"/>
            </a:avLst>
          </a:prstGeom>
          <a:solidFill>
            <a:srgbClr val="FEF3F2"/>
          </a:solidFill>
          <a:ln w="17780">
            <a:solidFill>
              <a:srgbClr val="FBCF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2029968"/>
            <a:ext cx="2457450" cy="493776"/>
          </a:xfrm>
          <a:prstGeom prst="roundRect">
            <a:avLst>
              <a:gd name="adj" fmla="val 18519"/>
            </a:avLst>
          </a:prstGeom>
          <a:solidFill>
            <a:srgbClr val="D92D20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2322576"/>
            <a:ext cx="2457450" cy="201168"/>
          </a:xfrm>
          <a:prstGeom prst="rect">
            <a:avLst/>
          </a:prstGeom>
          <a:solidFill>
            <a:srgbClr val="D92D20"/>
          </a:solidFill>
          <a:ln/>
        </p:spPr>
      </p:sp>
      <p:sp>
        <p:nvSpPr>
          <p:cNvPr id="9" name="Text 7"/>
          <p:cNvSpPr/>
          <p:nvPr/>
        </p:nvSpPr>
        <p:spPr>
          <a:xfrm>
            <a:off x="859536" y="2029968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53312" y="2029968"/>
            <a:ext cx="157962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번의 실패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3463290" y="2029968"/>
            <a:ext cx="2457450" cy="3236976"/>
          </a:xfrm>
          <a:prstGeom prst="roundRect">
            <a:avLst>
              <a:gd name="adj" fmla="val 3721"/>
            </a:avLst>
          </a:prstGeom>
          <a:solidFill>
            <a:srgbClr val="FFFAEB"/>
          </a:solidFill>
          <a:ln w="17780">
            <a:solidFill>
              <a:srgbClr val="F2DDA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63290" y="2029968"/>
            <a:ext cx="2457450" cy="493776"/>
          </a:xfrm>
          <a:prstGeom prst="roundRect">
            <a:avLst>
              <a:gd name="adj" fmla="val 18519"/>
            </a:avLst>
          </a:prstGeom>
          <a:solidFill>
            <a:srgbClr val="B8860B"/>
          </a:solidFill>
          <a:ln/>
        </p:spPr>
      </p:sp>
      <p:sp>
        <p:nvSpPr>
          <p:cNvPr id="13" name="Shape 11"/>
          <p:cNvSpPr/>
          <p:nvPr/>
        </p:nvSpPr>
        <p:spPr>
          <a:xfrm>
            <a:off x="3463290" y="2322576"/>
            <a:ext cx="245745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4" name="Text 12"/>
          <p:cNvSpPr/>
          <p:nvPr/>
        </p:nvSpPr>
        <p:spPr>
          <a:xfrm>
            <a:off x="3664458" y="2029968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58234" y="2029968"/>
            <a:ext cx="157962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남은 것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268212" y="2029968"/>
            <a:ext cx="2457450" cy="3236976"/>
          </a:xfrm>
          <a:prstGeom prst="roundRect">
            <a:avLst>
              <a:gd name="adj" fmla="val 3721"/>
            </a:avLst>
          </a:prstGeom>
          <a:solidFill>
            <a:srgbClr val="EEF0FF"/>
          </a:solidFill>
          <a:ln w="17780">
            <a:solidFill>
              <a:srgbClr val="CBCE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8212" y="2029968"/>
            <a:ext cx="2457450" cy="493776"/>
          </a:xfrm>
          <a:prstGeom prst="roundRect">
            <a:avLst>
              <a:gd name="adj" fmla="val 18519"/>
            </a:avLst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268212" y="2322576"/>
            <a:ext cx="2457450" cy="201168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69380" y="2029968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63156" y="2029968"/>
            <a:ext cx="157962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개의 질문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9073134" y="2029968"/>
            <a:ext cx="2457450" cy="3236976"/>
          </a:xfrm>
          <a:prstGeom prst="roundRect">
            <a:avLst>
              <a:gd name="adj" fmla="val 3721"/>
            </a:avLst>
          </a:prstGeom>
          <a:solidFill>
            <a:srgbClr val="ECFDF5"/>
          </a:solidFill>
          <a:ln w="17780">
            <a:solidFill>
              <a:srgbClr val="A7E8C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073134" y="2029968"/>
            <a:ext cx="2457450" cy="493776"/>
          </a:xfrm>
          <a:prstGeom prst="roundRect">
            <a:avLst>
              <a:gd name="adj" fmla="val 18519"/>
            </a:avLst>
          </a:prstGeom>
          <a:solidFill>
            <a:srgbClr val="047857"/>
          </a:solidFill>
          <a:ln/>
        </p:spPr>
      </p:sp>
      <p:sp>
        <p:nvSpPr>
          <p:cNvPr id="23" name="Shape 21"/>
          <p:cNvSpPr/>
          <p:nvPr/>
        </p:nvSpPr>
        <p:spPr>
          <a:xfrm>
            <a:off x="9073134" y="2322576"/>
            <a:ext cx="2457450" cy="201168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24" name="Text 22"/>
          <p:cNvSpPr/>
          <p:nvPr/>
        </p:nvSpPr>
        <p:spPr>
          <a:xfrm>
            <a:off x="9274302" y="2029968"/>
            <a:ext cx="475488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b="1" spc="80" kern="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768078" y="2029968"/>
            <a:ext cx="157962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되었나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3152394" y="3511296"/>
            <a:ext cx="274320" cy="310896"/>
          </a:xfrm>
          <a:prstGeom prst="rightArrow">
            <a:avLst/>
          </a:prstGeom>
          <a:solidFill>
            <a:srgbClr val="FBCFCB"/>
          </a:solidFill>
          <a:ln/>
        </p:spPr>
      </p:sp>
      <p:sp>
        <p:nvSpPr>
          <p:cNvPr id="27" name="Shape 25"/>
          <p:cNvSpPr/>
          <p:nvPr/>
        </p:nvSpPr>
        <p:spPr>
          <a:xfrm>
            <a:off x="5957316" y="3511296"/>
            <a:ext cx="274320" cy="310896"/>
          </a:xfrm>
          <a:prstGeom prst="rightArrow">
            <a:avLst/>
          </a:prstGeom>
          <a:solidFill>
            <a:srgbClr val="F2DDA4"/>
          </a:solidFill>
          <a:ln/>
        </p:spPr>
      </p:sp>
      <p:sp>
        <p:nvSpPr>
          <p:cNvPr id="28" name="Shape 26"/>
          <p:cNvSpPr/>
          <p:nvPr/>
        </p:nvSpPr>
        <p:spPr>
          <a:xfrm>
            <a:off x="8762238" y="3511296"/>
            <a:ext cx="274320" cy="310896"/>
          </a:xfrm>
          <a:prstGeom prst="rightArrow">
            <a:avLst/>
          </a:prstGeom>
          <a:solidFill>
            <a:srgbClr val="CBCEFB"/>
          </a:solidFill>
          <a:ln/>
        </p:spPr>
      </p:sp>
      <p:sp>
        <p:nvSpPr>
          <p:cNvPr id="29" name="Shape 27"/>
          <p:cNvSpPr/>
          <p:nvPr/>
        </p:nvSpPr>
        <p:spPr>
          <a:xfrm>
            <a:off x="841248" y="2688336"/>
            <a:ext cx="209169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FBCFC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24128" y="2807208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60" kern="0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차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24128" y="3026664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고성능 장비 도입</a:t>
            </a:r>
            <a:endParaRPr lang="en-US" sz="1650" dirty="0"/>
          </a:p>
        </p:txBody>
      </p:sp>
      <p:sp>
        <p:nvSpPr>
          <p:cNvPr id="32" name="Shape 30"/>
          <p:cNvSpPr/>
          <p:nvPr/>
        </p:nvSpPr>
        <p:spPr>
          <a:xfrm>
            <a:off x="1024128" y="3401568"/>
            <a:ext cx="1725930" cy="10973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3" name="Text 31"/>
          <p:cNvSpPr/>
          <p:nvPr/>
        </p:nvSpPr>
        <p:spPr>
          <a:xfrm>
            <a:off x="1024128" y="3474720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생산성은 올랐지만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24128" y="3639312"/>
            <a:ext cx="172593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단가는 그대로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841248" y="3986784"/>
            <a:ext cx="209169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FBCFC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4105656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60" kern="0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차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24128" y="4325112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품질측정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024128" y="4700016"/>
            <a:ext cx="1725930" cy="10973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9" name="Text 37"/>
          <p:cNvSpPr/>
          <p:nvPr/>
        </p:nvSpPr>
        <p:spPr>
          <a:xfrm>
            <a:off x="1024128" y="4773168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대상까지 받았지만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24128" y="4937760"/>
            <a:ext cx="172593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D92D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매출은 그대로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3646170" y="2688336"/>
            <a:ext cx="209169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240">
            <a:solidFill>
              <a:srgbClr val="F2DDA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29050" y="2688336"/>
            <a:ext cx="17259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생산성 높은 장비</a:t>
            </a:r>
            <a:endParaRPr lang="en-US" sz="1450" dirty="0"/>
          </a:p>
        </p:txBody>
      </p:sp>
      <p:sp>
        <p:nvSpPr>
          <p:cNvPr id="43" name="Shape 41"/>
          <p:cNvSpPr/>
          <p:nvPr/>
        </p:nvSpPr>
        <p:spPr>
          <a:xfrm>
            <a:off x="3646170" y="3346704"/>
            <a:ext cx="2091690" cy="566928"/>
          </a:xfrm>
          <a:prstGeom prst="roundRect">
            <a:avLst>
              <a:gd name="adj" fmla="val 16129"/>
            </a:avLst>
          </a:prstGeom>
          <a:solidFill>
            <a:srgbClr val="FFFFFF"/>
          </a:solidFill>
          <a:ln w="15240">
            <a:solidFill>
              <a:srgbClr val="F2DDA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29050" y="3346704"/>
            <a:ext cx="172593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4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정밀 품질 측정 자료</a:t>
            </a:r>
            <a:endParaRPr lang="en-US" sz="1450" dirty="0"/>
          </a:p>
        </p:txBody>
      </p:sp>
      <p:sp>
        <p:nvSpPr>
          <p:cNvPr id="45" name="Shape 43"/>
          <p:cNvSpPr/>
          <p:nvPr/>
        </p:nvSpPr>
        <p:spPr>
          <a:xfrm>
            <a:off x="3646170" y="4005072"/>
            <a:ext cx="209169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22860">
            <a:solidFill>
              <a:srgbClr val="F5B5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829050" y="4114800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b="1" spc="160" kern="0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공정 데이터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829050" y="4334256"/>
            <a:ext cx="172593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187</a:t>
            </a:r>
            <a:pPr indent="0" marL="0">
              <a:lnSpc>
                <a:spcPct val="118000"/>
              </a:lnSpc>
              <a:buNone/>
            </a:pPr>
            <a:r>
              <a:rPr lang="en-US" sz="1400" b="1" dirty="0">
                <a:solidFill>
                  <a:srgbClr val="B8860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만 건</a:t>
            </a:r>
            <a:endParaRPr lang="en-US" sz="3400" dirty="0"/>
          </a:p>
        </p:txBody>
      </p:sp>
      <p:sp>
        <p:nvSpPr>
          <p:cNvPr id="48" name="Text 46"/>
          <p:cNvSpPr/>
          <p:nvPr/>
        </p:nvSpPr>
        <p:spPr>
          <a:xfrm>
            <a:off x="3829050" y="4956048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76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2초마다 한 줄씩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6451092" y="2688336"/>
            <a:ext cx="209169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CBCEF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33972" y="2816352"/>
            <a:ext cx="548640" cy="256032"/>
          </a:xfrm>
          <a:prstGeom prst="roundRect">
            <a:avLst>
              <a:gd name="adj" fmla="val 46429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633972" y="3163824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</a:t>
            </a:r>
            <a:endParaRPr lang="en-US" sz="1700" dirty="0"/>
          </a:p>
        </p:txBody>
      </p:sp>
      <p:sp>
        <p:nvSpPr>
          <p:cNvPr id="52" name="Text 50"/>
          <p:cNvSpPr/>
          <p:nvPr/>
        </p:nvSpPr>
        <p:spPr>
          <a:xfrm>
            <a:off x="6633972" y="3474720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모르는가</a:t>
            </a:r>
            <a:endParaRPr lang="en-US" sz="1700" dirty="0"/>
          </a:p>
        </p:txBody>
      </p:sp>
      <p:sp>
        <p:nvSpPr>
          <p:cNvPr id="53" name="Shape 51"/>
          <p:cNvSpPr/>
          <p:nvPr/>
        </p:nvSpPr>
        <p:spPr>
          <a:xfrm>
            <a:off x="6451092" y="3986784"/>
            <a:ext cx="209169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CBCEF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633972" y="4114800"/>
            <a:ext cx="548640" cy="256032"/>
          </a:xfrm>
          <a:prstGeom prst="roundRect">
            <a:avLst>
              <a:gd name="adj" fmla="val 46429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633972" y="4462272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고객들은</a:t>
            </a:r>
            <a:endParaRPr lang="en-US" sz="1700" dirty="0"/>
          </a:p>
        </p:txBody>
      </p:sp>
      <p:sp>
        <p:nvSpPr>
          <p:cNvPr id="56" name="Text 54"/>
          <p:cNvSpPr/>
          <p:nvPr/>
        </p:nvSpPr>
        <p:spPr>
          <a:xfrm>
            <a:off x="6633972" y="4773168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 원하는가</a:t>
            </a:r>
            <a:endParaRPr lang="en-US" sz="1700" dirty="0"/>
          </a:p>
        </p:txBody>
      </p:sp>
      <p:sp>
        <p:nvSpPr>
          <p:cNvPr id="57" name="Shape 55"/>
          <p:cNvSpPr/>
          <p:nvPr/>
        </p:nvSpPr>
        <p:spPr>
          <a:xfrm>
            <a:off x="9256014" y="2688336"/>
            <a:ext cx="209169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A7E8C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38894" y="2816352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완벽한 품질</a:t>
            </a:r>
            <a:endParaRPr lang="en-US" sz="1650" dirty="0"/>
          </a:p>
        </p:txBody>
      </p:sp>
      <p:sp>
        <p:nvSpPr>
          <p:cNvPr id="59" name="Text 57"/>
          <p:cNvSpPr/>
          <p:nvPr/>
        </p:nvSpPr>
        <p:spPr>
          <a:xfrm>
            <a:off x="9438894" y="3108960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기술 내재화</a:t>
            </a:r>
            <a:endParaRPr lang="en-US" sz="1650" dirty="0"/>
          </a:p>
        </p:txBody>
      </p:sp>
      <p:sp>
        <p:nvSpPr>
          <p:cNvPr id="60" name="Shape 58"/>
          <p:cNvSpPr/>
          <p:nvPr/>
        </p:nvSpPr>
        <p:spPr>
          <a:xfrm>
            <a:off x="9438894" y="3511296"/>
            <a:ext cx="1725930" cy="91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1" name="Shape 59"/>
          <p:cNvSpPr/>
          <p:nvPr/>
        </p:nvSpPr>
        <p:spPr>
          <a:xfrm>
            <a:off x="9438894" y="3511296"/>
            <a:ext cx="862965" cy="91440"/>
          </a:xfrm>
          <a:prstGeom prst="rect">
            <a:avLst/>
          </a:prstGeom>
          <a:solidFill>
            <a:srgbClr val="047857"/>
          </a:solidFill>
          <a:ln/>
        </p:spPr>
      </p:sp>
      <p:sp>
        <p:nvSpPr>
          <p:cNvPr id="62" name="Shape 60"/>
          <p:cNvSpPr/>
          <p:nvPr/>
        </p:nvSpPr>
        <p:spPr>
          <a:xfrm>
            <a:off x="10219563" y="3474720"/>
            <a:ext cx="164592" cy="164592"/>
          </a:xfrm>
          <a:prstGeom prst="ellipse">
            <a:avLst/>
          </a:prstGeom>
          <a:solidFill>
            <a:srgbClr val="047857"/>
          </a:solidFill>
          <a:ln w="2032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38894" y="3657600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04785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 50%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9256014" y="3986784"/>
            <a:ext cx="2091690" cy="1207008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5240">
            <a:solidFill>
              <a:srgbClr val="A7E8C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38894" y="4114800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서비스</a:t>
            </a:r>
            <a:endParaRPr lang="en-US" sz="1650" dirty="0"/>
          </a:p>
        </p:txBody>
      </p:sp>
      <p:sp>
        <p:nvSpPr>
          <p:cNvPr id="66" name="Text 64"/>
          <p:cNvSpPr/>
          <p:nvPr/>
        </p:nvSpPr>
        <p:spPr>
          <a:xfrm>
            <a:off x="9438894" y="4407408"/>
            <a:ext cx="172593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650" b="1" dirty="0">
                <a:solidFill>
                  <a:srgbClr val="0B122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제공 가능한 회사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9438894" y="4809744"/>
            <a:ext cx="1725930" cy="9144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68" name="Shape 66"/>
          <p:cNvSpPr/>
          <p:nvPr/>
        </p:nvSpPr>
        <p:spPr>
          <a:xfrm>
            <a:off x="9438894" y="4809744"/>
            <a:ext cx="345186" cy="91440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69" name="Shape 67"/>
          <p:cNvSpPr/>
          <p:nvPr/>
        </p:nvSpPr>
        <p:spPr>
          <a:xfrm>
            <a:off x="9701784" y="4773168"/>
            <a:ext cx="164592" cy="164592"/>
          </a:xfrm>
          <a:prstGeom prst="ellipse">
            <a:avLst/>
          </a:prstGeom>
          <a:solidFill>
            <a:srgbClr val="F5B544"/>
          </a:solidFill>
          <a:ln w="20320">
            <a:solidFill>
              <a:srgbClr val="FFFFFF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438894" y="4956048"/>
            <a:ext cx="172593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진도  20%</a:t>
            </a:r>
            <a:endParaRPr lang="en-US" sz="1150" dirty="0"/>
          </a:p>
        </p:txBody>
      </p:sp>
      <p:sp>
        <p:nvSpPr>
          <p:cNvPr id="71" name="Shape 69"/>
          <p:cNvSpPr/>
          <p:nvPr/>
        </p:nvSpPr>
        <p:spPr>
          <a:xfrm>
            <a:off x="0" y="5431536"/>
            <a:ext cx="12191695" cy="877824"/>
          </a:xfrm>
          <a:prstGeom prst="rect">
            <a:avLst/>
          </a:prstGeom>
          <a:solidFill>
            <a:srgbClr val="0B1220"/>
          </a:solidFill>
          <a:ln/>
        </p:spPr>
      </p:sp>
      <p:sp>
        <p:nvSpPr>
          <p:cNvPr id="72" name="Shape 70"/>
          <p:cNvSpPr/>
          <p:nvPr/>
        </p:nvSpPr>
        <p:spPr>
          <a:xfrm>
            <a:off x="0" y="5431536"/>
            <a:ext cx="12191695" cy="41148"/>
          </a:xfrm>
          <a:prstGeom prst="rect">
            <a:avLst/>
          </a:prstGeom>
          <a:solidFill>
            <a:srgbClr val="F5B544"/>
          </a:solidFill>
          <a:ln/>
        </p:spPr>
      </p:sp>
      <p:sp>
        <p:nvSpPr>
          <p:cNvPr id="73" name="Text 71"/>
          <p:cNvSpPr/>
          <p:nvPr/>
        </p:nvSpPr>
        <p:spPr>
          <a:xfrm>
            <a:off x="0" y="55778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C9D2D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좋은 장비로 높은 생산성을 내는 것은 기본입니다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0" y="5870448"/>
            <a:ext cx="12191695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AI는 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지속 가능한 고품질 생산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 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5B5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24시간 서비스</a:t>
            </a:r>
            <a:pPr algn="ctr" indent="0" marL="0">
              <a:lnSpc>
                <a:spcPct val="118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가능하게 합니다</a:t>
            </a:r>
            <a:endParaRPr lang="en-US" sz="1900" dirty="0"/>
          </a:p>
        </p:txBody>
      </p:sp>
      <p:sp>
        <p:nvSpPr>
          <p:cNvPr id="75" name="Text 73"/>
          <p:cNvSpPr/>
          <p:nvPr/>
        </p:nvSpPr>
        <p:spPr>
          <a:xfrm>
            <a:off x="658368" y="6455664"/>
            <a:ext cx="54864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00" b="1" spc="18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요약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787384" y="6455664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18000"/>
              </a:lnSpc>
              <a:buNone/>
            </a:pPr>
            <a:r>
              <a:rPr lang="en-US" sz="1000" b="1" spc="140" kern="0" dirty="0">
                <a:solidFill>
                  <a:srgbClr val="9AA4B2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오성철강  ·  02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한 장 요약</dc:title>
  <dc:subject>PptxGenJS Presentation</dc:subject>
  <dc:creator>PptxGenJS</dc:creator>
  <cp:lastModifiedBy>PptxGenJS</cp:lastModifiedBy>
  <cp:revision>1</cp:revision>
  <dcterms:created xsi:type="dcterms:W3CDTF">2026-09-16T22:48:49Z</dcterms:created>
  <dcterms:modified xsi:type="dcterms:W3CDTF">2026-09-16T22:48:49Z</dcterms:modified>
</cp:coreProperties>
</file>