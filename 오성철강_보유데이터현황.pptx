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E883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PLC 설비 데이터</c:v>
                  </c:pt>
                  <c:pt idx="1">
                    <c:v>그린ERP 연동 데이터</c:v>
                  </c:pt>
                  <c:pt idx="2">
                    <c:v>ERP2.0 자체 데이터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1823733</c:v>
                </c:pt>
                <c:pt idx="1">
                  <c:v>34707</c:v>
                </c:pt>
                <c:pt idx="2">
                  <c:v>14513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F0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D5C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16283F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보유 데이터 현황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설비 로그 · 그린ERP 연동 데이터 · ERP2.0 자체 데이터 — 전체 규모와 구성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97280" cy="0"/>
          </a:xfrm>
          <a:prstGeom prst="line">
            <a:avLst/>
          </a:prstGeom>
          <a:noFill/>
          <a:ln w="38100">
            <a:solidFill>
              <a:srgbClr val="E883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2026. 07. 28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자산 인벤토리 보고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자산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· 그린ERP · ERP2.0 세 축에서 총 187만 건 이상의 데이터를 실시간으로 보유·운영하고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01568" cy="26060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6712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8620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PLC 데이터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1,823,733</a:t>
            </a:r>
            <a:pPr indent="0" marL="0">
              <a:buNone/>
            </a:pPr>
            <a:r>
              <a:rPr lang="en-US" sz="14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41248" y="3776472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+ 레벨링 2개 라인 · 초 단위 자동 기록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42816" y="1874520"/>
            <a:ext cx="3401568" cy="26060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35424" y="216712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35424" y="28620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연동 데이터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35424" y="3200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</a:t>
            </a:r>
            <a:pPr indent="0" marL="0">
              <a:buNone/>
            </a:pPr>
            <a:r>
              <a:rPr lang="en-US" sz="14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35424" y="3776472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 테이블 · 거래처 60개사 · 10분 간격 동기화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36992" y="1874520"/>
            <a:ext cx="3401568" cy="26060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216712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28620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ERP2.0 자체 데이터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3200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</a:t>
            </a:r>
            <a:pPr indent="0" marL="0">
              <a:buNone/>
            </a:pPr>
            <a:r>
              <a:rPr lang="en-US" sz="14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29600" y="3776472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 테이블 · 영업/재무/출하 직접 관리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0789920" cy="1051560"/>
          </a:xfrm>
          <a:prstGeom prst="roundRect">
            <a:avLst>
              <a:gd name="adj" fmla="val 7826"/>
            </a:avLst>
          </a:prstGeom>
          <a:solidFill>
            <a:srgbClr val="16283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56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데이터 합계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404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축을 통합하면 오성철강은 총 1,872,953건의 구조화된 데이터를 보유하고 있습니다.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51846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</a:t>
            </a:r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설비 PLC 데이터 — 실시간 운전 로그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슬리팅·레벨링 라인의 제어 시스템이 초 단위로 자동 기록하는 원천 센서/제어 데이터입니다.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81328" y="21671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(SLITTING)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788920"/>
            <a:ext cx="4672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1,708,337</a:t>
            </a:r>
            <a:pPr indent="0" marL="0">
              <a:buNone/>
            </a:pPr>
            <a:r>
              <a:rPr lang="en-US" sz="16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41248" y="352044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기록  2025-12-03 16:26:20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" y="390448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DECD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904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27개 필드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441655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언코일러·3롤·슬리터·리코일러 각 구간의 속도, 장력(4채널 ×2), 외경, 폭, 루프, 길이 등 라인 전 구간의 실시간 운전 상태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4808" y="216712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4888" y="21671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(LEVELING)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64808" y="2788920"/>
            <a:ext cx="4672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115,396</a:t>
            </a:r>
            <a:pPr indent="0" marL="0">
              <a:buNone/>
            </a:pPr>
            <a:r>
              <a:rPr lang="en-US" sz="16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64808" y="352044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기록  2026-06-04 13:01:24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64808" y="390448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DECD6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904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17개 필드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64808" y="441655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절단길이 설정/보정, 이동거리, 가속·감속 시간, 속도(PPS), 인버터 속도 등 절단 공정의 정밀 제어값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2~3초 간격으로 자동 적재되는 고빈도 시계열 데이터 — 설비 이상감지·예지보전 분석의 원천 자료로 활용 가능합니다.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 데이터 필드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라인의 원시 필드를 성격별로 묶으면 아래와 같은 4~5개 그룹으로 정리됩니다.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필드군</a:t>
            </a:r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(27개 필드)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530352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957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시간·식별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316736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코일ID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084832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운전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548640" y="3145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속도계열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언코일러속도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1461211" y="345643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1211" y="34564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3롤속도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229307" y="3456432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9307" y="345643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슬리터속도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052267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2267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리코일러속도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964838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64838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라인속도설정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877410" y="345643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7410" y="34564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라인속도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48640" y="38953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장력계열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06240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언코일러장력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1461211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1211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장력1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2229307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29307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장력2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2997403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7403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장력3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3765499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65499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장력4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533595" y="4206240"/>
            <a:ext cx="919886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33595" y="4206240"/>
            <a:ext cx="919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장력1R~4R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548640" y="4645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치수·위치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956048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956048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언코일러외경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1461211" y="49560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61211" y="4956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실제외경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2229307" y="4956048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29307" y="495604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언코일러폭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3052267" y="4956048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52267" y="4956048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리코일러실제외경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4144061" y="49560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44061" y="4956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4912157" y="4956048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2157" y="495604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No1루프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548640" y="5285232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528523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No2루프</a:t>
            </a:r>
            <a:endParaRPr lang="en-US" sz="870" dirty="0"/>
          </a:p>
        </p:txBody>
      </p:sp>
      <p:sp>
        <p:nvSpPr>
          <p:cNvPr id="55" name="Text 53"/>
          <p:cNvSpPr/>
          <p:nvPr/>
        </p:nvSpPr>
        <p:spPr>
          <a:xfrm>
            <a:off x="548640" y="57241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6035040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603504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나이프보정</a:t>
            </a:r>
            <a:endParaRPr lang="en-US" sz="870" dirty="0"/>
          </a:p>
        </p:txBody>
      </p:sp>
      <p:sp>
        <p:nvSpPr>
          <p:cNvPr id="58" name="Text 56"/>
          <p:cNvSpPr/>
          <p:nvPr/>
        </p:nvSpPr>
        <p:spPr>
          <a:xfrm>
            <a:off x="635508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필드군</a:t>
            </a:r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(17개 필드)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355080" y="2212848"/>
            <a:ext cx="530352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23957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시간·식별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55080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870" dirty="0"/>
          </a:p>
        </p:txBody>
      </p:sp>
      <p:sp>
        <p:nvSpPr>
          <p:cNvPr id="63" name="Shape 61"/>
          <p:cNvSpPr/>
          <p:nvPr/>
        </p:nvSpPr>
        <p:spPr>
          <a:xfrm>
            <a:off x="7123176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23176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코일ID</a:t>
            </a:r>
            <a:endParaRPr lang="en-US" sz="870" dirty="0"/>
          </a:p>
        </p:txBody>
      </p:sp>
      <p:sp>
        <p:nvSpPr>
          <p:cNvPr id="65" name="Shape 63"/>
          <p:cNvSpPr/>
          <p:nvPr/>
        </p:nvSpPr>
        <p:spPr>
          <a:xfrm>
            <a:off x="7891272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272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870" dirty="0"/>
          </a:p>
        </p:txBody>
      </p:sp>
      <p:sp>
        <p:nvSpPr>
          <p:cNvPr id="67" name="Text 65"/>
          <p:cNvSpPr/>
          <p:nvPr/>
        </p:nvSpPr>
        <p:spPr>
          <a:xfrm>
            <a:off x="6355080" y="3145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길이계열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355080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55080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절단길이설정</a:t>
            </a:r>
            <a:endParaRPr lang="en-US" sz="870" dirty="0"/>
          </a:p>
        </p:txBody>
      </p:sp>
      <p:sp>
        <p:nvSpPr>
          <p:cNvPr id="70" name="Shape 68"/>
          <p:cNvSpPr/>
          <p:nvPr/>
        </p:nvSpPr>
        <p:spPr>
          <a:xfrm>
            <a:off x="7267651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7651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절단길이보정</a:t>
            </a:r>
            <a:endParaRPr lang="en-US" sz="870" dirty="0"/>
          </a:p>
        </p:txBody>
      </p:sp>
      <p:sp>
        <p:nvSpPr>
          <p:cNvPr id="72" name="Shape 70"/>
          <p:cNvSpPr/>
          <p:nvPr/>
        </p:nvSpPr>
        <p:spPr>
          <a:xfrm>
            <a:off x="8180222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80222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이동길이SV</a:t>
            </a:r>
            <a:endParaRPr lang="en-US" sz="870" dirty="0"/>
          </a:p>
        </p:txBody>
      </p:sp>
      <p:sp>
        <p:nvSpPr>
          <p:cNvPr id="74" name="Shape 72"/>
          <p:cNvSpPr/>
          <p:nvPr/>
        </p:nvSpPr>
        <p:spPr>
          <a:xfrm>
            <a:off x="9092794" y="3456432"/>
            <a:ext cx="919886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92794" y="3456432"/>
            <a:ext cx="919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이동길이ECO</a:t>
            </a:r>
            <a:endParaRPr lang="en-US" sz="870" dirty="0"/>
          </a:p>
        </p:txBody>
      </p:sp>
      <p:sp>
        <p:nvSpPr>
          <p:cNvPr id="76" name="Shape 74"/>
          <p:cNvSpPr/>
          <p:nvPr/>
        </p:nvSpPr>
        <p:spPr>
          <a:xfrm>
            <a:off x="10094976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94976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저속길이설정</a:t>
            </a:r>
            <a:endParaRPr lang="en-US" sz="870" dirty="0"/>
          </a:p>
        </p:txBody>
      </p:sp>
      <p:sp>
        <p:nvSpPr>
          <p:cNvPr id="78" name="Text 76"/>
          <p:cNvSpPr/>
          <p:nvPr/>
        </p:nvSpPr>
        <p:spPr>
          <a:xfrm>
            <a:off x="6355080" y="38953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속도계열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355080" y="4206240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55080" y="420624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속도PPS</a:t>
            </a:r>
            <a:endParaRPr lang="en-US" sz="870" dirty="0"/>
          </a:p>
        </p:txBody>
      </p:sp>
      <p:sp>
        <p:nvSpPr>
          <p:cNvPr id="81" name="Shape 79"/>
          <p:cNvSpPr/>
          <p:nvPr/>
        </p:nvSpPr>
        <p:spPr>
          <a:xfrm>
            <a:off x="7178040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78040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절단속도</a:t>
            </a:r>
            <a:endParaRPr lang="en-US" sz="870" dirty="0"/>
          </a:p>
        </p:txBody>
      </p:sp>
      <p:sp>
        <p:nvSpPr>
          <p:cNvPr id="83" name="Shape 81"/>
          <p:cNvSpPr/>
          <p:nvPr/>
        </p:nvSpPr>
        <p:spPr>
          <a:xfrm>
            <a:off x="7946136" y="4206240"/>
            <a:ext cx="919886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46136" y="4206240"/>
            <a:ext cx="919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인버터속도계수</a:t>
            </a:r>
            <a:endParaRPr lang="en-US" sz="870" dirty="0"/>
          </a:p>
        </p:txBody>
      </p:sp>
      <p:sp>
        <p:nvSpPr>
          <p:cNvPr id="85" name="Shape 83"/>
          <p:cNvSpPr/>
          <p:nvPr/>
        </p:nvSpPr>
        <p:spPr>
          <a:xfrm>
            <a:off x="8948318" y="4206240"/>
            <a:ext cx="919886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48318" y="4206240"/>
            <a:ext cx="919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인버터현속도%</a:t>
            </a:r>
            <a:endParaRPr lang="en-US" sz="870" dirty="0"/>
          </a:p>
        </p:txBody>
      </p:sp>
      <p:sp>
        <p:nvSpPr>
          <p:cNvPr id="87" name="Shape 85"/>
          <p:cNvSpPr/>
          <p:nvPr/>
        </p:nvSpPr>
        <p:spPr>
          <a:xfrm>
            <a:off x="9950501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950501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속도설정</a:t>
            </a:r>
            <a:endParaRPr lang="en-US" sz="870" dirty="0"/>
          </a:p>
        </p:txBody>
      </p:sp>
      <p:sp>
        <p:nvSpPr>
          <p:cNvPr id="89" name="Text 87"/>
          <p:cNvSpPr/>
          <p:nvPr/>
        </p:nvSpPr>
        <p:spPr>
          <a:xfrm>
            <a:off x="6355080" y="4645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시간계열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355080" y="49560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55080" y="4956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가속시간</a:t>
            </a:r>
            <a:endParaRPr lang="en-US" sz="870" dirty="0"/>
          </a:p>
        </p:txBody>
      </p:sp>
      <p:sp>
        <p:nvSpPr>
          <p:cNvPr id="92" name="Shape 90"/>
          <p:cNvSpPr/>
          <p:nvPr/>
        </p:nvSpPr>
        <p:spPr>
          <a:xfrm>
            <a:off x="7123176" y="49560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23176" y="4956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감속시간</a:t>
            </a:r>
            <a:endParaRPr lang="en-US" sz="870" dirty="0"/>
          </a:p>
        </p:txBody>
      </p:sp>
      <p:sp>
        <p:nvSpPr>
          <p:cNvPr id="94" name="Shape 92"/>
          <p:cNvSpPr/>
          <p:nvPr/>
        </p:nvSpPr>
        <p:spPr>
          <a:xfrm>
            <a:off x="7891272" y="4956048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891272" y="495604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1행정시간</a:t>
            </a:r>
            <a:endParaRPr lang="en-US" sz="870" dirty="0"/>
          </a:p>
        </p:txBody>
      </p:sp>
      <p:sp>
        <p:nvSpPr>
          <p:cNvPr id="96" name="Text 94"/>
          <p:cNvSpPr/>
          <p:nvPr/>
        </p:nvSpPr>
        <p:spPr>
          <a:xfrm>
            <a:off x="6355080" y="5394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355080" y="5705856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55080" y="5705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870" dirty="0"/>
          </a:p>
        </p:txBody>
      </p:sp>
      <p:sp>
        <p:nvSpPr>
          <p:cNvPr id="99" name="Text 9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GREENERP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그린ERP 연동 데이터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레거시 그린ERP 시스템에서 실시간으로 동기화해오는 업무 데이터입니다. (10분 간격 자동 동기화)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265176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데이터 종류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입고 내역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7,258건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2024-09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코일 입고 이력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출고 내역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3,395건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2024-09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코일 출고 이력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작업지시서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6,212건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2024-11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작업 배정/진행 상태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생산전표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7,043건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2024-09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일별 생산 실적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작업지시서 상세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1,147건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2026-05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품명·규격·원중량 상세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재고 현황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563건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현재 시점 스냅샷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잔량 보유 코일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미출고 현황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153건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현재 시점 스냅샷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그린ERP 원본 API 직결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매출채권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137건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현재 시점 스냅샷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거래처별 채권 잔액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 마스터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60개사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실거래 이력 기준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이력(운영 로그) 8,739건 별도 보유 — 데이터 정합성 모니터링에 사용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ERP2.0 자체 데이터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2.0에서 직접 생성·관리하는 영업/재무/운영 데이터입니다.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9456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데이터 종류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 마스터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146개사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매출처·매입처·기타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제품 규격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3종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취급 철강 제품 스펙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작업일보 / 매출기록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2,190건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일별 생산·매출 실적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일일 장부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10,061건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수입/지출 거래 기록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출하 기록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1,730건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거래처별 출하 내역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채권 관리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140건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거래처별 채권 현황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지출결의서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20건 (56 라인)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결재/집행 내역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코일 마스터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40건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코일 단위 관리 정보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팩스 수신함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125건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엔팩스 자동 수신 기록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고객 포털 팩스번호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2건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자동 발송 대상 등록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축의 데이터 규모 비교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설비 로그가 압도적인 물량을 차지하며, 업무 데이터(그린ERP·ERP2.0)를 50배 이상 상회합니다.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201168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/>
        </p:spPr>
      </p:sp>
      <p:sp>
        <p:nvSpPr>
          <p:cNvPr id="7" name="Text 4"/>
          <p:cNvSpPr/>
          <p:nvPr/>
        </p:nvSpPr>
        <p:spPr>
          <a:xfrm>
            <a:off x="8485632" y="21396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: 그린ERP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85632" y="2432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52.6배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0" y="3182112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/>
        </p:spPr>
      </p:sp>
      <p:sp>
        <p:nvSpPr>
          <p:cNvPr id="10" name="Text 7"/>
          <p:cNvSpPr/>
          <p:nvPr/>
        </p:nvSpPr>
        <p:spPr>
          <a:xfrm>
            <a:off x="8485632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: ERP2.0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85632" y="36027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125.7배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29600" y="4352544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485632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: ERP2.0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85632" y="4773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2.4배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84048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이미 충분히 쌓여 있습니다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91440" cy="9144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데이터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37560" y="22128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로그 187만 건은 설비 이상감지·예지보전 모델의 학습 데이터로 곧바로 활용 가능합니다.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91440" cy="9144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데이터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37560" y="326440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그린ERP·ERP2.0의 재고·출하·채권 데이터는 이미 실시간 연동되어 영업/재무 자동화의 기반이 되어 있습니다.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91440" cy="9144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7560" y="43159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데이터를 ERP2.0과 연결하면 '설비 가동 → 생산 실적 → 출하'까지 전 과정을 하나의 흐름으로 볼 수 있습니다.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6080760"/>
            <a:ext cx="1051560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 ·  데이터 자산 인벤토리 보고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2026-07-28T08:07:51Z</dcterms:created>
  <dcterms:modified xsi:type="dcterms:W3CDTF">2026-07-28T08:07:51Z</dcterms:modified>
</cp:coreProperties>
</file>