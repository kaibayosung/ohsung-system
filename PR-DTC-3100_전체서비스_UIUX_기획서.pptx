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89320"/>
            <a:ext cx="12188952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960120" cy="9601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5" name="Image 0" descr="/sessions/happy-laughing-euler/mnt/outputs/dtc3100_deck/icons/robot_0F26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996696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PR-DTC-3100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4231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타퍼 텐션 원격 모니터링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서비스 UI/UX 기획서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22960" y="39776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폰 설치  →  서버 실행  →  모니터링  →  통합 뷰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작성일  2026-09-01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0" y="6126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ERP2.0 · 연구실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1945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개요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이 문서가 필요한가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 개별적으로 논의·검증한 내용 — 카메라+OCR, Gemini/Groq 하이브리드 인식, 실측 정확도 검증, 코일/PLC 연동 — 을 실제로 이 서비스를 쓰는 사람 입장에서 하나의 흐름으로 묶은 문서다.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514600"/>
            <a:ext cx="267004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3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14600"/>
            <a:ext cx="2670048" cy="109728"/>
          </a:xfrm>
          <a:prstGeom prst="rect">
            <a:avLst/>
          </a:prstGeom>
          <a:solidFill>
            <a:srgbClr val="2CA8A0"/>
          </a:solidFill>
          <a:ln/>
        </p:spPr>
      </p:sp>
      <p:sp>
        <p:nvSpPr>
          <p:cNvPr id="9" name="Shape 7"/>
          <p:cNvSpPr/>
          <p:nvPr/>
        </p:nvSpPr>
        <p:spPr>
          <a:xfrm>
            <a:off x="1380744" y="2834640"/>
            <a:ext cx="914400" cy="914400"/>
          </a:xfrm>
          <a:prstGeom prst="ellipse">
            <a:avLst/>
          </a:prstGeom>
          <a:solidFill>
            <a:srgbClr val="2CA8A0"/>
          </a:solidFill>
          <a:ln/>
        </p:spPr>
      </p:sp>
      <p:pic>
        <p:nvPicPr>
          <p:cNvPr id="10" name="Image 0" descr="/sessions/happy-laughing-euler/mnt/outputs/dtc3100_deck/icons/phon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3054096"/>
            <a:ext cx="475488" cy="4754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393192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폰 설치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40080" y="4343400"/>
            <a:ext cx="2395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운행 시작할 때만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337560" y="2514600"/>
            <a:ext cx="267004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3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37560" y="2514600"/>
            <a:ext cx="2670048" cy="109728"/>
          </a:xfrm>
          <a:prstGeom prst="rect">
            <a:avLst/>
          </a:prstGeom>
          <a:solidFill>
            <a:srgbClr val="2D5DA1"/>
          </a:solidFill>
          <a:ln/>
        </p:spPr>
      </p:sp>
      <p:sp>
        <p:nvSpPr>
          <p:cNvPr id="15" name="Shape 12"/>
          <p:cNvSpPr/>
          <p:nvPr/>
        </p:nvSpPr>
        <p:spPr>
          <a:xfrm>
            <a:off x="4215384" y="2834640"/>
            <a:ext cx="914400" cy="914400"/>
          </a:xfrm>
          <a:prstGeom prst="ellipse">
            <a:avLst/>
          </a:prstGeom>
          <a:solidFill>
            <a:srgbClr val="2D5DA1"/>
          </a:solidFill>
          <a:ln/>
        </p:spPr>
      </p:sp>
      <p:pic>
        <p:nvPicPr>
          <p:cNvPr id="16" name="Image 1" descr="/sessions/happy-laughing-euler/mnt/outputs/dtc3100_deck/icons/serv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3054096"/>
            <a:ext cx="475488" cy="4754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74720" y="393192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서버 실행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474720" y="4343400"/>
            <a:ext cx="2395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인식 프로그램 (개발 서버)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172200" y="2514600"/>
            <a:ext cx="267004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3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72200" y="2514600"/>
            <a:ext cx="2670048" cy="10972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1" name="Shape 17"/>
          <p:cNvSpPr/>
          <p:nvPr/>
        </p:nvSpPr>
        <p:spPr>
          <a:xfrm>
            <a:off x="7050024" y="2834640"/>
            <a:ext cx="914400" cy="914400"/>
          </a:xfrm>
          <a:prstGeom prst="ellipse">
            <a:avLst/>
          </a:prstGeom>
          <a:solidFill>
            <a:srgbClr val="E8734A"/>
          </a:solidFill>
          <a:ln/>
        </p:spPr>
      </p:sp>
      <p:pic>
        <p:nvPicPr>
          <p:cNvPr id="22" name="Image 2" descr="/sessions/happy-laughing-euler/mnt/outputs/dtc3100_deck/icons/bell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3054096"/>
            <a:ext cx="475488" cy="4754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09360" y="393192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모니터링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6309360" y="4343400"/>
            <a:ext cx="2395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평소엔 무신경, 문제 시 알람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9006840" y="2514600"/>
            <a:ext cx="267004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3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006840" y="2514600"/>
            <a:ext cx="2670048" cy="109728"/>
          </a:xfrm>
          <a:prstGeom prst="rect">
            <a:avLst/>
          </a:prstGeom>
          <a:solidFill>
            <a:srgbClr val="6B5CA5"/>
          </a:solidFill>
          <a:ln/>
        </p:spPr>
      </p:sp>
      <p:sp>
        <p:nvSpPr>
          <p:cNvPr id="27" name="Shape 22"/>
          <p:cNvSpPr/>
          <p:nvPr/>
        </p:nvSpPr>
        <p:spPr>
          <a:xfrm>
            <a:off x="9884664" y="2834640"/>
            <a:ext cx="914400" cy="914400"/>
          </a:xfrm>
          <a:prstGeom prst="ellipse">
            <a:avLst/>
          </a:prstGeom>
          <a:solidFill>
            <a:srgbClr val="6B5CA5"/>
          </a:solidFill>
          <a:ln/>
        </p:spPr>
      </p:sp>
      <p:pic>
        <p:nvPicPr>
          <p:cNvPr id="28" name="Image 3" descr="/sessions/happy-laughing-euler/mnt/outputs/dtc3100_deck/icons/char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0" y="3054096"/>
            <a:ext cx="475488" cy="47548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144000" y="393192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통합 뷰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9144000" y="4343400"/>
            <a:ext cx="2395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데이터와 함께 확인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PR-DTC-3100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1945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전체 흐름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네 단계로 이어지는 사용자 흐름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1371600" cy="1371600"/>
          </a:xfrm>
          <a:prstGeom prst="ellipse">
            <a:avLst/>
          </a:prstGeom>
          <a:solidFill>
            <a:srgbClr val="2CA8A0"/>
          </a:solidFill>
          <a:ln/>
        </p:spPr>
      </p:sp>
      <p:pic>
        <p:nvPicPr>
          <p:cNvPr id="7" name="Image 0" descr="/sessions/happy-laughing-euler/mnt/outputs/dtc3100_deck/icons/phon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2295144"/>
            <a:ext cx="713232" cy="7132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44728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폰 설치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267712" y="2542032"/>
            <a:ext cx="813816" cy="219456"/>
          </a:xfrm>
          <a:prstGeom prst="rightArrow">
            <a:avLst/>
          </a:prstGeom>
          <a:solidFill>
            <a:srgbClr val="C7CDD6"/>
          </a:solidFill>
          <a:ln/>
        </p:spPr>
      </p:sp>
      <p:sp>
        <p:nvSpPr>
          <p:cNvPr id="10" name="Shape 7"/>
          <p:cNvSpPr/>
          <p:nvPr/>
        </p:nvSpPr>
        <p:spPr>
          <a:xfrm>
            <a:off x="3154680" y="1965960"/>
            <a:ext cx="1371600" cy="1371600"/>
          </a:xfrm>
          <a:prstGeom prst="ellipse">
            <a:avLst/>
          </a:prstGeom>
          <a:solidFill>
            <a:srgbClr val="2D5DA1"/>
          </a:solidFill>
          <a:ln/>
        </p:spPr>
      </p:sp>
      <p:pic>
        <p:nvPicPr>
          <p:cNvPr id="11" name="Image 1" descr="/sessions/happy-laughing-euler/mnt/outputs/dtc3100_deck/icons/serv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864" y="2295144"/>
            <a:ext cx="713232" cy="7132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88920" y="344728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서버 실행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99432" y="2542032"/>
            <a:ext cx="813816" cy="219456"/>
          </a:xfrm>
          <a:prstGeom prst="rightArrow">
            <a:avLst/>
          </a:prstGeom>
          <a:solidFill>
            <a:srgbClr val="C7CDD6"/>
          </a:solidFill>
          <a:ln/>
        </p:spPr>
      </p:sp>
      <p:sp>
        <p:nvSpPr>
          <p:cNvPr id="14" name="Shape 10"/>
          <p:cNvSpPr/>
          <p:nvPr/>
        </p:nvSpPr>
        <p:spPr>
          <a:xfrm>
            <a:off x="5486400" y="1965960"/>
            <a:ext cx="1371600" cy="1371600"/>
          </a:xfrm>
          <a:prstGeom prst="ellipse">
            <a:avLst/>
          </a:prstGeom>
          <a:solidFill>
            <a:srgbClr val="E8734A"/>
          </a:solidFill>
          <a:ln/>
        </p:spPr>
      </p:sp>
      <p:pic>
        <p:nvPicPr>
          <p:cNvPr id="15" name="Image 2" descr="/sessions/happy-laughing-euler/mnt/outputs/dtc3100_deck/icons/bell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584" y="2295144"/>
            <a:ext cx="713232" cy="7132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20640" y="344728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모니터링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6931152" y="2542032"/>
            <a:ext cx="813816" cy="219456"/>
          </a:xfrm>
          <a:prstGeom prst="rightArrow">
            <a:avLst/>
          </a:prstGeom>
          <a:solidFill>
            <a:srgbClr val="C7CDD6"/>
          </a:solidFill>
          <a:ln/>
        </p:spPr>
      </p:sp>
      <p:sp>
        <p:nvSpPr>
          <p:cNvPr id="18" name="Shape 13"/>
          <p:cNvSpPr/>
          <p:nvPr/>
        </p:nvSpPr>
        <p:spPr>
          <a:xfrm>
            <a:off x="7818120" y="1965960"/>
            <a:ext cx="1371600" cy="1371600"/>
          </a:xfrm>
          <a:prstGeom prst="ellipse">
            <a:avLst/>
          </a:prstGeom>
          <a:solidFill>
            <a:srgbClr val="6B5CA5"/>
          </a:solidFill>
          <a:ln/>
        </p:spPr>
      </p:sp>
      <p:pic>
        <p:nvPicPr>
          <p:cNvPr id="19" name="Image 3" descr="/sessions/happy-laughing-euler/mnt/outputs/dtc3100_deck/icons/char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04" y="2295144"/>
            <a:ext cx="713232" cy="7132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452360" y="344728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통합 뷰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502920" y="3977640"/>
            <a:ext cx="11155680" cy="1417320"/>
          </a:xfrm>
          <a:prstGeom prst="rect">
            <a:avLst/>
          </a:prstGeom>
          <a:solidFill>
            <a:srgbClr val="FFF6E8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77240" y="4251960"/>
            <a:ext cx="822960" cy="82296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3" name="Image 4" descr="/sessions/happy-laughing-euler/mnt/outputs/dtc3100_deck/icons/bolt_0F264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4471416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828800" y="4114800"/>
            <a:ext cx="9601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전제 :  카메라는 상시 설치가 아니라 운행 시작할 때만 거치한다.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"카메라 없음"을 평소 정상 상태로 취급하고, 사람이 매 순간 신경 쓸 일을 최소화하는 것이 이 기획의 편의성 원칙이다.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PR-DTC-3100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2CA8A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1945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STAGE 1 — 사용자: 현장 작업자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폰 설치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512064" cy="512064"/>
          </a:xfrm>
          <a:prstGeom prst="ellipse">
            <a:avLst/>
          </a:prstGeom>
          <a:solidFill>
            <a:srgbClr val="2CA8A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46304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평소엔 폰을 서랍 / 책상에 보관 — 정상 상태, 아무것도 안 켜져 있음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295144"/>
            <a:ext cx="512064" cy="512064"/>
          </a:xfrm>
          <a:prstGeom prst="ellipse">
            <a:avLst/>
          </a:prstGeom>
          <a:solidFill>
            <a:srgbClr val="2CA8A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29514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249424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운행 시작 시 컨트롤러 옆에 거치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081528"/>
            <a:ext cx="512064" cy="512064"/>
          </a:xfrm>
          <a:prstGeom prst="ellipse">
            <a:avLst/>
          </a:prstGeom>
          <a:solidFill>
            <a:srgbClr val="2CA8A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0815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035808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Webcam 앱을 켜고, 관리자 화면에서 "연결됨" 확인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867912"/>
            <a:ext cx="512064" cy="512064"/>
          </a:xfrm>
          <a:prstGeom prst="ellipse">
            <a:avLst/>
          </a:prstGeom>
          <a:solidFill>
            <a:srgbClr val="2CA8A0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8679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3822192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이후엔 1분마다 자동으로 촬영 · 인식 — 사람이 할 일 없음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4654296"/>
            <a:ext cx="512064" cy="512064"/>
          </a:xfrm>
          <a:prstGeom prst="ellipse">
            <a:avLst/>
          </a:prstGeom>
          <a:solidFill>
            <a:srgbClr val="2CA8A0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6542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4440" y="4608576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작업이 끝나면 폰을 떼어 제자리에 둠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915400" y="1508760"/>
            <a:ext cx="2743200" cy="3977640"/>
          </a:xfrm>
          <a:prstGeom prst="rect">
            <a:avLst/>
          </a:prstGeom>
          <a:solidFill>
            <a:srgbClr val="EAF7F5"/>
          </a:solidFill>
          <a:ln w="12700">
            <a:solidFill>
              <a:srgbClr val="2CA8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46920" y="1783080"/>
            <a:ext cx="777240" cy="777240"/>
          </a:xfrm>
          <a:prstGeom prst="ellipse">
            <a:avLst/>
          </a:prstGeom>
          <a:solidFill>
            <a:srgbClr val="2CA8A0"/>
          </a:solidFill>
          <a:ln/>
        </p:spPr>
      </p:sp>
      <p:pic>
        <p:nvPicPr>
          <p:cNvPr id="23" name="Image 0" descr="/sessions/happy-laughing-euler/mnt/outputs/dtc3100_deck/icons/wifi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6376" y="2002536"/>
            <a:ext cx="338328" cy="33832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098280" y="2697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편의성 포인트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098280" y="306324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3번 "연결됨" 확인은 3단계(모니터링 화면)의 카메라 상태 카드와 그대로 연결된다.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확인 절차가 아니라 같은 화면을 보는 것.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PR-DTC-3100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2D5DA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1945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D5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STAGE 2 — 사용자: 사무실/개발 PC 관리자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서버(인식 프로그램) 실행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55680" cy="777240"/>
          </a:xfrm>
          <a:prstGeom prst="rect">
            <a:avLst/>
          </a:prstGeom>
          <a:solidFill>
            <a:srgbClr val="EAF0FA"/>
          </a:solidFill>
          <a:ln w="12700">
            <a:solidFill>
              <a:srgbClr val="2D5D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08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5D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실행 대상은 지금 단계에서는 개발 서버(개발 PC)로 한정한다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181051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실제 운영 PC가 아니라 개발/검증 목적 PC에서 먼저 돌려보고, 안정성 확인 후 현장 PC로 이전한다.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82296" cy="82296"/>
          </a:xfrm>
          <a:prstGeom prst="ellipse">
            <a:avLst/>
          </a:prstGeom>
          <a:solidFill>
            <a:srgbClr val="2D5DA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32257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위치 : 개발 PC (C:\OCR APP), 카메라 켜는 시점에 같이 실행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852928"/>
            <a:ext cx="82296" cy="82296"/>
          </a:xfrm>
          <a:prstGeom prst="ellipse">
            <a:avLst/>
          </a:prstGeom>
          <a:solidFill>
            <a:srgbClr val="2D5DA1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0662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파일 : run_ocr_monitor_gemini.bat 더블클릭 한 번으로 끝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236976"/>
            <a:ext cx="82296" cy="82296"/>
          </a:xfrm>
          <a:prstGeom prst="ellipse">
            <a:avLst/>
          </a:prstGeom>
          <a:solidFill>
            <a:srgbClr val="2D5DA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09067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동작 : 로컬 Tesseract 1차 → Gemini 2.5 Flash-Lite 2차 → Groq(Qwen3.8-27B) 3차, 하나라도 성공하면 확정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292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 실측으로 검증된 수치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069080"/>
          <a:ext cx="11155680" cy="2148840"/>
        </p:xfrm>
        <a:graphic>
          <a:graphicData uri="http://schemas.openxmlformats.org/drawingml/2006/table">
            <a:tbl>
              <a:tblPr/>
              <a:tblGrid>
                <a:gridCol w="2926080"/>
                <a:gridCol w="82296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단독 정확도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(62.6% / 15V / 750um / 0.3 / 1204mm / 62.6 전부 일치, 반복 테스트)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이미지 리사이즈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640px로 축소 시 토큰 41%↓ (2,358→1,390) · 정확도 손실 없음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최적 해상도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640px — 320px 밑으로는 값이 틀리기 시작함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무료 한도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분당 8,000토큰 · 일 1,000요청 — 리사이즈 적용 시 하루 약 850장 처리 가능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한도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공식 한도 비공개 → 자체 안전장치로 시간당 40회 제한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PR-DTC-3100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1945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STAGE 3 — 사용자: 관리자 (연구실 → AI 인식 보조 현황)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모니터링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화면은 "지금 문제 있는지 없는지"를 로그를 뒤지지 않고 바로 판단하기 위한 것이다.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카메라 상태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212848"/>
            <a:ext cx="1417320" cy="365760"/>
          </a:xfrm>
          <a:prstGeom prst="rect">
            <a:avLst/>
          </a:prstGeom>
          <a:solidFill>
            <a:srgbClr val="8A93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미설치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57400" y="22128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회색 · 정상 (평소 상태)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670048"/>
            <a:ext cx="1417320" cy="365760"/>
          </a:xfrm>
          <a:prstGeom prst="rect">
            <a:avLst/>
          </a:prstGeom>
          <a:solidFill>
            <a:srgbClr val="2E9E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57400" y="26700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녹색 · 프레임 정상 수신 중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127248"/>
            <a:ext cx="1417320" cy="365760"/>
          </a:xfrm>
          <a:prstGeom prst="rect">
            <a:avLst/>
          </a:prstGeom>
          <a:solidFill>
            <a:srgbClr val="D6483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응답없음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57400" y="31272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빨강 · 연결 후 5분 이상 끊김 (진짜 문제)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/ Groq 상태 카드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416052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provider별 : 마지막 성공/실패 시각 · 연속 실패 횟수 · 평균 응답시간 · 이번 시간(Gemini)·오늘(Groq) 호출 수 / 한도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507492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에스컬레이션 로그 표 · "지금 테스트 호출 보내기" 버튼으로 배포 직후 바로 확인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5508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알람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212848"/>
          <a:ext cx="5303520" cy="2011680"/>
        </p:xfrm>
        <a:graphic>
          <a:graphicData uri="http://schemas.openxmlformats.org/drawingml/2006/table">
            <a:tbl>
              <a:tblPr/>
              <a:tblGrid>
                <a:gridCol w="3200400"/>
                <a:gridCol w="2103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동작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Gemini/Groq 연속 실패 5회 이상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경고 배너 + 알림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로컬+Gemini+Groq 모두 실패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위험 배너 + 즉시 알림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연결됨 상태에서 5분 이상 무응답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경고 배너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9966960" y="4480560"/>
            <a:ext cx="1554480" cy="1554480"/>
          </a:xfrm>
          <a:prstGeom prst="ellipse">
            <a:avLst/>
          </a:prstGeom>
          <a:solidFill>
            <a:srgbClr val="E8734A"/>
          </a:solidFill>
          <a:ln/>
        </p:spPr>
      </p:sp>
      <p:pic>
        <p:nvPicPr>
          <p:cNvPr id="20" name="Image 0" descr="/sessions/happy-laughing-euler/mnt/outputs/dtc3100_deck/icons/bell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6416" y="4700016"/>
            <a:ext cx="1115568" cy="11155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PR-DTC-3100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6B5CA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1945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STAGE 4 — 사용자: 관리자 (레벨링 통합 타임라인)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통합 뷰에서 결과 확인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1051560" cy="1051560"/>
          </a:xfrm>
          <a:prstGeom prst="ellipse">
            <a:avLst/>
          </a:prstGeom>
          <a:solidFill>
            <a:srgbClr val="6B5CA5"/>
          </a:solidFill>
          <a:ln/>
        </p:spPr>
      </p:sp>
      <p:pic>
        <p:nvPicPr>
          <p:cNvPr id="7" name="Image 0" descr="/sessions/happy-laughing-euler/mnt/outputs/dtc3100_deck/icons/phon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947672"/>
            <a:ext cx="539496" cy="5394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" y="283464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작업자가 레벨링 패드에서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코일ID · 박스 선택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792224" y="2116836"/>
            <a:ext cx="1307592" cy="201168"/>
          </a:xfrm>
          <a:prstGeom prst="rightArrow">
            <a:avLst/>
          </a:prstGeom>
          <a:solidFill>
            <a:srgbClr val="C7CDD6"/>
          </a:solidFill>
          <a:ln/>
        </p:spPr>
      </p:sp>
      <p:sp>
        <p:nvSpPr>
          <p:cNvPr id="10" name="Shape 7"/>
          <p:cNvSpPr/>
          <p:nvPr/>
        </p:nvSpPr>
        <p:spPr>
          <a:xfrm>
            <a:off x="3154680" y="1691640"/>
            <a:ext cx="1051560" cy="1051560"/>
          </a:xfrm>
          <a:prstGeom prst="ellipse">
            <a:avLst/>
          </a:prstGeom>
          <a:solidFill>
            <a:srgbClr val="6B5CA5"/>
          </a:solidFill>
          <a:ln/>
        </p:spPr>
      </p:sp>
      <p:pic>
        <p:nvPicPr>
          <p:cNvPr id="11" name="Image 1" descr="/sessions/happy-laughing-euler/mnt/outputs/dtc3100_deck/icons/lin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947672"/>
            <a:ext cx="539496" cy="5394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51760" y="283464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데이터(LEVELING_DATA)에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코일ID/박스 태깅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261104" y="2116836"/>
            <a:ext cx="1307592" cy="201168"/>
          </a:xfrm>
          <a:prstGeom prst="rightArrow">
            <a:avLst/>
          </a:prstGeom>
          <a:solidFill>
            <a:srgbClr val="C7CDD6"/>
          </a:solidFill>
          <a:ln/>
        </p:spPr>
      </p:sp>
      <p:sp>
        <p:nvSpPr>
          <p:cNvPr id="14" name="Shape 10"/>
          <p:cNvSpPr/>
          <p:nvPr/>
        </p:nvSpPr>
        <p:spPr>
          <a:xfrm>
            <a:off x="5623560" y="1691640"/>
            <a:ext cx="1051560" cy="1051560"/>
          </a:xfrm>
          <a:prstGeom prst="ellipse">
            <a:avLst/>
          </a:prstGeom>
          <a:solidFill>
            <a:srgbClr val="6B5CA5"/>
          </a:solidFill>
          <a:ln/>
        </p:spPr>
      </p:sp>
      <p:pic>
        <p:nvPicPr>
          <p:cNvPr id="15" name="Image 2" descr="/sessions/happy-laughing-euler/mnt/outputs/dtc3100_deck/icons/datab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1947672"/>
            <a:ext cx="539496" cy="539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20640" y="283464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해당 시간대(start_ts~end_ts)와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taper_tension_readings 시간 매칭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729984" y="2116836"/>
            <a:ext cx="1307592" cy="201168"/>
          </a:xfrm>
          <a:prstGeom prst="rightArrow">
            <a:avLst/>
          </a:prstGeom>
          <a:solidFill>
            <a:srgbClr val="C7CDD6"/>
          </a:solidFill>
          <a:ln/>
        </p:spPr>
      </p:sp>
      <p:sp>
        <p:nvSpPr>
          <p:cNvPr id="18" name="Shape 13"/>
          <p:cNvSpPr/>
          <p:nvPr/>
        </p:nvSpPr>
        <p:spPr>
          <a:xfrm>
            <a:off x="8092440" y="1691640"/>
            <a:ext cx="1051560" cy="1051560"/>
          </a:xfrm>
          <a:prstGeom prst="ellipse">
            <a:avLst/>
          </a:prstGeom>
          <a:solidFill>
            <a:srgbClr val="6B5CA5"/>
          </a:solidFill>
          <a:ln/>
        </p:spPr>
      </p:sp>
      <p:pic>
        <p:nvPicPr>
          <p:cNvPr id="19" name="Image 3" descr="/sessions/happy-laughing-euler/mnt/outputs/dtc3100_deck/icons/char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72" y="1947672"/>
            <a:ext cx="539496" cy="5394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589520" y="283464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레벨링 통합 타임라인에서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화면으로 확인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02920" y="3794760"/>
            <a:ext cx="11155680" cy="2286000"/>
          </a:xfrm>
          <a:prstGeom prst="rect">
            <a:avLst/>
          </a:prstGeom>
          <a:solidFill>
            <a:srgbClr val="F3EFFA"/>
          </a:solidFill>
          <a:ln w="12700">
            <a:solidFill>
              <a:srgbClr val="6B5CA5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777240" y="3977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C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4315968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DTC-3100 텐션 데이터는 별도 태깅 없이, 그 코일 · 박스의 PLC 운행 시간대와 taper_tension_readings.captured_at이 겹치는 구간으로 매칭된다.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 하나를 선택하면 ERP 사양, 박스별 진행, 사이클타임/속도 그래프에 이어 텐션 그래프까지 한 화면에서 시간순으로 보인다 — 이미 이 화면에 자리는 파여 있고("카메라 배포 후 연동 예정"), 데이터만 채우면 된다.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PR-DTC-3100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1945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개발 단계 지원 도구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지금 바로 쓸 수 있는 것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카메라가 아직 상시 배포되지 않은 지금, 이미 확보한 사진으로 파이프라인을 미리 검증하기 위해 만든 도구.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35661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3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965960"/>
            <a:ext cx="3566160" cy="109728"/>
          </a:xfrm>
          <a:prstGeom prst="rect">
            <a:avLst/>
          </a:prstGeom>
          <a:solidFill>
            <a:srgbClr val="2CA8A0"/>
          </a:solidFill>
          <a:ln/>
        </p:spPr>
      </p:sp>
      <p:sp>
        <p:nvSpPr>
          <p:cNvPr id="9" name="Shape 7"/>
          <p:cNvSpPr/>
          <p:nvPr/>
        </p:nvSpPr>
        <p:spPr>
          <a:xfrm>
            <a:off x="1783080" y="2286000"/>
            <a:ext cx="1005840" cy="1005840"/>
          </a:xfrm>
          <a:prstGeom prst="ellipse">
            <a:avLst/>
          </a:prstGeom>
          <a:solidFill>
            <a:srgbClr val="2CA8A0"/>
          </a:solidFill>
          <a:ln/>
        </p:spPr>
      </p:sp>
      <p:pic>
        <p:nvPicPr>
          <p:cNvPr id="10" name="Image 0" descr="/sessions/happy-laughing-euler/mnt/outputs/dtc3100_deck/icons/flas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2536" y="2505456"/>
            <a:ext cx="566928" cy="5669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3474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인식 검증 (개발용)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4114800"/>
            <a:ext cx="31089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연구실 → 사진 폴더 선택 → 브라우저에서 직접 Groq 호출 → 결과를 사진과 나란히 확인. ai_recognition_validation_log에 누적 저장.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270248" y="1965960"/>
            <a:ext cx="35661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3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70248" y="1965960"/>
            <a:ext cx="3566160" cy="109728"/>
          </a:xfrm>
          <a:prstGeom prst="rect">
            <a:avLst/>
          </a:prstGeom>
          <a:solidFill>
            <a:srgbClr val="2D5DA1"/>
          </a:solidFill>
          <a:ln/>
        </p:spPr>
      </p:sp>
      <p:sp>
        <p:nvSpPr>
          <p:cNvPr id="15" name="Shape 12"/>
          <p:cNvSpPr/>
          <p:nvPr/>
        </p:nvSpPr>
        <p:spPr>
          <a:xfrm>
            <a:off x="5550408" y="2286000"/>
            <a:ext cx="1005840" cy="1005840"/>
          </a:xfrm>
          <a:prstGeom prst="ellipse">
            <a:avLst/>
          </a:prstGeom>
          <a:solidFill>
            <a:srgbClr val="2D5DA1"/>
          </a:solidFill>
          <a:ln/>
        </p:spPr>
      </p:sp>
      <p:pic>
        <p:nvPicPr>
          <p:cNvPr id="16" name="Image 1" descr="/sessions/happy-laughing-euler/mnt/outputs/dtc3100_deck/icons/cha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864" y="2505456"/>
            <a:ext cx="566928" cy="56692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453128" y="3474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해상도별 최소 크기 찾기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498848" y="4114800"/>
            <a:ext cx="31089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화면에서 사진 1장을 640~128px로 순차 축소하며 토큰 · 정확도 비교. 오늘 테스트로 640px 최적임을 실측 확인.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037576" y="1965960"/>
            <a:ext cx="35661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3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037576" y="1965960"/>
            <a:ext cx="3566160" cy="10972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1" name="Shape 17"/>
          <p:cNvSpPr/>
          <p:nvPr/>
        </p:nvSpPr>
        <p:spPr>
          <a:xfrm>
            <a:off x="9317736" y="2286000"/>
            <a:ext cx="1005840" cy="1005840"/>
          </a:xfrm>
          <a:prstGeom prst="ellipse">
            <a:avLst/>
          </a:prstGeom>
          <a:solidFill>
            <a:srgbClr val="E8734A"/>
          </a:solidFill>
          <a:ln/>
        </p:spPr>
      </p:sp>
      <p:pic>
        <p:nvPicPr>
          <p:cNvPr id="22" name="Image 2" descr="/sessions/happy-laughing-euler/mnt/outputs/dtc3100_deck/icons/robo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2" y="2505456"/>
            <a:ext cx="566928" cy="56692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20456" y="3474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batch_ai_extract.py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266176" y="4114800"/>
            <a:ext cx="31089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대량 사진을 커맨드라인에서 일괄 처리하고 싶을 때용 스크립트 (로컬 PC 실행).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PR-DTC-3100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1945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데이터 구조 요약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테이블 구성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822960" cy="822960"/>
          </a:xfrm>
          <a:prstGeom prst="ellipse">
            <a:avLst/>
          </a:prstGeom>
          <a:solidFill>
            <a:srgbClr val="0F2647"/>
          </a:solidFill>
          <a:ln/>
        </p:spPr>
      </p:sp>
      <p:pic>
        <p:nvPicPr>
          <p:cNvPr id="7" name="Image 0" descr="/sessions/happy-laughing-euler/mnt/outputs/dtc3100_deck/icons/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728216"/>
            <a:ext cx="384048" cy="384048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00200" y="2514600"/>
          <a:ext cx="10058400" cy="3200400"/>
        </p:xfrm>
        <a:graphic>
          <a:graphicData uri="http://schemas.openxmlformats.org/drawingml/2006/table">
            <a:tbl>
              <a:tblPr/>
              <a:tblGrid>
                <a:gridCol w="3840480"/>
                <a:gridCol w="62179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테이블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용도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4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taper_tension_readings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실제 운영 중 확정된 텐션 값 (기존)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ai_escalation_log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→ Groq 에스컬레이션 호출 이력 (신규, 3단계 화면용)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camera_heartbeat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카메라 프레임 수신 시도 기록 (신규, 카메라 상태 판정용)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ai_recognition_validation_log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개발용 검증 도구의 테스트 결과 누적 (신규, 이미 배포됨)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PR-DTC-3100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1945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남은 구현 순서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 단계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457200" cy="457200"/>
          </a:xfrm>
          <a:prstGeom prst="ellipse">
            <a:avLst/>
          </a:prstGeom>
          <a:solidFill>
            <a:srgbClr val="0F2647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45389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ai_escalation_log, camera_heartbeat 테이블 생성 + RLS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130552"/>
            <a:ext cx="457200" cy="457200"/>
          </a:xfrm>
          <a:prstGeom prst="ellipse">
            <a:avLst/>
          </a:prstGeom>
          <a:solidFill>
            <a:srgbClr val="0F264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07568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ocr_monitor_gemini.py에 Groq 폴백 함수 + 두 테이블 로깅 추가 (640px 리사이즈 적용)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2752344"/>
            <a:ext cx="457200" cy="457200"/>
          </a:xfrm>
          <a:prstGeom prst="ellipse">
            <a:avLst/>
          </a:prstGeom>
          <a:solidFill>
            <a:srgbClr val="0F2647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752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269748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 관리자 화면(AI 인식 보조 현황) 실제 페이지 작성 + LabPage 등록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3374136"/>
            <a:ext cx="457200" cy="457200"/>
          </a:xfrm>
          <a:prstGeom prst="ellipse">
            <a:avLst/>
          </a:prstGeom>
          <a:solidFill>
            <a:srgbClr val="0F2647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374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319272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leveling-integrated-timeline.html의 텐션 자리에 실제 매칭 로직 연결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" y="4160520"/>
            <a:ext cx="11155680" cy="1920240"/>
          </a:xfrm>
          <a:prstGeom prst="rect">
            <a:avLst/>
          </a:prstGeom>
          <a:solidFill>
            <a:srgbClr val="FFF6E8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434840"/>
            <a:ext cx="777240" cy="77724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0" name="Image 0" descr="/sessions/happy-laughing-euler/mnt/outputs/dtc3100_deck/icons/server_0F26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4654296"/>
            <a:ext cx="338328" cy="33832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78308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2286000" y="4407408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서버에서 위 1~4번을 먼저 안정화 (카메라도 개발 서버 옆에서 임시 거치해 테스트)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178308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2286000" y="5047488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서버 검증이 끝나면 현장 PC로 이전 + 카메라 실배포 후 웹툰 순서대로 현장 검증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PR-DTC-3100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2026-09-01T00:29:00Z</dcterms:created>
  <dcterms:modified xsi:type="dcterms:W3CDTF">2026-09-01T00:29:00Z</dcterms:modified>
</cp:coreProperties>
</file>