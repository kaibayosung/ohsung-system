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256" r:id="rId2"/>
    <p:sldId id="257" r:id="rId3"/>
    <p:sldId id="259" r:id="rId4"/>
    <p:sldId id="260" r:id="rId5"/>
    <p:sldId id="261" r:id="rId6"/>
    <p:sldId id="262" r:id="rId7"/>
  </p:sldIdLst>
  <p:sldSz cx="12188825" cy="6858000"/>
  <p:notesSz cx="6858000" cy="1218882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58" d="100"/>
          <a:sy n="158" d="100"/>
        </p:scale>
        <p:origin x="294" y="1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1819331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hyperlink" Target="https://ohsung-system.vercel.app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6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686800" y="-228600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pic>
        <p:nvPicPr>
          <p:cNvPr id="3" name="Image 0" descr="/sessions/wonderful-affectionate-thompson/mnt/outputs/icons/history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029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1691640"/>
            <a:ext cx="73152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200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대표님 보고</a:t>
            </a:r>
            <a:endParaRPr lang="en-US" sz="1450" dirty="0"/>
          </a:p>
        </p:txBody>
      </p:sp>
      <p:sp>
        <p:nvSpPr>
          <p:cNvPr id="5" name="Text 2"/>
          <p:cNvSpPr/>
          <p:nvPr/>
        </p:nvSpPr>
        <p:spPr>
          <a:xfrm>
            <a:off x="777240" y="2121408"/>
            <a:ext cx="1005840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스마트 ERP 2.0</a:t>
            </a:r>
            <a:endParaRPr lang="en-US" sz="4400" dirty="0"/>
          </a:p>
          <a:p>
            <a:pPr marL="0" indent="0">
              <a:lnSpc>
                <a:spcPct val="112000"/>
              </a:lnSpc>
              <a:buNone/>
            </a:pPr>
            <a:r>
              <a:rPr lang="en-US" sz="4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패치 이력 보고</a:t>
            </a:r>
            <a:endParaRPr lang="en-US" sz="4400" dirty="0"/>
          </a:p>
        </p:txBody>
      </p:sp>
      <p:sp>
        <p:nvSpPr>
          <p:cNvPr id="6" name="Text 3"/>
          <p:cNvSpPr/>
          <p:nvPr/>
        </p:nvSpPr>
        <p:spPr>
          <a:xfrm>
            <a:off x="822960" y="3977640"/>
            <a:ext cx="96012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1월부터 7월까지, 총 156건의 시스템 업데이트를 거쳐 지금의 ERP 2.0이 만들어졌습니다.</a:t>
            </a:r>
            <a:endParaRPr lang="en-US" sz="1700" dirty="0"/>
          </a:p>
        </p:txBody>
      </p:sp>
      <p:sp>
        <p:nvSpPr>
          <p:cNvPr id="7" name="Text 4"/>
          <p:cNvSpPr/>
          <p:nvPr/>
        </p:nvSpPr>
        <p:spPr>
          <a:xfrm>
            <a:off x="822960" y="6126480"/>
            <a:ext cx="3657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2026. 07. 30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822960" y="6382512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오성철강 스마트 ERP 2.0 · 패치 이력 보고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10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6개월간 156건 — 실데이터 기반 시스템으로 완성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2026년 1월 초기 구축 이후 7월 한 달간 집중 고도화를 거쳐, 그린ERP 실데이터와 완전히 연동된 운영 시스템이 되었습니다.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196596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4F6FA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1854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7" name="Image 0" descr="/sessions/wonderful-affectionate-thompson/mnt/outputs/icons/history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15188" y="2250796"/>
            <a:ext cx="372161" cy="372161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749808" y="27157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156건</a:t>
            </a:r>
            <a:endParaRPr lang="en-US" sz="2200" dirty="0"/>
          </a:p>
        </p:txBody>
      </p:sp>
      <p:sp>
        <p:nvSpPr>
          <p:cNvPr id="9" name="Text 6"/>
          <p:cNvSpPr/>
          <p:nvPr/>
        </p:nvSpPr>
        <p:spPr>
          <a:xfrm>
            <a:off x="749808" y="30175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패치 건수</a:t>
            </a:r>
            <a:endParaRPr lang="en-US" sz="1050" dirty="0"/>
          </a:p>
        </p:txBody>
      </p:sp>
      <p:sp>
        <p:nvSpPr>
          <p:cNvPr id="10" name="Shape 7"/>
          <p:cNvSpPr/>
          <p:nvPr/>
        </p:nvSpPr>
        <p:spPr>
          <a:xfrm>
            <a:off x="3429000" y="196596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4F6FA"/>
          </a:solidFill>
          <a:ln/>
        </p:spPr>
      </p:sp>
      <p:sp>
        <p:nvSpPr>
          <p:cNvPr id="11" name="Shape 8"/>
          <p:cNvSpPr/>
          <p:nvPr/>
        </p:nvSpPr>
        <p:spPr>
          <a:xfrm>
            <a:off x="3630168" y="21854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2" name="Image 1" descr="/sessions/wonderful-affectionate-thompson/mnt/outputs/icons/chartbar_ambe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695548" y="2250796"/>
            <a:ext cx="372161" cy="372161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3630168" y="27157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18일</a:t>
            </a:r>
            <a:endParaRPr lang="en-US" sz="2200" dirty="0"/>
          </a:p>
        </p:txBody>
      </p:sp>
      <p:sp>
        <p:nvSpPr>
          <p:cNvPr id="14" name="Text 10"/>
          <p:cNvSpPr/>
          <p:nvPr/>
        </p:nvSpPr>
        <p:spPr>
          <a:xfrm>
            <a:off x="3630168" y="30175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실제 개발 진행일</a:t>
            </a:r>
            <a:endParaRPr lang="en-US" sz="1050" dirty="0"/>
          </a:p>
        </p:txBody>
      </p:sp>
      <p:sp>
        <p:nvSpPr>
          <p:cNvPr id="15" name="Shape 11"/>
          <p:cNvSpPr/>
          <p:nvPr/>
        </p:nvSpPr>
        <p:spPr>
          <a:xfrm>
            <a:off x="6309360" y="196596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4F6FA"/>
          </a:solidFill>
          <a:ln/>
        </p:spPr>
      </p:sp>
      <p:sp>
        <p:nvSpPr>
          <p:cNvPr id="16" name="Shape 12"/>
          <p:cNvSpPr/>
          <p:nvPr/>
        </p:nvSpPr>
        <p:spPr>
          <a:xfrm>
            <a:off x="6510528" y="21854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17" name="Image 2" descr="/sessions/wonderful-affectionate-thompson/mnt/outputs/icons/cube_amb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575908" y="2250796"/>
            <a:ext cx="372161" cy="372161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6510528" y="27157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4단계</a:t>
            </a:r>
            <a:endParaRPr lang="en-US" sz="2200" dirty="0"/>
          </a:p>
        </p:txBody>
      </p:sp>
      <p:sp>
        <p:nvSpPr>
          <p:cNvPr id="19" name="Text 14"/>
          <p:cNvSpPr/>
          <p:nvPr/>
        </p:nvSpPr>
        <p:spPr>
          <a:xfrm>
            <a:off x="6510528" y="30175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단계</a:t>
            </a:r>
            <a:endParaRPr lang="en-US" sz="1050" dirty="0"/>
          </a:p>
        </p:txBody>
      </p:sp>
      <p:sp>
        <p:nvSpPr>
          <p:cNvPr id="20" name="Shape 15"/>
          <p:cNvSpPr/>
          <p:nvPr/>
        </p:nvSpPr>
        <p:spPr>
          <a:xfrm>
            <a:off x="9189720" y="1965960"/>
            <a:ext cx="2651760" cy="1188720"/>
          </a:xfrm>
          <a:prstGeom prst="roundRect">
            <a:avLst>
              <a:gd name="adj" fmla="val 6923"/>
            </a:avLst>
          </a:prstGeom>
          <a:solidFill>
            <a:srgbClr val="F4F6FA"/>
          </a:solidFill>
          <a:ln/>
        </p:spPr>
      </p:sp>
      <p:sp>
        <p:nvSpPr>
          <p:cNvPr id="21" name="Shape 16"/>
          <p:cNvSpPr/>
          <p:nvPr/>
        </p:nvSpPr>
        <p:spPr>
          <a:xfrm>
            <a:off x="9390888" y="2185416"/>
            <a:ext cx="502920" cy="502920"/>
          </a:xfrm>
          <a:prstGeom prst="ellipse">
            <a:avLst/>
          </a:prstGeom>
          <a:solidFill>
            <a:srgbClr val="FFFFFF"/>
          </a:solidFill>
          <a:ln/>
        </p:spPr>
      </p:sp>
      <p:pic>
        <p:nvPicPr>
          <p:cNvPr id="22" name="Image 3" descr="/sessions/wonderful-affectionate-thompson/mnt/outputs/icons/check_ambe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456268" y="2250796"/>
            <a:ext cx="372161" cy="372161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9390888" y="2715768"/>
            <a:ext cx="2249424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07.30</a:t>
            </a:r>
            <a:endParaRPr lang="en-US" sz="2200" dirty="0"/>
          </a:p>
        </p:txBody>
      </p:sp>
      <p:sp>
        <p:nvSpPr>
          <p:cNvPr id="24" name="Text 18"/>
          <p:cNvSpPr/>
          <p:nvPr/>
        </p:nvSpPr>
        <p:spPr>
          <a:xfrm>
            <a:off x="9390888" y="3017520"/>
            <a:ext cx="2249424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업데이트</a:t>
            </a:r>
            <a:endParaRPr lang="en-US" sz="1050" dirty="0"/>
          </a:p>
        </p:txBody>
      </p:sp>
      <p:sp>
        <p:nvSpPr>
          <p:cNvPr id="25" name="Text 19"/>
          <p:cNvSpPr/>
          <p:nvPr/>
        </p:nvSpPr>
        <p:spPr>
          <a:xfrm>
            <a:off x="548640" y="3429000"/>
            <a:ext cx="1106424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진행 단계 개요</a:t>
            </a:r>
            <a:endParaRPr lang="en-US" sz="1700" dirty="0"/>
          </a:p>
        </p:txBody>
      </p:sp>
      <p:sp>
        <p:nvSpPr>
          <p:cNvPr id="26" name="Shape 20"/>
          <p:cNvSpPr/>
          <p:nvPr/>
        </p:nvSpPr>
        <p:spPr>
          <a:xfrm>
            <a:off x="548640" y="38862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16283F"/>
          </a:solidFill>
          <a:ln/>
        </p:spPr>
      </p:sp>
      <p:sp>
        <p:nvSpPr>
          <p:cNvPr id="27" name="Shape 21"/>
          <p:cNvSpPr/>
          <p:nvPr/>
        </p:nvSpPr>
        <p:spPr>
          <a:xfrm>
            <a:off x="777240" y="4087368"/>
            <a:ext cx="457200" cy="45720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28" name="Text 22"/>
          <p:cNvSpPr/>
          <p:nvPr/>
        </p:nvSpPr>
        <p:spPr>
          <a:xfrm>
            <a:off x="77724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800" dirty="0"/>
          </a:p>
        </p:txBody>
      </p:sp>
      <p:sp>
        <p:nvSpPr>
          <p:cNvPr id="29" name="Text 23"/>
          <p:cNvSpPr/>
          <p:nvPr/>
        </p:nvSpPr>
        <p:spPr>
          <a:xfrm>
            <a:off x="777240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01.28 ~ 02.01</a:t>
            </a:r>
            <a:endParaRPr lang="en-US" sz="1050" dirty="0"/>
          </a:p>
        </p:txBody>
      </p:sp>
      <p:sp>
        <p:nvSpPr>
          <p:cNvPr id="30" name="Text 24"/>
          <p:cNvSpPr/>
          <p:nvPr/>
        </p:nvSpPr>
        <p:spPr>
          <a:xfrm>
            <a:off x="777240" y="4919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초기 시스템 구축</a:t>
            </a:r>
            <a:endParaRPr lang="en-US" sz="1450" dirty="0"/>
          </a:p>
        </p:txBody>
      </p:sp>
      <p:sp>
        <p:nvSpPr>
          <p:cNvPr id="31" name="Text 25"/>
          <p:cNvSpPr/>
          <p:nvPr/>
        </p:nvSpPr>
        <p:spPr>
          <a:xfrm>
            <a:off x="777240" y="5422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작업일보·일계표, CEO 리포트 기반 마련</a:t>
            </a:r>
            <a:endParaRPr lang="en-US" sz="1000" dirty="0"/>
          </a:p>
        </p:txBody>
      </p:sp>
      <p:sp>
        <p:nvSpPr>
          <p:cNvPr id="32" name="Text 26"/>
          <p:cNvSpPr/>
          <p:nvPr/>
        </p:nvSpPr>
        <p:spPr>
          <a:xfrm>
            <a:off x="777240" y="5833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47건</a:t>
            </a:r>
            <a:endParaRPr lang="en-US" sz="1150" dirty="0"/>
          </a:p>
        </p:txBody>
      </p:sp>
      <p:sp>
        <p:nvSpPr>
          <p:cNvPr id="33" name="Shape 27"/>
          <p:cNvSpPr/>
          <p:nvPr/>
        </p:nvSpPr>
        <p:spPr>
          <a:xfrm>
            <a:off x="3429000" y="38862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16283F"/>
          </a:solidFill>
          <a:ln/>
        </p:spPr>
      </p:sp>
      <p:sp>
        <p:nvSpPr>
          <p:cNvPr id="34" name="Shape 28"/>
          <p:cNvSpPr/>
          <p:nvPr/>
        </p:nvSpPr>
        <p:spPr>
          <a:xfrm>
            <a:off x="3657600" y="4087368"/>
            <a:ext cx="457200" cy="45720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35" name="Text 29"/>
          <p:cNvSpPr/>
          <p:nvPr/>
        </p:nvSpPr>
        <p:spPr>
          <a:xfrm>
            <a:off x="365760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800" dirty="0"/>
          </a:p>
        </p:txBody>
      </p:sp>
      <p:sp>
        <p:nvSpPr>
          <p:cNvPr id="36" name="Text 30"/>
          <p:cNvSpPr/>
          <p:nvPr/>
        </p:nvSpPr>
        <p:spPr>
          <a:xfrm>
            <a:off x="3657600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07.16 ~ 07.21</a:t>
            </a:r>
            <a:endParaRPr lang="en-US" sz="1050" dirty="0"/>
          </a:p>
        </p:txBody>
      </p:sp>
      <p:sp>
        <p:nvSpPr>
          <p:cNvPr id="37" name="Text 31"/>
          <p:cNvSpPr/>
          <p:nvPr/>
        </p:nvSpPr>
        <p:spPr>
          <a:xfrm>
            <a:off x="3657600" y="4919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실데이터 연동 · 기능 확장</a:t>
            </a:r>
            <a:endParaRPr lang="en-US" sz="1450" dirty="0"/>
          </a:p>
        </p:txBody>
      </p:sp>
      <p:sp>
        <p:nvSpPr>
          <p:cNvPr id="38" name="Text 32"/>
          <p:cNvSpPr/>
          <p:nvPr/>
        </p:nvSpPr>
        <p:spPr>
          <a:xfrm>
            <a:off x="3657600" y="5422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자동동기화, 지출결의서, 고객사 포털</a:t>
            </a:r>
            <a:endParaRPr lang="en-US" sz="1000" dirty="0"/>
          </a:p>
        </p:txBody>
      </p:sp>
      <p:sp>
        <p:nvSpPr>
          <p:cNvPr id="39" name="Text 33"/>
          <p:cNvSpPr/>
          <p:nvPr/>
        </p:nvSpPr>
        <p:spPr>
          <a:xfrm>
            <a:off x="3657600" y="5833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46건</a:t>
            </a:r>
            <a:endParaRPr lang="en-US" sz="1150" dirty="0"/>
          </a:p>
        </p:txBody>
      </p:sp>
      <p:sp>
        <p:nvSpPr>
          <p:cNvPr id="40" name="Shape 34"/>
          <p:cNvSpPr/>
          <p:nvPr/>
        </p:nvSpPr>
        <p:spPr>
          <a:xfrm>
            <a:off x="6309360" y="38862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16283F"/>
          </a:solidFill>
          <a:ln/>
        </p:spPr>
      </p:sp>
      <p:sp>
        <p:nvSpPr>
          <p:cNvPr id="41" name="Shape 35"/>
          <p:cNvSpPr/>
          <p:nvPr/>
        </p:nvSpPr>
        <p:spPr>
          <a:xfrm>
            <a:off x="6537960" y="4087368"/>
            <a:ext cx="457200" cy="45720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42" name="Text 36"/>
          <p:cNvSpPr/>
          <p:nvPr/>
        </p:nvSpPr>
        <p:spPr>
          <a:xfrm>
            <a:off x="653796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800" dirty="0"/>
          </a:p>
        </p:txBody>
      </p:sp>
      <p:sp>
        <p:nvSpPr>
          <p:cNvPr id="43" name="Text 37"/>
          <p:cNvSpPr/>
          <p:nvPr/>
        </p:nvSpPr>
        <p:spPr>
          <a:xfrm>
            <a:off x="6537960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07.22 ~ 07.25</a:t>
            </a:r>
            <a:endParaRPr lang="en-US" sz="1050" dirty="0"/>
          </a:p>
        </p:txBody>
      </p:sp>
      <p:sp>
        <p:nvSpPr>
          <p:cNvPr id="44" name="Text 38"/>
          <p:cNvSpPr/>
          <p:nvPr/>
        </p:nvSpPr>
        <p:spPr>
          <a:xfrm>
            <a:off x="6537960" y="4919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안정화 · 보안 강화</a:t>
            </a:r>
            <a:endParaRPr lang="en-US" sz="1450" dirty="0"/>
          </a:p>
        </p:txBody>
      </p:sp>
      <p:sp>
        <p:nvSpPr>
          <p:cNvPr id="45" name="Text 39"/>
          <p:cNvSpPr/>
          <p:nvPr/>
        </p:nvSpPr>
        <p:spPr>
          <a:xfrm>
            <a:off x="6537960" y="5422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계정관리 도입, 로그인 버그 근본 수정, 고정비 확정</a:t>
            </a:r>
            <a:endParaRPr lang="en-US" sz="1000" dirty="0"/>
          </a:p>
        </p:txBody>
      </p:sp>
      <p:sp>
        <p:nvSpPr>
          <p:cNvPr id="46" name="Text 40"/>
          <p:cNvSpPr/>
          <p:nvPr/>
        </p:nvSpPr>
        <p:spPr>
          <a:xfrm>
            <a:off x="6537960" y="5833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32건</a:t>
            </a:r>
            <a:endParaRPr lang="en-US" sz="1150" dirty="0"/>
          </a:p>
        </p:txBody>
      </p:sp>
      <p:sp>
        <p:nvSpPr>
          <p:cNvPr id="47" name="Shape 41"/>
          <p:cNvSpPr/>
          <p:nvPr/>
        </p:nvSpPr>
        <p:spPr>
          <a:xfrm>
            <a:off x="9189720" y="3886200"/>
            <a:ext cx="2651760" cy="2331720"/>
          </a:xfrm>
          <a:prstGeom prst="roundRect">
            <a:avLst>
              <a:gd name="adj" fmla="val 3529"/>
            </a:avLst>
          </a:prstGeom>
          <a:solidFill>
            <a:srgbClr val="16283F"/>
          </a:solidFill>
          <a:ln/>
        </p:spPr>
      </p:sp>
      <p:sp>
        <p:nvSpPr>
          <p:cNvPr id="48" name="Shape 42"/>
          <p:cNvSpPr/>
          <p:nvPr/>
        </p:nvSpPr>
        <p:spPr>
          <a:xfrm>
            <a:off x="9418320" y="4087368"/>
            <a:ext cx="457200" cy="457200"/>
          </a:xfrm>
          <a:prstGeom prst="ellipse">
            <a:avLst/>
          </a:prstGeom>
          <a:solidFill>
            <a:srgbClr val="E8830F"/>
          </a:solidFill>
          <a:ln/>
        </p:spPr>
      </p:sp>
      <p:sp>
        <p:nvSpPr>
          <p:cNvPr id="49" name="Text 43"/>
          <p:cNvSpPr/>
          <p:nvPr/>
        </p:nvSpPr>
        <p:spPr>
          <a:xfrm>
            <a:off x="9418320" y="40873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800" dirty="0"/>
          </a:p>
        </p:txBody>
      </p:sp>
      <p:sp>
        <p:nvSpPr>
          <p:cNvPr id="50" name="Text 44"/>
          <p:cNvSpPr/>
          <p:nvPr/>
        </p:nvSpPr>
        <p:spPr>
          <a:xfrm>
            <a:off x="9418320" y="4663440"/>
            <a:ext cx="21945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E8830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07.26 ~ 07.30</a:t>
            </a:r>
            <a:endParaRPr lang="en-US" sz="1050" dirty="0"/>
          </a:p>
        </p:txBody>
      </p:sp>
      <p:sp>
        <p:nvSpPr>
          <p:cNvPr id="51" name="Text 45"/>
          <p:cNvSpPr/>
          <p:nvPr/>
        </p:nvSpPr>
        <p:spPr>
          <a:xfrm>
            <a:off x="9418320" y="4919472"/>
            <a:ext cx="21945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프로토타입 · 신규서비스</a:t>
            </a:r>
            <a:endParaRPr lang="en-US" sz="1450" dirty="0"/>
          </a:p>
        </p:txBody>
      </p:sp>
      <p:sp>
        <p:nvSpPr>
          <p:cNvPr id="52" name="Text 46"/>
          <p:cNvSpPr/>
          <p:nvPr/>
        </p:nvSpPr>
        <p:spPr>
          <a:xfrm>
            <a:off x="9418320" y="5422392"/>
            <a:ext cx="21945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5000"/>
              </a:lnSpc>
              <a:buNone/>
            </a:pPr>
            <a:r>
              <a:rPr lang="en-US" sz="1000" dirty="0">
                <a:solidFill>
                  <a:srgbClr val="AEBBD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키오스크, 동기화 버그 수정, AI 연구실</a:t>
            </a:r>
            <a:endParaRPr lang="en-US" sz="1000" dirty="0"/>
          </a:p>
        </p:txBody>
      </p:sp>
      <p:sp>
        <p:nvSpPr>
          <p:cNvPr id="53" name="Text 47"/>
          <p:cNvSpPr/>
          <p:nvPr/>
        </p:nvSpPr>
        <p:spPr>
          <a:xfrm>
            <a:off x="9418320" y="5833872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b="1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31건</a:t>
            </a:r>
            <a:endParaRPr lang="en-US" sz="1150" dirty="0"/>
          </a:p>
        </p:txBody>
      </p:sp>
      <p:sp>
        <p:nvSpPr>
          <p:cNvPr id="54" name="Text 4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10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2 · 07.16 ~ 07.21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실데이터 연동 및 기능 확장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그린ERP와 자동 동기화를 붙이고, 지출결의서·고객사 포털 등 핵심 기능을 실장착한 단계입니다.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011680"/>
            <a:ext cx="11109960" cy="438912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01168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84832" y="2011680"/>
            <a:ext cx="8613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패치 내용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3072" y="2011680"/>
            <a:ext cx="795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450592"/>
            <a:ext cx="1110996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450592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07-16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84832" y="2450592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지출결의서 시스템 신규 도입, 전체 화면 폰트·UI 정리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0" y="245059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108960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10896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07-17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3108960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지출결의 대시보드·정기초안·계정과목·계좌관리 확장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698480" y="310896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767328"/>
            <a:ext cx="1110996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767328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07-18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84832" y="376732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10분 주기 자동동기화 크론 가동, UI 테마 전면 개편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98480" y="376732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425696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425696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07-19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84832" y="4425696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영업 워크플로우(5역할) 실장착, 엔팩스(FAX) 자동수신·OCR 연동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0" y="442569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084064"/>
            <a:ext cx="1110996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084064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84832" y="5084064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고객사 포털 실데이터 개편(재고·작업·출고), 지출결의서 결재라인 보강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0" y="508406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10건</a:t>
            </a:r>
            <a:endParaRPr lang="en-US" sz="1300" dirty="0"/>
          </a:p>
        </p:txBody>
      </p:sp>
      <p:sp>
        <p:nvSpPr>
          <p:cNvPr id="29" name="Shape 27"/>
          <p:cNvSpPr/>
          <p:nvPr/>
        </p:nvSpPr>
        <p:spPr>
          <a:xfrm>
            <a:off x="548640" y="5742432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30" name="Text 28"/>
          <p:cNvSpPr/>
          <p:nvPr/>
        </p:nvSpPr>
        <p:spPr>
          <a:xfrm>
            <a:off x="713232" y="5742432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07-21</a:t>
            </a:r>
            <a:endParaRPr lang="en-US" sz="1400" dirty="0"/>
          </a:p>
        </p:txBody>
      </p:sp>
      <p:sp>
        <p:nvSpPr>
          <p:cNvPr id="31" name="Text 29"/>
          <p:cNvSpPr/>
          <p:nvPr/>
        </p:nvSpPr>
        <p:spPr>
          <a:xfrm>
            <a:off x="2084832" y="5742432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입출고 FAX 리포트(로고·도장 PDF), 스크랩매출 등록, 메뉴 구조 개편</a:t>
            </a:r>
            <a:endParaRPr lang="en-US" sz="1250" dirty="0"/>
          </a:p>
        </p:txBody>
      </p:sp>
      <p:sp>
        <p:nvSpPr>
          <p:cNvPr id="32" name="Text 30"/>
          <p:cNvSpPr/>
          <p:nvPr/>
        </p:nvSpPr>
        <p:spPr>
          <a:xfrm>
            <a:off x="10698480" y="574243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17건</a:t>
            </a:r>
            <a:endParaRPr lang="en-US" sz="1300" dirty="0"/>
          </a:p>
        </p:txBody>
      </p:sp>
      <p:sp>
        <p:nvSpPr>
          <p:cNvPr id="33" name="Text 31"/>
          <p:cNvSpPr/>
          <p:nvPr/>
        </p:nvSpPr>
        <p:spPr>
          <a:xfrm>
            <a:off x="548640" y="6537960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소계 46건</a:t>
            </a:r>
            <a:endParaRPr lang="en-US" sz="1250" dirty="0"/>
          </a:p>
        </p:txBody>
      </p:sp>
      <p:sp>
        <p:nvSpPr>
          <p:cNvPr id="34" name="Text 32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10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3 · 07.22 ~ 07.25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안정화 및 보안 강화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실사용 중 발견된 로그인·권한 문제를 근본적으로 해결하고, 재무 데이터를 실통장 기준으로 확정한 단계입니다.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109960" cy="438912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0312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84832" y="2103120"/>
            <a:ext cx="8613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패치 내용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3072" y="2103120"/>
            <a:ext cx="795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10996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542032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07-22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84832" y="2542032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 자동배정 작업지시서 기능 구현, FAX 인증 방식 개선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0" y="254203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20040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07-23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3200400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계정 관리(권한별 접근제어) 도입, 고객사 포털 로그인 버그 근본 원인 수정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698480" y="320040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10996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858768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07-24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84832" y="385876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확정 월고정비(실통장 기반, 급여 포함) ERP 반영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98480" y="385876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17136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517136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07-25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84832" y="4517136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작업내역 FAX 전송 기능, 내부 시스템 링크, 오성철강 연구실 메뉴 신설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0" y="451713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4건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548640" y="5312664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소계 32건</a:t>
            </a:r>
            <a:endParaRPr lang="en-US" sz="1250" dirty="0"/>
          </a:p>
        </p:txBody>
      </p:sp>
      <p:sp>
        <p:nvSpPr>
          <p:cNvPr id="26" name="Text 24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</a:t>
            </a:r>
            <a:endParaRPr lang="en-US" sz="11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47472"/>
            <a:ext cx="91440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50" b="1" kern="0" spc="100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PHASE 4 · 07.26 ~ 07.30</a:t>
            </a:r>
            <a:endParaRPr lang="en-US" sz="1450" dirty="0"/>
          </a:p>
        </p:txBody>
      </p:sp>
      <p:sp>
        <p:nvSpPr>
          <p:cNvPr id="3" name="Text 1"/>
          <p:cNvSpPr/>
          <p:nvPr/>
        </p:nvSpPr>
        <p:spPr>
          <a:xfrm>
            <a:off x="548640" y="621792"/>
            <a:ext cx="112471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0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연구실 프로토타입 및 신규 서비스</a:t>
            </a:r>
            <a:endParaRPr lang="en-US" sz="3000" dirty="0"/>
          </a:p>
        </p:txBody>
      </p:sp>
      <p:sp>
        <p:nvSpPr>
          <p:cNvPr id="4" name="Text 2"/>
          <p:cNvSpPr/>
          <p:nvPr/>
        </p:nvSpPr>
        <p:spPr>
          <a:xfrm>
            <a:off x="548640" y="1261872"/>
            <a:ext cx="112471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현장 실배포 서비스를 늘리고, 그린ERP 동기화의 치명적 버그를 다수 해결해 데이터 신뢰성을 끌어올린 단계입니다.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548640" y="2103120"/>
            <a:ext cx="11109960" cy="438912"/>
          </a:xfrm>
          <a:prstGeom prst="rect">
            <a:avLst/>
          </a:prstGeom>
          <a:solidFill>
            <a:srgbClr val="16283F"/>
          </a:solidFill>
          <a:ln/>
        </p:spPr>
      </p:sp>
      <p:sp>
        <p:nvSpPr>
          <p:cNvPr id="6" name="Text 4"/>
          <p:cNvSpPr/>
          <p:nvPr/>
        </p:nvSpPr>
        <p:spPr>
          <a:xfrm>
            <a:off x="713232" y="2103120"/>
            <a:ext cx="120700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날짜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084832" y="2103120"/>
            <a:ext cx="861364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주요 패치 내용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10863072" y="2103120"/>
            <a:ext cx="795528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건수</a:t>
            </a:r>
            <a:endParaRPr lang="en-US" sz="1300" dirty="0"/>
          </a:p>
        </p:txBody>
      </p:sp>
      <p:sp>
        <p:nvSpPr>
          <p:cNvPr id="9" name="Shape 7"/>
          <p:cNvSpPr/>
          <p:nvPr/>
        </p:nvSpPr>
        <p:spPr>
          <a:xfrm>
            <a:off x="548640" y="2542032"/>
            <a:ext cx="1110996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0" name="Text 8"/>
          <p:cNvSpPr/>
          <p:nvPr/>
        </p:nvSpPr>
        <p:spPr>
          <a:xfrm>
            <a:off x="713232" y="2542032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07-26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2084832" y="2542032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FAX 작업요청서·현장 코일확정 실연동, 신규서비스 통합흐름 v2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10698480" y="2542032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2건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00400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14" name="Text 12"/>
          <p:cNvSpPr/>
          <p:nvPr/>
        </p:nvSpPr>
        <p:spPr>
          <a:xfrm>
            <a:off x="713232" y="3200400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07-27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2084832" y="3200400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세퍼레이터 셋팅 계산기·슬리터2 태블릿 키오스크 현장 실배포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10698480" y="3200400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13건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3858768"/>
            <a:ext cx="1110996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18" name="Text 16"/>
          <p:cNvSpPr/>
          <p:nvPr/>
        </p:nvSpPr>
        <p:spPr>
          <a:xfrm>
            <a:off x="713232" y="3858768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07-28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2084832" y="3858768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그린ERP 동기화 치명적 버그 다수 수정(v13~v18), 미출고현황 원본양식 100% 재현</a:t>
            </a:r>
            <a:endParaRPr lang="en-US" sz="1250" dirty="0"/>
          </a:p>
        </p:txBody>
      </p:sp>
      <p:sp>
        <p:nvSpPr>
          <p:cNvPr id="20" name="Text 18"/>
          <p:cNvSpPr/>
          <p:nvPr/>
        </p:nvSpPr>
        <p:spPr>
          <a:xfrm>
            <a:off x="10698480" y="3858768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13건</a:t>
            </a:r>
            <a:endParaRPr lang="en-US" sz="1300" dirty="0"/>
          </a:p>
        </p:txBody>
      </p:sp>
      <p:sp>
        <p:nvSpPr>
          <p:cNvPr id="21" name="Shape 19"/>
          <p:cNvSpPr/>
          <p:nvPr/>
        </p:nvSpPr>
        <p:spPr>
          <a:xfrm>
            <a:off x="548640" y="4517136"/>
            <a:ext cx="11109960" cy="658368"/>
          </a:xfrm>
          <a:prstGeom prst="rect">
            <a:avLst/>
          </a:prstGeom>
          <a:solidFill>
            <a:srgbClr val="FFFFFF"/>
          </a:solidFill>
          <a:ln/>
        </p:spPr>
      </p:sp>
      <p:sp>
        <p:nvSpPr>
          <p:cNvPr id="22" name="Text 20"/>
          <p:cNvSpPr/>
          <p:nvPr/>
        </p:nvSpPr>
        <p:spPr>
          <a:xfrm>
            <a:off x="713232" y="4517136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07-29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2084832" y="4517136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코일창고 3D 뷰어·장애원인분석(AI) 연구실 추가</a:t>
            </a:r>
            <a:endParaRPr lang="en-US" sz="1250" dirty="0"/>
          </a:p>
        </p:txBody>
      </p:sp>
      <p:sp>
        <p:nvSpPr>
          <p:cNvPr id="24" name="Text 22"/>
          <p:cNvSpPr/>
          <p:nvPr/>
        </p:nvSpPr>
        <p:spPr>
          <a:xfrm>
            <a:off x="10698480" y="4517136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1건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48640" y="5175504"/>
            <a:ext cx="11109960" cy="658368"/>
          </a:xfrm>
          <a:prstGeom prst="rect">
            <a:avLst/>
          </a:prstGeom>
          <a:solidFill>
            <a:srgbClr val="F4F6FA"/>
          </a:solidFill>
          <a:ln/>
        </p:spPr>
      </p:sp>
      <p:sp>
        <p:nvSpPr>
          <p:cNvPr id="26" name="Text 24"/>
          <p:cNvSpPr/>
          <p:nvPr/>
        </p:nvSpPr>
        <p:spPr>
          <a:xfrm>
            <a:off x="713232" y="5175504"/>
            <a:ext cx="1207008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dirty="0">
                <a:solidFill>
                  <a:srgbClr val="0F1E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07-30</a:t>
            </a:r>
            <a:endParaRPr lang="en-US" sz="1400" dirty="0"/>
          </a:p>
        </p:txBody>
      </p:sp>
      <p:sp>
        <p:nvSpPr>
          <p:cNvPr id="27" name="Text 25"/>
          <p:cNvSpPr/>
          <p:nvPr/>
        </p:nvSpPr>
        <p:spPr>
          <a:xfrm>
            <a:off x="2084832" y="5175504"/>
            <a:ext cx="84582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4D5C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슬리팅2 실시간 NMS 연동, SAIGE VIMS 상태 수정</a:t>
            </a:r>
            <a:endParaRPr lang="en-US" sz="1250" dirty="0"/>
          </a:p>
        </p:txBody>
      </p:sp>
      <p:sp>
        <p:nvSpPr>
          <p:cNvPr id="28" name="Text 26"/>
          <p:cNvSpPr/>
          <p:nvPr/>
        </p:nvSpPr>
        <p:spPr>
          <a:xfrm>
            <a:off x="10698480" y="5175504"/>
            <a:ext cx="9601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2건</a:t>
            </a:r>
            <a:endParaRPr lang="en-US" sz="1300" dirty="0"/>
          </a:p>
        </p:txBody>
      </p:sp>
      <p:sp>
        <p:nvSpPr>
          <p:cNvPr id="29" name="Text 27"/>
          <p:cNvSpPr/>
          <p:nvPr/>
        </p:nvSpPr>
        <p:spPr>
          <a:xfrm>
            <a:off x="548640" y="597103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50" b="1" dirty="0">
                <a:solidFill>
                  <a:srgbClr val="C46B0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소계 31건</a:t>
            </a:r>
            <a:endParaRPr lang="en-US" sz="1250" dirty="0"/>
          </a:p>
        </p:txBody>
      </p:sp>
      <p:sp>
        <p:nvSpPr>
          <p:cNvPr id="30" name="Text 28"/>
          <p:cNvSpPr/>
          <p:nvPr/>
        </p:nvSpPr>
        <p:spPr>
          <a:xfrm>
            <a:off x="11475720" y="6492240"/>
            <a:ext cx="54864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1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</a:t>
            </a:r>
            <a:endParaRPr lang="en-US" sz="11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6283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743200" y="4114800"/>
            <a:ext cx="5486400" cy="5486400"/>
          </a:xfrm>
          <a:prstGeom prst="ellipse">
            <a:avLst/>
          </a:prstGeom>
          <a:solidFill>
            <a:srgbClr val="0A1524"/>
          </a:solidFill>
          <a:ln/>
        </p:spPr>
      </p:sp>
      <p:pic>
        <p:nvPicPr>
          <p:cNvPr id="3" name="Image 0" descr="/sessions/wonderful-affectionate-thompson/mnt/outputs/icons/check_amber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332720" y="502920"/>
            <a:ext cx="1097280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822960" y="2286000"/>
            <a:ext cx="10515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5000"/>
              </a:lnSpc>
              <a:buNone/>
            </a:pPr>
            <a:r>
              <a:rPr lang="en-US" sz="3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156건의 패치로, 실데이터 기반 시스템을 완성했습니다</a:t>
            </a:r>
            <a:endParaRPr lang="en-US" sz="3200" dirty="0"/>
          </a:p>
        </p:txBody>
      </p:sp>
      <p:sp>
        <p:nvSpPr>
          <p:cNvPr id="5" name="Text 2"/>
          <p:cNvSpPr/>
          <p:nvPr/>
        </p:nvSpPr>
        <p:spPr>
          <a:xfrm>
            <a:off x="822960" y="3246120"/>
            <a:ext cx="9875520" cy="7772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lnSpc>
                <a:spcPct val="140000"/>
              </a:lnSpc>
              <a:buNone/>
            </a:pPr>
            <a:r>
              <a:rPr lang="en-US" sz="1500" dirty="0">
                <a:solidFill>
                  <a:srgbClr val="C9D2E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초기 구축부터 안정화, 현장 실배포까지 — 그린ERP 실데이터와 완전히 연동된 운영 시스템으로 자리잡았습니다. 앞으로도 현장 요청을 반영해 계속 고도화하겠습니다.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82296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156건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누적 패치</a:t>
            </a:r>
            <a:endParaRPr lang="en-US" sz="1200" dirty="0"/>
          </a:p>
        </p:txBody>
      </p:sp>
      <p:sp>
        <p:nvSpPr>
          <p:cNvPr id="8" name="Text 5"/>
          <p:cNvSpPr/>
          <p:nvPr/>
        </p:nvSpPr>
        <p:spPr>
          <a:xfrm>
            <a:off x="352044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4단계</a:t>
            </a:r>
            <a:endParaRPr lang="en-US" sz="2400" dirty="0"/>
          </a:p>
        </p:txBody>
      </p:sp>
      <p:sp>
        <p:nvSpPr>
          <p:cNvPr id="9" name="Text 6"/>
          <p:cNvSpPr/>
          <p:nvPr/>
        </p:nvSpPr>
        <p:spPr>
          <a:xfrm>
            <a:off x="352044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진행 단계</a:t>
            </a:r>
            <a:endParaRPr lang="en-US" sz="1200" dirty="0"/>
          </a:p>
        </p:txBody>
      </p:sp>
      <p:sp>
        <p:nvSpPr>
          <p:cNvPr id="10" name="Text 7"/>
          <p:cNvSpPr/>
          <p:nvPr/>
        </p:nvSpPr>
        <p:spPr>
          <a:xfrm>
            <a:off x="621792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18일</a:t>
            </a:r>
            <a:endParaRPr lang="en-US" sz="2400" dirty="0"/>
          </a:p>
        </p:txBody>
      </p:sp>
      <p:sp>
        <p:nvSpPr>
          <p:cNvPr id="11" name="Text 8"/>
          <p:cNvSpPr/>
          <p:nvPr/>
        </p:nvSpPr>
        <p:spPr>
          <a:xfrm>
            <a:off x="621792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실 개발일</a:t>
            </a:r>
            <a:endParaRPr lang="en-US" sz="1200" dirty="0"/>
          </a:p>
        </p:txBody>
      </p:sp>
      <p:sp>
        <p:nvSpPr>
          <p:cNvPr id="12" name="Text 9"/>
          <p:cNvSpPr/>
          <p:nvPr/>
        </p:nvSpPr>
        <p:spPr>
          <a:xfrm>
            <a:off x="8915400" y="4572000"/>
            <a:ext cx="26517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400" b="1" dirty="0">
                <a:solidFill>
                  <a:srgbClr val="E8830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07.30</a:t>
            </a:r>
            <a:endParaRPr lang="en-US" sz="2400" dirty="0"/>
          </a:p>
        </p:txBody>
      </p:sp>
      <p:sp>
        <p:nvSpPr>
          <p:cNvPr id="13" name="Text 10"/>
          <p:cNvSpPr/>
          <p:nvPr/>
        </p:nvSpPr>
        <p:spPr>
          <a:xfrm>
            <a:off x="8915400" y="5074920"/>
            <a:ext cx="2651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8592A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최근 업데이트</a:t>
            </a:r>
            <a:endParaRPr lang="en-US" sz="1200" dirty="0"/>
          </a:p>
        </p:txBody>
      </p:sp>
      <p:sp>
        <p:nvSpPr>
          <p:cNvPr id="14" name="Text 11">
            <a:hlinkClick r:id="rId4"/>
          </p:cNvPr>
          <p:cNvSpPr/>
          <p:nvPr/>
        </p:nvSpPr>
        <p:spPr>
          <a:xfrm>
            <a:off x="822960" y="6172200"/>
            <a:ext cx="5486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u="sng" dirty="0">
                <a:solidFill>
                  <a:srgbClr val="5A6C87"/>
                </a:solidFill>
                <a:latin typeface="Calibri" pitchFamily="34" charset="0"/>
                <a:ea typeface="Calibri" pitchFamily="34" charset="-122"/>
                <a:cs typeface="Calibri" pitchFamily="34" charset="-120"/>
                <a:hlinkClick r:id="rId4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https://ohsung-system.vercel.app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맑은 고딕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</TotalTime>
  <Words>568</Words>
  <Application>Microsoft Office PowerPoint</Application>
  <PresentationFormat>사용자 지정</PresentationFormat>
  <Paragraphs>125</Paragraphs>
  <Slides>6</Slides>
  <Notes>6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6</vt:i4>
      </vt:variant>
    </vt:vector>
  </HeadingPairs>
  <TitlesOfParts>
    <vt:vector size="10" baseType="lpstr">
      <vt:lpstr>Arial</vt:lpstr>
      <vt:lpstr>Calibri</vt:lpstr>
      <vt:lpstr>Cambria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대균 정</cp:lastModifiedBy>
  <cp:revision>2</cp:revision>
  <dcterms:created xsi:type="dcterms:W3CDTF">2026-07-29T22:47:03Z</dcterms:created>
  <dcterms:modified xsi:type="dcterms:W3CDTF">2026-07-29T23:09:00Z</dcterms:modified>
</cp:coreProperties>
</file>