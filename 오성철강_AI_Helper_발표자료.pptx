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80760"/>
            <a:ext cx="1218895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1051560" cy="10515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/sessions/happy-laughing-euler/pitch_deck/icons/robot_0F26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905256"/>
            <a:ext cx="612648" cy="612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혁신 소상공인 AI 활용지원 사업 · 발표평가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AI를 활용한 레벨러 AI Helper 및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대상 AI 품질 리포트 제공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고품질 생산 체계 구축으로 생산성·매출 증대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0" y="6172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7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대표자 남은우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15분, 무엇을 말씀드릴까요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1155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54480" y="1581912"/>
            <a:ext cx="621792" cy="621792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9" name="Image 0" descr="/sessions/happy-laughing-euler/pitch_deck/icons/factor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7282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23160" y="15819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소개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55080" y="1508760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43년 정밀철강 가공기업, AI전환 우수사례 대상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404872"/>
            <a:ext cx="11155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404872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1554480" y="2478024"/>
            <a:ext cx="621792" cy="621792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5" name="Image 1" descr="/sessions/happy-laughing-euler/pitch_deck/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262432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24780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제기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355080" y="2404872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설비는 도입했지만 운영할 사람이 없다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02920" y="3300984"/>
            <a:ext cx="11155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" y="3300984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1554480" y="3374136"/>
            <a:ext cx="621792" cy="621792"/>
          </a:xfrm>
          <a:prstGeom prst="ellipse">
            <a:avLst/>
          </a:prstGeom>
          <a:solidFill>
            <a:srgbClr val="2D5DA1"/>
          </a:solidFill>
          <a:ln/>
        </p:spPr>
      </p:sp>
      <p:pic>
        <p:nvPicPr>
          <p:cNvPr id="21" name="Image 2" descr="/sessions/happy-laughing-euler/pitch_deck/icons/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352044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423160" y="33741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검증 결과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355080" y="3300984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실데이터로 검증한 핵심 발견 2가지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02920" y="4197096"/>
            <a:ext cx="11155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4197096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1"/>
          <p:cNvSpPr/>
          <p:nvPr/>
        </p:nvSpPr>
        <p:spPr>
          <a:xfrm>
            <a:off x="1554480" y="4270248"/>
            <a:ext cx="621792" cy="621792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27" name="Image 3" descr="/sessions/happy-laughing-euler/pitch_deck/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" y="4416552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423160" y="4270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내용 · 기대 효과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355080" y="4197096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Helper + AI 품질리포트, 무엇을 만들고 무엇이 좋아지는가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02920" y="5093208"/>
            <a:ext cx="111556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0080" y="5093208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5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Shape 26"/>
          <p:cNvSpPr/>
          <p:nvPr/>
        </p:nvSpPr>
        <p:spPr>
          <a:xfrm>
            <a:off x="1554480" y="5166360"/>
            <a:ext cx="621792" cy="621792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33" name="Image 4" descr="/sessions/happy-laughing-euler/pitch_deck/icons/calend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" y="5312664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423160" y="5166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추진계획 · 사업비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6355080" y="5093208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 로드맵과 실행 역량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오성철강 소개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43년 정밀 철강가공, 이제는 AI 전환의 현장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700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2670048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64792"/>
            <a:ext cx="2487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pPr algn="ctr"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년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12648" y="263347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1983년 설립 · 자동차·건축자재용 정밀 탄소강 가공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6700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08760"/>
            <a:ext cx="2670048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764792"/>
            <a:ext cx="2487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47288" y="263347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 경기지역 중소기업 AI전환 우수사례 대상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700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508760"/>
            <a:ext cx="2670048" cy="91440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764792"/>
            <a:ext cx="2487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18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81928" y="263347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백년소공인·뿌리기업·소부장·ISO45001 등 인증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6840" y="1508760"/>
            <a:ext cx="26700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3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06840" y="1508760"/>
            <a:ext cx="2670048" cy="914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764792"/>
            <a:ext cx="2487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algn="ctr"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16568" y="263347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특허출원 '철판 코일 품질검사 시스템'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11155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675888"/>
            <a:ext cx="777240" cy="777240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24" name="Image 0" descr="/sessions/happy-laughing-euler/pitch_deck/icons/userTi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3895344"/>
            <a:ext cx="338328" cy="3383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783080" y="3657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코일연구실 — 前 KT AI/Robot 기술팀장 영입, 사내 R&amp;D 체계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783080" y="4114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노후 설비에 AI 센서를 이식하는 「디지털 레트로핏」과 「디지털 혁신(AI)과 노사 상생」을 경영 목표로, 슬리팅 라인에서 이미 AI Helper를 개발·검증(숙련기간 96%↓)했고, 고객사 포털은 2개 거래처에서 실서비스 중이다. 이번 사업은 같은 방법론을 레벨링 라인으로 확장하는 것이다.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문제 제기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"자동화는 했다. 그런데 운영할 사람이 없다"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solidFill>
            <a:srgbClr val="FCEEE8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2025년 약 5억원을 투자한 레벨링 자동화 설비 — 그러나 두 가지 구조적 문제가 남았다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5440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86000"/>
            <a:ext cx="5440680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560320"/>
            <a:ext cx="777240" cy="77724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1" name="Image 0" descr="/sessions/happy-laughing-euler/pitch_deck/icons/langu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779776"/>
            <a:ext cx="338328" cy="338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7360" y="2606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1. 기술 전수 단절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37360" y="2999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숙련공 노하우가 언어장벽에 막힌다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35204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외국인 근로자가 한국어 작업지시서(대각칫수·평판도·표면품질)를 오해하거나, 텐션·속도 등 세팅값을 스스로 판단하지 못해 불량이 반복된다.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4526280"/>
            <a:ext cx="4892040" cy="1325880"/>
          </a:xfrm>
          <a:prstGeom prst="rect">
            <a:avLst/>
          </a:prstGeom>
          <a:solidFill>
            <a:srgbClr val="FCEEE8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59028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 2,000</a:t>
            </a:r>
            <a:pPr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만원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68680" y="51937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전문가 파견 비용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(1일 150만원 × 13회)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17920" y="2286000"/>
            <a:ext cx="5440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2286000"/>
            <a:ext cx="5440680" cy="109728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20" name="Shape 17"/>
          <p:cNvSpPr/>
          <p:nvPr/>
        </p:nvSpPr>
        <p:spPr>
          <a:xfrm>
            <a:off x="6492240" y="2560320"/>
            <a:ext cx="777240" cy="777240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21" name="Image 1" descr="/sessions/happy-laughing-euler/pitch_deck/icons/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779776"/>
            <a:ext cx="338328" cy="3383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52360" y="2606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2. 품질 정보 단절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452360" y="2999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실적을 못 믿고, 고객도 확인할 길이 없다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92240" y="35204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PLC는 코일 매수를 직접 세지 못한다. 실제로 이번 사전 테스트에서 기존 집계 방식이 실제보다 과다 집계되고 있음을 발견했다. 고객은 클레임 시 대응 근거가 없었다.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492240" y="4526280"/>
            <a:ext cx="4892040" cy="132588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459028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3~4</a:t>
            </a:r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6583680" y="51937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매수 집계 방식의 과다 집계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(행정 카운터 오인식)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C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해결 방향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데이터 파이프라인, 두 개의 서비스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1188720" cy="1188720"/>
          </a:xfrm>
          <a:prstGeom prst="ellipse">
            <a:avLst/>
          </a:prstGeom>
          <a:solidFill>
            <a:srgbClr val="2D5DA1"/>
          </a:solidFill>
          <a:ln/>
        </p:spPr>
      </p:sp>
      <p:pic>
        <p:nvPicPr>
          <p:cNvPr id="7" name="Image 0" descr="/sessions/happy-laughing-euler/pitch_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입력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4320" y="33558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ERP·PLC·텐션OCR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39112" y="2167128"/>
            <a:ext cx="1088136" cy="237744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0" y="1691640"/>
            <a:ext cx="1188720" cy="1188720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12" name="Image 1" descr="/sessions/happy-laughing-euler/pitch_deck/icons/robo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659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활용·적용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697480" y="33558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길이재계산·세팅추천·매칭·번역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62272" y="2167128"/>
            <a:ext cx="1088136" cy="237744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6" name="Shape 12"/>
          <p:cNvSpPr/>
          <p:nvPr/>
        </p:nvSpPr>
        <p:spPr>
          <a:xfrm>
            <a:off x="5623560" y="1691640"/>
            <a:ext cx="1188720" cy="11887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7" name="Image 2" descr="/sessions/happy-laughing-euler/pitch_deck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96596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검수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120640" y="33558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85432" y="2167128"/>
            <a:ext cx="1088136" cy="237744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0" y="1691640"/>
            <a:ext cx="1188720" cy="118872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22" name="Image 3" descr="/sessions/happy-laughing-euler/pitch_deck/icons/tabl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96596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채널 배포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43800" y="33558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태블릿 / 고객포털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02920" y="3794760"/>
            <a:ext cx="54406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A8A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7240" y="4050792"/>
            <a:ext cx="713232" cy="713232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27" name="Image 4" descr="/sessions/happy-laughing-euler/pitch_deck/icons/tabl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27024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9164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1 · AI Helper for Leveller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777240" y="48463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운영자에게 실시간 최적 세팅 가이드 + 다국어 작업지시 번역을 제공 — 숙련공 없이도 즉시 대응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217920" y="3794760"/>
            <a:ext cx="54406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5CA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92240" y="4050792"/>
            <a:ext cx="713232" cy="713232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32" name="Image 5" descr="/sessions/happy-laughing-euler/pitch_deck/icons/fi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427024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0664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2 · 스마트 코일 품질 리포트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6492240" y="48463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고객사에게 공정 데이터 기반 투명한 품질 증빙 제공 — 이미 2개사 파일럿 운영 중, 반응 양호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POC 검증 결과 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 진행길이·매수 재계산 — 오차 0.5% 이내 검증</a:t>
            </a:r>
            <a:endParaRPr lang="en-US" sz="2900" dirty="0"/>
          </a:p>
        </p:txBody>
      </p:sp>
      <p:pic>
        <p:nvPicPr>
          <p:cNvPr id="6" name="Image 0" descr="/sessions/happy-laughing-euler/pitch_deck/assets/coil2_combined_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0936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0" y="1600200"/>
            <a:ext cx="4617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0" y="1600200"/>
            <a:ext cx="109728" cy="1417320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9" name="Text 6"/>
          <p:cNvSpPr/>
          <p:nvPr/>
        </p:nvSpPr>
        <p:spPr>
          <a:xfrm>
            <a:off x="7269480" y="17099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5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pPr indent="0" marL="0">
              <a:buNone/>
            </a:pPr>
            <a:r>
              <a:rPr lang="en-US" sz="1600" b="1" dirty="0">
                <a:solidFill>
                  <a:srgbClr val="2D5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269480" y="235000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물리계산(987.7m) vs PLC추정(992.4m) 오차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040880" y="3227832"/>
            <a:ext cx="4617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0" y="3227832"/>
            <a:ext cx="109728" cy="1417320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13" name="Text 10"/>
          <p:cNvSpPr/>
          <p:nvPr/>
        </p:nvSpPr>
        <p:spPr>
          <a:xfrm>
            <a:off x="7269480" y="33375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3~4</a:t>
            </a:r>
            <a:pPr indent="0" marL="0">
              <a:buNone/>
            </a:pPr>
            <a:r>
              <a:rPr lang="en-US" sz="16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배→1%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269480" y="397764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과다집계 방식 대비 정확도 개선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40880" y="4855464"/>
            <a:ext cx="4617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40880" y="4855464"/>
            <a:ext cx="10972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7269480" y="496519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63/64</a:t>
            </a:r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건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269480" y="560527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텐션-코일 자동매칭 성공률 (98.4%)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D6483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6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POC 검증 결과 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박스 단위 불량 의심 매수, 자동으로 짚어내다</a:t>
            </a:r>
            <a:endParaRPr lang="en-US" sz="2900" dirty="0"/>
          </a:p>
        </p:txBody>
      </p:sp>
      <p:pic>
        <p:nvPicPr>
          <p:cNvPr id="6" name="Image 0" descr="/sessions/happy-laughing-euler/pitch_deck/assets/full_timeline_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740664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46304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박스별 매수 대조 (PLC vs ERP)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1488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281160" y="2148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/ 85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75320" y="271576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81160" y="2715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/ 85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75320" y="328269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281160" y="328269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/ 85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75320" y="384962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281160" y="38496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/ 75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75320" y="4480560"/>
            <a:ext cx="3200400" cy="1691640"/>
          </a:xfrm>
          <a:prstGeom prst="rect">
            <a:avLst/>
          </a:prstGeom>
          <a:solidFill>
            <a:srgbClr val="FCEEE8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4572000"/>
            <a:ext cx="2926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 2건(박스1·4)은 절단은 됐지만 포장 기록에서 누락된 불량 의심 매수 — 사람이 못 보던 것을 AI가 짚었다.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C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개발 내용 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 for Leveller — 무엇을 개발하는가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45336"/>
            <a:ext cx="585216" cy="585216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8" name="Image 0" descr="/sessions/happy-laughing-euler/pitch_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6733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721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실시간 길이·매수 엔진 정식화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1965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MOVELENSV 리셋 감지 알고리즘을 Edge Function으로 정식화, 전체 코일 자동 적용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7909560" y="1508760"/>
            <a:ext cx="3657600" cy="658368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5087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오차 300%대 → 1% 이내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350008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478024"/>
            <a:ext cx="585216" cy="585216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15" name="Image 1" descr="/sessions/happy-laughing-euler/pitch_deck/icon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0604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4048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구간별 최적 세팅 추천 로직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371600" y="275234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자기이력 → 동종이력(5건↑) 중앙값 순으로 자동 전환하는 3단계 추천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7909560" y="2441448"/>
            <a:ext cx="3657600" cy="658368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19" name="Text 15"/>
          <p:cNvSpPr/>
          <p:nvPr/>
        </p:nvSpPr>
        <p:spPr>
          <a:xfrm>
            <a:off x="8001000" y="244144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세팅 불량률 60%↓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282696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4360" y="3410712"/>
            <a:ext cx="585216" cy="585216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22" name="Image 2" descr="/sessions/happy-laughing-euler/pitch_deck/icon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53872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3337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박스단위 실시간 이상탐지·알림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371600" y="36850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PLC-ERP 매수 대조 자동화, 임계치 초과 시 관리자 즉시 알림</a:t>
            </a:r>
            <a:endParaRPr lang="en-US" sz="1180" dirty="0"/>
          </a:p>
        </p:txBody>
      </p:sp>
      <p:sp>
        <p:nvSpPr>
          <p:cNvPr id="25" name="Shape 20"/>
          <p:cNvSpPr/>
          <p:nvPr/>
        </p:nvSpPr>
        <p:spPr>
          <a:xfrm>
            <a:off x="7909560" y="3374136"/>
            <a:ext cx="3657600" cy="658368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26" name="Text 21"/>
          <p:cNvSpPr/>
          <p:nvPr/>
        </p:nvSpPr>
        <p:spPr>
          <a:xfrm>
            <a:off x="8001000" y="337413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사전 예방 체계 전환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457200" y="4215384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4360" y="4343400"/>
            <a:ext cx="585216" cy="585216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29" name="Image 3" descr="/sessions/happy-laughing-euler/pitch_deck/icons/langua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71416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4270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다국어 작업지시 실시간 번역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1371600" y="46177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현장 용어사전으로 베트남어·영어 실시간 번역, 태블릿 표시</a:t>
            </a:r>
            <a:endParaRPr lang="en-US" sz="1180" dirty="0"/>
          </a:p>
        </p:txBody>
      </p:sp>
      <p:sp>
        <p:nvSpPr>
          <p:cNvPr id="32" name="Shape 26"/>
          <p:cNvSpPr/>
          <p:nvPr/>
        </p:nvSpPr>
        <p:spPr>
          <a:xfrm>
            <a:off x="7909560" y="4306824"/>
            <a:ext cx="3657600" cy="658368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33" name="Text 27"/>
          <p:cNvSpPr/>
          <p:nvPr/>
        </p:nvSpPr>
        <p:spPr>
          <a:xfrm>
            <a:off x="8001000" y="430682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전문가 파견비 100%↓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457200" y="5148072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4360" y="5276088"/>
            <a:ext cx="585216" cy="585216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36" name="Image 4" descr="/sessions/happy-laughing-euler/pitch_deck/icons/tabl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5404104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71600" y="52029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현장 태블릿 UI 실서비스 개발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1371600" y="555040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완료 → ERP2.0 React 스택으로 실사용 화면 구현</a:t>
            </a:r>
            <a:endParaRPr lang="en-US" sz="1180" dirty="0"/>
          </a:p>
        </p:txBody>
      </p:sp>
      <p:sp>
        <p:nvSpPr>
          <p:cNvPr id="39" name="Shape 32"/>
          <p:cNvSpPr/>
          <p:nvPr/>
        </p:nvSpPr>
        <p:spPr>
          <a:xfrm>
            <a:off x="7909560" y="5239512"/>
            <a:ext cx="3657600" cy="658368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40" name="Text 33"/>
          <p:cNvSpPr/>
          <p:nvPr/>
        </p:nvSpPr>
        <p:spPr>
          <a:xfrm>
            <a:off x="8001000" y="523951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숙련기간 96%↓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개발 내용 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 코일 품질 리포트 — 무엇을 개발하는가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45336"/>
            <a:ext cx="585216" cy="585216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8" name="Image 0" descr="/sessions/happy-laughing-euler/pitch_deck/icons/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6733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721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텐션-코일 자동 매칭 배치화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1965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시각+두께OCR 2중 매칭(98.4%)을 상시 Cron 배치로 전환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7909560" y="1508760"/>
            <a:ext cx="3657600" cy="658368"/>
          </a:xfrm>
          <a:prstGeom prst="rect">
            <a:avLst/>
          </a:prstGeom>
          <a:solidFill>
            <a:srgbClr val="F3EFFA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5087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수작업 매칭 불필요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350008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478024"/>
            <a:ext cx="585216" cy="585216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5" name="Image 1" descr="/sessions/happy-laughing-euler/pitch_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0604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4048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길이축 통합 리포트 자동 생성기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371600" y="275234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 완료 시 길이-부하율-텐션 통합 차트 자동 생성 → 포털 게시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7909560" y="2441448"/>
            <a:ext cx="3657600" cy="658368"/>
          </a:xfrm>
          <a:prstGeom prst="rect">
            <a:avLst/>
          </a:prstGeom>
          <a:solidFill>
            <a:srgbClr val="F3EFFA"/>
          </a:solidFill>
          <a:ln/>
        </p:spPr>
      </p:sp>
      <p:sp>
        <p:nvSpPr>
          <p:cNvPr id="19" name="Text 15"/>
          <p:cNvSpPr/>
          <p:nvPr/>
        </p:nvSpPr>
        <p:spPr>
          <a:xfrm>
            <a:off x="8001000" y="244144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만족도·재계약률↑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282696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4360" y="3410712"/>
            <a:ext cx="585216" cy="585216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22" name="Image 2" descr="/sessions/happy-laughing-euler/pitch_deck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53872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3337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매수 신뢰도 배지 및 투명 공개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371600" y="36850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3중 검증 결과를 배지로 시각화, 불일치도 사유와 함께 투명 공개</a:t>
            </a:r>
            <a:endParaRPr lang="en-US" sz="1180" dirty="0"/>
          </a:p>
        </p:txBody>
      </p:sp>
      <p:sp>
        <p:nvSpPr>
          <p:cNvPr id="25" name="Shape 20"/>
          <p:cNvSpPr/>
          <p:nvPr/>
        </p:nvSpPr>
        <p:spPr>
          <a:xfrm>
            <a:off x="7909560" y="3374136"/>
            <a:ext cx="3657600" cy="658368"/>
          </a:xfrm>
          <a:prstGeom prst="rect">
            <a:avLst/>
          </a:prstGeom>
          <a:solidFill>
            <a:srgbClr val="F3EFFA"/>
          </a:solidFill>
          <a:ln/>
        </p:spPr>
      </p:sp>
      <p:sp>
        <p:nvSpPr>
          <p:cNvPr id="26" name="Text 21"/>
          <p:cNvSpPr/>
          <p:nvPr/>
        </p:nvSpPr>
        <p:spPr>
          <a:xfrm>
            <a:off x="8001000" y="337413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대응시간 2~3일 → 즉시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457200" y="4215384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4360" y="4343400"/>
            <a:ext cx="585216" cy="585216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29" name="Image 3" descr="/sessions/happy-laughing-euler/pitch_deck/icons/commen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71416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4270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코일 데이터 기반 챗봇 문의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1371600" y="46177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실제 코일 데이터를 조회해 고객 질문에 실시간 답변</a:t>
            </a:r>
            <a:endParaRPr lang="en-US" sz="1180" dirty="0"/>
          </a:p>
        </p:txBody>
      </p:sp>
      <p:sp>
        <p:nvSpPr>
          <p:cNvPr id="32" name="Shape 26"/>
          <p:cNvSpPr/>
          <p:nvPr/>
        </p:nvSpPr>
        <p:spPr>
          <a:xfrm>
            <a:off x="7909560" y="4306824"/>
            <a:ext cx="3657600" cy="658368"/>
          </a:xfrm>
          <a:prstGeom prst="rect">
            <a:avLst/>
          </a:prstGeom>
          <a:solidFill>
            <a:srgbClr val="F3EFFA"/>
          </a:solidFill>
          <a:ln/>
        </p:spPr>
      </p:sp>
      <p:sp>
        <p:nvSpPr>
          <p:cNvPr id="33" name="Text 27"/>
          <p:cNvSpPr/>
          <p:nvPr/>
        </p:nvSpPr>
        <p:spPr>
          <a:xfrm>
            <a:off x="8001000" y="430682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셀프서비스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457200" y="5148072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4360" y="5276088"/>
            <a:ext cx="585216" cy="585216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36" name="Image 4" descr="/sessions/happy-laughing-euler/pitch_deck/icons/handshak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5404104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71600" y="52029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고객사 포털에 레벨링 데이터 통합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1371600" y="555040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2개사 파일럿 포털에 레벨링 데이터 신규 통합, 거래처 확대</a:t>
            </a:r>
            <a:endParaRPr lang="en-US" sz="1180" dirty="0"/>
          </a:p>
        </p:txBody>
      </p:sp>
      <p:sp>
        <p:nvSpPr>
          <p:cNvPr id="39" name="Shape 32"/>
          <p:cNvSpPr/>
          <p:nvPr/>
        </p:nvSpPr>
        <p:spPr>
          <a:xfrm>
            <a:off x="7909560" y="5239512"/>
            <a:ext cx="3657600" cy="658368"/>
          </a:xfrm>
          <a:prstGeom prst="rect">
            <a:avLst/>
          </a:prstGeom>
          <a:solidFill>
            <a:srgbClr val="F3EFFA"/>
          </a:solidFill>
          <a:ln/>
        </p:spPr>
      </p:sp>
      <p:sp>
        <p:nvSpPr>
          <p:cNvPr id="40" name="Text 33"/>
          <p:cNvSpPr/>
          <p:nvPr/>
        </p:nvSpPr>
        <p:spPr>
          <a:xfrm>
            <a:off x="8001000" y="523951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신규 계약 5개사 이상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정량적 성과목표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도입 전 vs 목표 — 6개 핵심 지표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108960" cy="621792"/>
          </a:xfrm>
          <a:prstGeom prst="rect">
            <a:avLst/>
          </a:prstGeom>
          <a:solidFill>
            <a:srgbClr val="0F264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11880" y="1508760"/>
            <a:ext cx="2651760" cy="621792"/>
          </a:xfrm>
          <a:prstGeom prst="rect">
            <a:avLst/>
          </a:prstGeom>
          <a:solidFill>
            <a:srgbClr val="0F264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도입 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2651760" cy="621792"/>
          </a:xfrm>
          <a:prstGeom prst="rect">
            <a:avLst/>
          </a:prstGeom>
          <a:solidFill>
            <a:srgbClr val="0F264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15400" y="1508760"/>
            <a:ext cx="2651760" cy="621792"/>
          </a:xfrm>
          <a:prstGeom prst="rect">
            <a:avLst/>
          </a:prstGeom>
          <a:solidFill>
            <a:srgbClr val="0F264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2130552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30552"/>
            <a:ext cx="310896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세팅 불량률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11880" y="2130552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1305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63640" y="2130552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1305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이하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915400" y="2130552"/>
            <a:ext cx="2651760" cy="621792"/>
          </a:xfrm>
          <a:prstGeom prst="rect">
            <a:avLst/>
          </a:prstGeom>
          <a:solidFill>
            <a:srgbClr val="EAF7F5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1305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60%↓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02920" y="2752344"/>
            <a:ext cx="31089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523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외국인 숙련기간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11880" y="2752344"/>
            <a:ext cx="26517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7523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24개월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2752344"/>
            <a:ext cx="26517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7523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1개월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915400" y="2752344"/>
            <a:ext cx="2651760" cy="621792"/>
          </a:xfrm>
          <a:prstGeom prst="rect">
            <a:avLst/>
          </a:prstGeom>
          <a:solidFill>
            <a:srgbClr val="EAF7F5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7523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96%↓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02920" y="3374136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74136"/>
            <a:ext cx="310896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 집계 오차율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3611880" y="3374136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3741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300%대 과다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263640" y="3374136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3741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이내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8915400" y="3374136"/>
            <a:ext cx="2651760" cy="621792"/>
          </a:xfrm>
          <a:prstGeom prst="rect">
            <a:avLst/>
          </a:prstGeom>
          <a:solidFill>
            <a:srgbClr val="EAF7F5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33741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정확도 대폭개선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02920" y="3995928"/>
            <a:ext cx="31089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959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파견비용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3611880" y="3995928"/>
            <a:ext cx="26517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39959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2,000만원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263640" y="3995928"/>
            <a:ext cx="26517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9959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0원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8915400" y="3995928"/>
            <a:ext cx="2651760" cy="621792"/>
          </a:xfrm>
          <a:prstGeom prst="rect">
            <a:avLst/>
          </a:prstGeom>
          <a:solidFill>
            <a:srgbClr val="EAF7F5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15400" y="39959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100%↓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02920" y="4617720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6177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가동속도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3611880" y="4617720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46177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15mpm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6263640" y="4617720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46177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25mpm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8915400" y="4617720"/>
            <a:ext cx="2651760" cy="621792"/>
          </a:xfrm>
          <a:prstGeom prst="rect">
            <a:avLst/>
          </a:prstGeom>
          <a:solidFill>
            <a:srgbClr val="EAF7F5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15400" y="46177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생산성 20%↑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502920" y="5239512"/>
            <a:ext cx="31089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52395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클레임 대응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3611880" y="5239512"/>
            <a:ext cx="26517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11880" y="52395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2~3일</a:t>
            </a:r>
            <a:endParaRPr lang="en-US" sz="1450" dirty="0"/>
          </a:p>
        </p:txBody>
      </p:sp>
      <p:sp>
        <p:nvSpPr>
          <p:cNvPr id="58" name="Shape 56"/>
          <p:cNvSpPr/>
          <p:nvPr/>
        </p:nvSpPr>
        <p:spPr>
          <a:xfrm>
            <a:off x="6263640" y="5239512"/>
            <a:ext cx="2651760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52395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1450" dirty="0"/>
          </a:p>
        </p:txBody>
      </p:sp>
      <p:sp>
        <p:nvSpPr>
          <p:cNvPr id="60" name="Shape 58"/>
          <p:cNvSpPr/>
          <p:nvPr/>
        </p:nvSpPr>
        <p:spPr>
          <a:xfrm>
            <a:off x="8915400" y="5239512"/>
            <a:ext cx="2651760" cy="621792"/>
          </a:xfrm>
          <a:prstGeom prst="rect">
            <a:avLst/>
          </a:prstGeom>
          <a:solidFill>
            <a:srgbClr val="EAF7F5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15400" y="52395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대응시간 대폭단축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추진 일정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3개월 로드맵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3566160" cy="594360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1개월차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91440" cy="9144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500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길이·매수 엔진 정식화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392424"/>
            <a:ext cx="91440" cy="9144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구간별 세팅 추천(1차)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288536"/>
            <a:ext cx="91440" cy="9144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4223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Helper UI 1차개발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5184648"/>
            <a:ext cx="91440" cy="9144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38344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텐션-코일 매칭 배치화 착수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087368" y="3712464"/>
            <a:ext cx="164592" cy="256032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70248" y="160020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0248" y="1600200"/>
            <a:ext cx="3566160" cy="594360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20" name="Text 18"/>
          <p:cNvSpPr/>
          <p:nvPr/>
        </p:nvSpPr>
        <p:spPr>
          <a:xfrm>
            <a:off x="4270248" y="1600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2개월차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498848" y="2496312"/>
            <a:ext cx="91440" cy="91440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23500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이상탐지·알림 연동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498848" y="3392424"/>
            <a:ext cx="91440" cy="91440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24" name="Text 22"/>
          <p:cNvSpPr/>
          <p:nvPr/>
        </p:nvSpPr>
        <p:spPr>
          <a:xfrm>
            <a:off x="4727448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번역 파이프라인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498848" y="4288536"/>
            <a:ext cx="91440" cy="91440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48" y="414223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파일럿 적용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98848" y="5184648"/>
            <a:ext cx="91440" cy="91440"/>
          </a:xfrm>
          <a:prstGeom prst="ellipse">
            <a:avLst/>
          </a:prstGeom>
          <a:solidFill>
            <a:srgbClr val="2CA8A0"/>
          </a:solidFill>
          <a:ln/>
        </p:spPr>
      </p:sp>
      <p:sp>
        <p:nvSpPr>
          <p:cNvPr id="28" name="Text 26"/>
          <p:cNvSpPr/>
          <p:nvPr/>
        </p:nvSpPr>
        <p:spPr>
          <a:xfrm>
            <a:off x="4727448" y="5038344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리포트 생성기·신뢰도 배지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854696" y="3712464"/>
            <a:ext cx="164592" cy="256032"/>
          </a:xfrm>
          <a:prstGeom prst="rightArrow">
            <a:avLst/>
          </a:prstGeom>
          <a:solidFill>
            <a:srgbClr val="C7CDD6"/>
          </a:solidFill>
          <a:ln/>
        </p:spPr>
      </p:sp>
      <p:sp>
        <p:nvSpPr>
          <p:cNvPr id="30" name="Shape 28"/>
          <p:cNvSpPr/>
          <p:nvPr/>
        </p:nvSpPr>
        <p:spPr>
          <a:xfrm>
            <a:off x="8037576" y="160020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37576" y="1600200"/>
            <a:ext cx="35661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8037576" y="1600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3개월차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8266176" y="24963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8494776" y="23500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동종이력 추천 전환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266176" y="339242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8494776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문의 연동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266176" y="428853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8494776" y="414223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거래처 확대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66176" y="518464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8494776" y="5038344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성과측정·SOP·확산계획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사업비 집행계획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총 사업비 4,000만원 (정부 80% · 자부담 20%)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3520440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6479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pPr algn="ctr"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12648" y="2359152"/>
            <a:ext cx="3300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사업비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150876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508760"/>
            <a:ext cx="3520440" cy="91440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76479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3,200</a:t>
            </a:r>
            <a:pPr algn="ctr" indent="0" marL="0">
              <a:buNone/>
            </a:pPr>
            <a:r>
              <a:rPr lang="en-US" sz="18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만원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70248" y="2359152"/>
            <a:ext cx="3300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정부지원금 (80%)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1508760"/>
            <a:ext cx="3794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18120" y="1508760"/>
            <a:ext cx="379476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7647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만원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927848" y="2359152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자부담금 (20%)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정부지원금 세부 항목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7863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246120"/>
            <a:ext cx="73152" cy="512064"/>
          </a:xfrm>
          <a:prstGeom prst="rect">
            <a:avLst/>
          </a:prstGeom>
          <a:solidFill>
            <a:srgbClr val="2CA8A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461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제품·서비스 고도화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2461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800만원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24612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849624"/>
            <a:ext cx="7863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849624"/>
            <a:ext cx="73152" cy="512064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4962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도입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384962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1,400만원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849624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43.75%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453128"/>
            <a:ext cx="7863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453128"/>
            <a:ext cx="73152" cy="5120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45312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홍보비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63440" y="445312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400만원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445312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5056632"/>
            <a:ext cx="7863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056632"/>
            <a:ext cx="73152" cy="512064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05663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수수료·사용료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63440" y="505663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480만원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5056632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5660136"/>
            <a:ext cx="7863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5660136"/>
            <a:ext cx="73152" cy="5120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66013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활용비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63440" y="566013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120만원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66560" y="5660136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686800" y="2788920"/>
            <a:ext cx="3017520" cy="3200400"/>
          </a:xfrm>
          <a:prstGeom prst="rect">
            <a:avLst/>
          </a:prstGeom>
          <a:solidFill>
            <a:srgbClr val="FFF6E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15400" y="30175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6" name="Image 0" descr="/sessions/happy-laughing-euler/pitch_deck/icons/coins_0F26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3236976"/>
            <a:ext cx="246888" cy="246888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882396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자부담금 구성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8823960" y="4206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인건비 667.5만원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수수료(보증보험) 12.5만원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임차료 120만원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07008"/>
            <a:ext cx="12188952" cy="64008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사업화 역량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증명된 실행팀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914400" cy="914400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8" name="Image 0" descr="/sessions/happy-laughing-euler/pitch_deck/icons/userTi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0253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남은우 대표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7452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총괄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28346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오성철강사 대표, 2025년 경기지역 중소기업 AI전환 우수사례 대상(1위) 수상 — 디지털 레트로핏을 직접 추진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150876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783080"/>
            <a:ext cx="914400" cy="914400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14" name="Image 1" descr="/sessions/happy-laughing-euler/pitch_deck/icons/robo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0025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정대균 연구실장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58952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AI모델·데이터 아키텍처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92240" y="28346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KT AI/Robot 기술팀장(28년 경력) 영입 — 슬리팅 AI Helper, 고객포털, DTC-3100 카메라 인식 등 다수 서비스 배포 이력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4389120"/>
            <a:ext cx="11155680" cy="1691640"/>
          </a:xfrm>
          <a:prstGeom prst="rect">
            <a:avLst/>
          </a:prstGeom>
          <a:solidFill>
            <a:srgbClr val="EAF7F5"/>
          </a:solidFill>
          <a:ln w="12700">
            <a:solidFill>
              <a:srgbClr val="2CA8A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617720"/>
            <a:ext cx="777240" cy="777240"/>
          </a:xfrm>
          <a:prstGeom prst="ellipse">
            <a:avLst/>
          </a:prstGeom>
          <a:solidFill>
            <a:srgbClr val="2CA8A0"/>
          </a:solidFill>
          <a:ln/>
        </p:spPr>
      </p:sp>
      <p:pic>
        <p:nvPicPr>
          <p:cNvPr id="20" name="Image 2" descr="/sessions/happy-laughing-euler/pitch_deck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83717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45262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슬리팅 라인 AI Helper(숙련기간 96%↓ 실증), 고객사 포털(2개사 실서비스, 반응 양호)을 자체 개발·배포한 이력이 있다.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사업은 동일한 「아이디어 → 프로토타입 → 현장운용 → 최적화」방법론을 레벨링 라인에 확장하는 것으로, 새로운 기술 리스크가 아니라 검증된 실행력의 재적용이다.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AI Helper for Leveller &amp; 스마트 코일 품질 리포트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133856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80760"/>
            <a:ext cx="1218895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품질은 측정하는 것이 아니라,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전달되어야 완성된다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429000" cy="1463040"/>
          </a:xfrm>
          <a:prstGeom prst="rect">
            <a:avLst/>
          </a:prstGeom>
          <a:solidFill>
            <a:srgbClr val="15335C"/>
          </a:solidFill>
          <a:ln w="19050">
            <a:solidFill>
              <a:srgbClr val="2C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1800" b="1" dirty="0">
                <a:solidFill>
                  <a:srgbClr val="2C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개사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고객포털 실서비스 중 (반응 양호)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880360"/>
            <a:ext cx="3429000" cy="1463040"/>
          </a:xfrm>
          <a:prstGeom prst="rect">
            <a:avLst/>
          </a:prstGeom>
          <a:solidFill>
            <a:srgbClr val="15335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30175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%↓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6576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숙련기간 단축 (슬리팅 실증)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880360"/>
            <a:ext cx="3429000" cy="1463040"/>
          </a:xfrm>
          <a:prstGeom prst="rect">
            <a:avLst/>
          </a:prstGeom>
          <a:solidFill>
            <a:srgbClr val="15335C"/>
          </a:solidFill>
          <a:ln w="19050">
            <a:solidFill>
              <a:srgbClr val="E87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30175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pPr algn="ctr"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개사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75320" y="36576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품질리포트 신규 확대 목표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투자는 이미 마쳤습니다. 이번 사업은 그 설비를 "누구나 다룰 수 있고, 누구에게나 증명할 수 있는" 자산으로 바꾸는 마지막 한 걸음입니다.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89520" y="6172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7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오성철강사 · 코일연구실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2026-09-06T05:04:46Z</dcterms:created>
  <dcterms:modified xsi:type="dcterms:W3CDTF">2026-09-06T05:04:46Z</dcterms:modified>
</cp:coreProperties>
</file>