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://osungsteel.servehttp.com:8095/admin/login" TargetMode="External"/><Relationship Id="rId2" Type="http://schemas.openxmlformats.org/officeDocument/2006/relationships/hyperlink" Target="http://osungsteel.servehttp.com:8095/admin/login" TargetMode="External"/><Relationship Id="rId3" Type="http://schemas.openxmlformats.org/officeDocument/2006/relationships/hyperlink" Target="https://ohsung-system.vercel.app/separator" TargetMode="External"/><Relationship Id="rId4" Type="http://schemas.openxmlformats.org/officeDocument/2006/relationships/hyperlink" Target="https://ohsung-system.vercel.app/separator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ohsung-system.vercel.app" TargetMode="External"/><Relationship Id="rId2" Type="http://schemas.openxmlformats.org/officeDocument/2006/relationships/hyperlink" Target="https://ohsung-system.vercel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ohsung-system.vercel.app/portal" TargetMode="External"/><Relationship Id="rId2" Type="http://schemas.openxmlformats.org/officeDocument/2006/relationships/hyperlink" Target="https://ohsung-system.vercel.app/portal" TargetMode="External"/><Relationship Id="rId3" Type="http://schemas.openxmlformats.org/officeDocument/2006/relationships/hyperlink" Target="https://ohsung-system.vercel.app" TargetMode="External"/><Relationship Id="rId4" Type="http://schemas.openxmlformats.org/officeDocument/2006/relationships/hyperlink" Target="https://ohsung-system.vercel.app" TargetMode="External"/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ohsung-system.vercel.app" TargetMode="External"/><Relationship Id="rId2" Type="http://schemas.openxmlformats.org/officeDocument/2006/relationships/hyperlink" Target="https://ohsung-system.vercel.app/portal" TargetMode="External"/><Relationship Id="rId3" Type="http://schemas.openxmlformats.org/officeDocument/2006/relationships/hyperlink" Target="https://ohsung-system.vercel.app/separator" TargetMode="External"/><Relationship Id="rId4" Type="http://schemas.openxmlformats.org/officeDocument/2006/relationships/hyperlink" Target="https://ohsung-system.vercel.app/warehouse-3d.html" TargetMode="External"/><Relationship Id="rId5" Type="http://schemas.openxmlformats.org/officeDocument/2006/relationships/hyperlink" Target="https://platform.smic.kr:30390/dashboards/all/197a94c0-d635-11f0-bb15-87027a672b53" TargetMode="External"/><Relationship Id="rId6" Type="http://schemas.openxmlformats.org/officeDocument/2006/relationships/hyperlink" Target="http://osungsteel.servehttp.com:8095/admin/login" TargetMode="External"/><Relationship Id="rId7" Type="http://schemas.openxmlformats.org/officeDocument/2006/relationships/hyperlink" Target="http://osungsteel.servehttp.com:38080/" TargetMode="External"/><Relationship Id="rId8" Type="http://schemas.openxmlformats.org/officeDocument/2006/relationships/hyperlink" Target="http://greenpweb.co.kr" TargetMode="External"/><Relationship Id="rId9" Type="http://schemas.openxmlformats.org/officeDocument/2006/relationships/hyperlink" Target="https://www.enfax.com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ohsung-system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AX 현황 및 계획 보고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장비의 한계를 넘어, 데이터와 AI로 완성하는 오성철강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1983년부터 이어온 44년의 노하우 — 장비 투자 실패를 거쳐, AI 3차례의 도전 끝에 지금 여기까지 왔습니다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2026. 07. 31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· AX 현황 및 계획 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1983년부터, 자동차·건축용 정밀 탄소강 가공 외길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628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 연도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886200"/>
            <a:ext cx="30175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째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정밀 탄소강 가공 외길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21031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코일센터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 및 건축용 정밀 탄소강을 가공하는 전문 코일센터로, 1983년 창업 이래 44년간 슬리팅·레벨링 공정의 현장 노하우를 쌓아왔습니다.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3520440"/>
            <a:ext cx="457200" cy="457200"/>
          </a:xfrm>
          <a:prstGeom prst="ellipse">
            <a:avLst/>
          </a:prstGeom>
          <a:solidFill>
            <a:srgbClr val="FDECD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9512" y="3502152"/>
            <a:ext cx="6419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공정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39512" y="3776472"/>
            <a:ext cx="6419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슬리팅(코일 폭 절단) · 레벨링(평탄화) — 자동차·건축 산업의 소재 전 단계를 담당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4270248"/>
            <a:ext cx="457200" cy="457200"/>
          </a:xfrm>
          <a:prstGeom prst="ellipse">
            <a:avLst/>
          </a:prstGeom>
          <a:solidFill>
            <a:srgbClr val="FDECD6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9512" y="4251960"/>
            <a:ext cx="6419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기반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39512" y="4526280"/>
            <a:ext cx="6419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등 다수 거래처가 재고를 맡기고 정기적으로 가공을 의뢰하는 신뢰 기반 사업 구조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5020056"/>
            <a:ext cx="457200" cy="457200"/>
          </a:xfrm>
          <a:prstGeom prst="ellipse">
            <a:avLst/>
          </a:prstGeom>
          <a:solidFill>
            <a:srgbClr val="FDECD6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9512" y="5001768"/>
            <a:ext cx="6419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44년의 자산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39512" y="5276088"/>
            <a:ext cx="6419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남지 않은 숙련공의 감각·판단력 — 이번 AX 전략의 출발점이자 지켜야 할 핵심 자산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44년의 노하우, 그러나 다가온 3가지 위기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노후화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라인 설비의 노후화가 진행되면서, 정밀도와 가동 안정성 유지에 점점 더 많은 비용이 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기능인 고령화 · 기술 단절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숙련공의 은퇴가 다가오지만, 그 감각과 판단력을 다음 세대(외국인 근로자 포함)에게 전수할 방법이 없습니다.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서비스 확대 요구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고품질·고객서비스 확대에 대한 시장 요구는 커지는데, 기존 방식으로는 이를 따라가지 못하고 있습니다.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201400" cy="960120"/>
          </a:xfrm>
          <a:prstGeom prst="roundRect">
            <a:avLst>
              <a:gd name="adj" fmla="val 8571"/>
            </a:avLst>
          </a:prstGeom>
          <a:solidFill>
            <a:srgbClr val="FBE6E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2920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이대로면 사업 중단 우려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세 가지 문제가 동시에 겹치며, 기존 방식의 연장선으로는 더 이상 버티기 어려운 상황입니다.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도전 — 신규 장비 도입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052560" y="713232"/>
            <a:ext cx="1938528" cy="292608"/>
          </a:xfrm>
          <a:prstGeom prst="roundRect">
            <a:avLst>
              <a:gd name="adj" fmla="val 18750"/>
            </a:avLst>
          </a:prstGeom>
          <a:solidFill>
            <a:srgbClr val="FBE6E4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713232"/>
            <a:ext cx="193852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사업성 확보 실패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41448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41448"/>
            <a:ext cx="6583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09928" y="22311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최신 장비 도입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선진 설비를 국내 최초 수준으로 도입하는 데 성공했습니다.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57016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FDECD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57016"/>
            <a:ext cx="6583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09928" y="334670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공정·동일 장비의 생산성 한계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331012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기존과 같은 방식의 공정을 그대로 자동화하는 것만으로는, 부분적인 생산성 향상 이상을 만들어내지 못했습니다.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67258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FBE6E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72584"/>
            <a:ext cx="6583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09928" y="4462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투자 대비 사업성 부족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63440" y="4425696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자체에 대한 대규모 투자만으로는 회수 가능한 사업 모델을 만들 수 없다는 결론에 도달했습니다.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869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다음 전환점: 장비가 아닌 데이터와 AI로 방향을 바꿉니다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1 · 제품 경쟁력 강화 · 생산성 향상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타사가 못하는 차별화 서비스, AI로 시작하다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258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슬리팅 표면 검사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877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분당 250m로 지나가는 철판의 스크래치·찌그러짐·에지 웨이브를 AI 비전이 실시간으로 탐지합니다. 사람 눈으로는 절대 불가능한 속도의 전수 검사입니다.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96112" y="4105656"/>
            <a:ext cx="64008" cy="64008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9776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결함 자동 검출·분류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" y="4416552"/>
            <a:ext cx="64008" cy="64008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2885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코일별 결함 위치·전후 영상 자동 저장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" y="4727448"/>
            <a:ext cx="64008" cy="64008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45994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원소재 불량 vs 가공 불량 책임소재 구분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품질검사시스템 바로가기  </a:t>
            </a:r>
            <a:pPr indent="0" marL="0">
              <a:buNone/>
            </a:pPr>
            <a:r>
              <a:rPr lang="en-US" sz="10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http://osungsteel.servehttp.com:8095/admin/login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286000"/>
            <a:ext cx="548640" cy="54864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2258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25877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0175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40년 공장장의 손끝 감각으로 계산하던 스페이서 조합을, 태블릿이 큰 글씨로 바로 알려줍니다. 외국인 근로자도 숙련공의 노하우를 즉시 흡수합니다.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611112" y="4105656"/>
            <a:ext cx="64008" cy="64008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39776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 → 스페이서 조합 자동 계산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11112" y="4416552"/>
            <a:ext cx="64008" cy="64008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6" name="Text 24"/>
          <p:cNvSpPr/>
          <p:nvPr/>
        </p:nvSpPr>
        <p:spPr>
          <a:xfrm>
            <a:off x="6793992" y="42885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실배포되어 매일 사용 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11112" y="4727448"/>
            <a:ext cx="64008" cy="64008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8" name="Text 26"/>
          <p:cNvSpPr/>
          <p:nvPr/>
        </p:nvSpPr>
        <p:spPr>
          <a:xfrm>
            <a:off x="6793992" y="45994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숙련도와 무관하게 동일한 정확도 확보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태블릿 키오스크 바로가기  </a:t>
            </a:r>
            <a:pPr indent="0" marL="0">
              <a:buNone/>
            </a:pPr>
            <a:r>
              <a:rPr lang="en-US" sz="10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https://ohsung-system.vercel.app/separator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DECD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4406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숙제 — </a:t>
            </a:r>
            <a:pPr indent="0" marL="0">
              <a:buNone/>
            </a:pPr>
            <a:r>
              <a:rPr lang="en-US" sz="120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서비스는 만들었지만, 여러 시스템에 따로 입력해야 하는 ‘사용상 편의성 부재’ 문제가 남았습니다.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2 · 사용성 확보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여러 시스템에 흩어진 데이터를 하나로 — RPA와 대시보드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58568"/>
            <a:ext cx="502920" cy="5029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569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피로도 해결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플랫폼(그린ERP)과 자체 ERP2.0을 사람이 손으로 옮겨 적을 필요 없이, 10분 주기로 자동 동기화합니다.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34,707건  </a:t>
            </a:r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자동 동기화 (입고·출고·재고 등)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14,513건  </a:t>
            </a:r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ERP2.0 누적 데이터 (거래처 146개사)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RPA Agent는 이미 상용 서비스로 매일 자동 실행되고 있습니다.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2258568"/>
            <a:ext cx="502920" cy="5029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2240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대시보드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3760" y="2569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데이터를 볼 수 있는 환경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11112" y="304495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898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 — 데일리 리포트 · 월간분석 · 대표님 브리핑 · 카톡용 일일요약 · 접속로그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611112" y="382219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675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생산현장 도구 — 세퍼레이터 계산기 · 코일창고 3D 뷰어 · 영업대상 고객사 리스트 · 장애원인분석(AI)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583680" y="5349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메인 ERP 바로가기  </a:t>
            </a:r>
            <a:pPr indent="0" marL="0">
              <a:buNone/>
            </a:pPr>
            <a:r>
              <a:rPr lang="en-US" sz="10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상단 메뉴에서 각 리포트 확인 · [오성철강 연구실]에서 프로토타입 확인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3 · 마케팅 및 서비스 혁신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열린 창구 — 고객 접점을 AI로 넓히다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267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8760" y="2157984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157984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87168" y="205740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245059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거래처가 직접 미출고 현황을 조회·인쇄하고 FAX로 받아볼 수 있는 24시간 창구입니다. 그린ERP 원본 양식 그대로 제공합니다.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고객사 포털 바로가기  </a:t>
            </a:r>
            <a:pPr indent="0" marL="0">
              <a:buNone/>
            </a:pPr>
            <a:r>
              <a:rPr lang="en-US" sz="10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https://ohsung-system.vercel.app/portal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6850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08760" y="3575304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FDECD6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575304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87168" y="347472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OCR 24시간 주문접수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08760" y="386791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접수하고, 팩스로 받은 주문서 이미지도 OCR로 읽어 바로 발주 초안을 만듭니다.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0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51023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508760" y="4992624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FDECD6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4992624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87168" y="489204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 · 현장 코일확정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08760" y="528523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 작업요청서를 자동 인식해 초안을 만들고, 지게차 기사가 태블릿에서 코일을 확정하는 흐름까지 하나로 이었습니다.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5303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0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오성철강이 운영 중인 모든 서비스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1~3차 도전을 거치며 만든 서비스 전체를 한 번에 확인합니다 — 클릭하면 바로 이동합니다.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(메인)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2395728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395728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0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7223760" y="23317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110642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340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2798064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2798064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00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7223760" y="273405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https://ohsung-system.vercel.app/portal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36392"/>
            <a:ext cx="11064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363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60720" y="3200400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3200400"/>
            <a:ext cx="12070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000" dirty="0"/>
          </a:p>
        </p:txBody>
      </p:sp>
      <p:sp>
        <p:nvSpPr>
          <p:cNvPr id="23" name="Text 21">
            <a:hlinkClick r:id="rId3" tooltip=""/>
          </p:cNvPr>
          <p:cNvSpPr/>
          <p:nvPr/>
        </p:nvSpPr>
        <p:spPr>
          <a:xfrm>
            <a:off x="7223760" y="31363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https://ohsung-system.vercel.app/separator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38728"/>
            <a:ext cx="110642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5387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60720" y="3602736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3602736"/>
            <a:ext cx="12070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000" dirty="0"/>
          </a:p>
        </p:txBody>
      </p:sp>
      <p:sp>
        <p:nvSpPr>
          <p:cNvPr id="28" name="Text 26">
            <a:hlinkClick r:id="rId4" tooltip=""/>
          </p:cNvPr>
          <p:cNvSpPr/>
          <p:nvPr/>
        </p:nvSpPr>
        <p:spPr>
          <a:xfrm>
            <a:off x="7223760" y="35387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https://ohsung-system.vercel.app/warehouse-3d.html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41064"/>
            <a:ext cx="11064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9410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슬리팅2 실시간 NMS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60720" y="4005072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4005072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000" dirty="0"/>
          </a:p>
        </p:txBody>
      </p:sp>
      <p:sp>
        <p:nvSpPr>
          <p:cNvPr id="33" name="Text 31">
            <a:hlinkClick r:id="rId5" tooltip=""/>
          </p:cNvPr>
          <p:cNvSpPr/>
          <p:nvPr/>
        </p:nvSpPr>
        <p:spPr>
          <a:xfrm>
            <a:off x="7223760" y="39410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platform.smic.kr:30390/dashboards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0642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3434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품질검사시스템 (SAIGE VIMS)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60720" y="4407408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FDECD6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4407408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</a:t>
            </a:r>
            <a:endParaRPr lang="en-US" sz="1000" dirty="0"/>
          </a:p>
        </p:txBody>
      </p:sp>
      <p:sp>
        <p:nvSpPr>
          <p:cNvPr id="38" name="Text 36">
            <a:hlinkClick r:id="rId6" tooltip=""/>
          </p:cNvPr>
          <p:cNvSpPr/>
          <p:nvPr/>
        </p:nvSpPr>
        <p:spPr>
          <a:xfrm>
            <a:off x="7223760" y="43434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osungsteel.servehttp.com:8095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745736"/>
            <a:ext cx="11064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7457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대시보드 · PLC통합저장 · 작업선택 PAD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760720" y="4809744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E4F3EA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4809744"/>
            <a:ext cx="84124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000" dirty="0"/>
          </a:p>
        </p:txBody>
      </p:sp>
      <p:sp>
        <p:nvSpPr>
          <p:cNvPr id="43" name="Text 41">
            <a:hlinkClick r:id="rId7" tooltip=""/>
          </p:cNvPr>
          <p:cNvSpPr/>
          <p:nvPr/>
        </p:nvSpPr>
        <p:spPr>
          <a:xfrm>
            <a:off x="7223760" y="474573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osungsteel.servehttp.com:38080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148072"/>
            <a:ext cx="110642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14807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그린피웹 ERP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760720" y="5212080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E6EEF8"/>
          </a:solidFill>
          <a:ln/>
        </p:spPr>
      </p:sp>
      <p:sp>
        <p:nvSpPr>
          <p:cNvPr id="47" name="Text 45"/>
          <p:cNvSpPr/>
          <p:nvPr/>
        </p:nvSpPr>
        <p:spPr>
          <a:xfrm>
            <a:off x="5760720" y="5212080"/>
            <a:ext cx="102412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외부연동</a:t>
            </a:r>
            <a:endParaRPr lang="en-US" sz="1000" dirty="0"/>
          </a:p>
        </p:txBody>
      </p:sp>
      <p:sp>
        <p:nvSpPr>
          <p:cNvPr id="48" name="Text 46">
            <a:hlinkClick r:id="rId8" tooltip=""/>
          </p:cNvPr>
          <p:cNvSpPr/>
          <p:nvPr/>
        </p:nvSpPr>
        <p:spPr>
          <a:xfrm>
            <a:off x="7223760" y="51480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greenpweb.co.kr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550408"/>
            <a:ext cx="11064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5504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760720" y="5614416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E6EEF8"/>
          </a:solidFill>
          <a:ln/>
        </p:spPr>
      </p:sp>
      <p:sp>
        <p:nvSpPr>
          <p:cNvPr id="52" name="Text 50"/>
          <p:cNvSpPr/>
          <p:nvPr/>
        </p:nvSpPr>
        <p:spPr>
          <a:xfrm>
            <a:off x="5760720" y="5614416"/>
            <a:ext cx="102412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외부연동</a:t>
            </a:r>
            <a:endParaRPr lang="en-US" sz="1000" dirty="0"/>
          </a:p>
        </p:txBody>
      </p:sp>
      <p:sp>
        <p:nvSpPr>
          <p:cNvPr id="53" name="Text 51">
            <a:hlinkClick r:id="rId9" tooltip=""/>
          </p:cNvPr>
          <p:cNvSpPr/>
          <p:nvPr/>
        </p:nvSpPr>
        <p:spPr>
          <a:xfrm>
            <a:off x="7223760" y="55504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enfax.com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8640" y="60899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연구실 프로토타입 8종(주문접수 자동화 5종·세퍼레이터 계산기·영업대상 리스트·장애원인분석)은 ERP 로그인 후 [오성철강 연구실] 메뉴에서 확인할 수 있습니다.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 한 조각 — 레벨링 라인 품질측정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슬리팅은 AI 비전으로 이미 검사하고 있지만, 레벨링 라인은 아직 사람의 눈에만 의존하고 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반월시화 AX사업  </a:t>
            </a:r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총사업비 5,500만 원 (정부출연금 4,950만 원)   |   2026.07 ~ 12 도입   |   공급사 (주)한줌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(AS-IS)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2788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(TO-BE)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461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철판 전수 검사율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32461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32461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(인라인 연속 촬영)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67912"/>
            <a:ext cx="11064240" cy="62179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679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평탄도 · 표면 불량 검출률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386791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불가 (수작업)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86791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이상 (3D 라인스캔 + 레이저)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8970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정지 횟수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0" y="448970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1회 이상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3880" y="448970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 (무정지 자동검사)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11496"/>
            <a:ext cx="11064240" cy="62179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1114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품질데이터 기록 보관율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0" y="511149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3880" y="511149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(최소 1년 보존)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9618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정지 없는 전수 검사로 생산성과 품질을 동시에 극대화합니다.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충분합니다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하나만 비어 있던 마지막 칸 — 나머지 데이터 자산은 이미 쌓였고, 신뢰성까지 직접 검증했습니다.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67128"/>
            <a:ext cx="438912" cy="438912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입고·출고·재고, 10분 간격 자동 동기화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167128"/>
            <a:ext cx="438912" cy="438912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1671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ERP2.0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576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146개사 · 출하 1,730건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2167128"/>
            <a:ext cx="438912" cy="438912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1671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3796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2초 간격 초정밀 실시간 운전 로그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89720" y="196596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18320" y="2167128"/>
            <a:ext cx="438912" cy="438912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0" y="21671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0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1,954</a:t>
            </a:r>
            <a:pPr indent="0" marL="0">
              <a:buNone/>
            </a:pPr>
            <a:r>
              <a:rPr lang="en-US" sz="10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4183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이벤트 88,059건 (슬리팅 표면검사)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11292840" cy="685800"/>
          </a:xfrm>
          <a:prstGeom prst="roundRect">
            <a:avLst>
              <a:gd name="adj" fmla="val 10667"/>
            </a:avLst>
          </a:prstGeom>
          <a:solidFill>
            <a:srgbClr val="16283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데이터 자산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</a:t>
            </a:r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 축적이 아니라, 직접 검증했습니다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94360" y="5102352"/>
            <a:ext cx="73152" cy="73152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" y="497433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실API 직접 조사로 표면검사 시스템 규모(1,954건 · 결함 88,059건 · 2025-12~2026-07)를 재확인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594360" y="5431536"/>
            <a:ext cx="73152" cy="73152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5303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구성 확인 — 상단 카메라(5클래스, 학습완료) · 측면 카메라(2클래스, 학습중)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594360" y="5760720"/>
            <a:ext cx="73152" cy="73152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6327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 이슈를 직접 발견 — 일부 코일은 결함의 최대 94.2%가 실결함 아닌 데모 데이터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594360" y="6089904"/>
            <a:ext cx="73152" cy="73152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" y="59618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5개 코일 표본조사로 ‘두께측정 미가동’ 상태를 직접 확인 — 놓치지 않고 개선 과제로 반영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Coil ID로, 입고부터 출고까지 잇는다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품질 데이터가 더해지면, 코일 하나의 전 생애가 처음으로 완전히 연결됩니다.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311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31136" y="2724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입고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31136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856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8536" y="2286000"/>
            <a:ext cx="1554480" cy="1554480"/>
          </a:xfrm>
          <a:prstGeom prst="ellipse">
            <a:avLst/>
          </a:prstGeom>
          <a:solidFill>
            <a:srgbClr val="FDECD6"/>
          </a:solidFill>
          <a:ln w="31750">
            <a:solidFill>
              <a:srgbClr val="E883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8536" y="2724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레벨링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88536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신규 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88536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이번 신규 서비스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430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59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724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슬리팅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5936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04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33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3336" y="2724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출고/매출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03336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82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명확화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12978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시점 불량(소재)과 가공 불량을 완벽하게 분리해 분쟁을 줄입니다.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46177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53712" y="4782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고도화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53712" y="512978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포털에 코일별 정밀 품질 리포트를 증빙 자료로 자동 제공합니다.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01584" y="46177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8330184" y="4782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산출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30184" y="512978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데이터와 연결해 정확한 ROI와 절감액을 도출합니다.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레벨링을 위해, 우리는 이렇게 갑니다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628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59152"/>
            <a:ext cx="502920" cy="50292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레벨러 AX 실증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~ 12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전수검사율 100% 달성 및 데이터 신뢰성 확보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325112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628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2359152"/>
            <a:ext cx="502920" cy="50292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9512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9512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서비스 연계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9432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33101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영업·현장 태블릿에 품질 이력 통합 대시보드 반영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5552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101584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6283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2359152"/>
            <a:ext cx="502920" cy="50292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15984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15984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산업단지 확산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75904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~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75904" y="33101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누적된 품질 + PLC 데이터로 예지보전 모델 구축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73384" cy="1463040"/>
          </a:xfrm>
          <a:prstGeom prst="roundRect">
            <a:avLst>
              <a:gd name="adj" fmla="val 5625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343400"/>
            <a:ext cx="10433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단순한 기업 내 자동화를 넘어, 중대재해를 예방하고 숙련공의 노하우를 디지털화하는</a:t>
            </a:r>
            <a:endParaRPr lang="en-US" sz="15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‘반월시화 산업단지 4,000여 개 코일 가공업체의 AI 제조혁신 표준 모델’로 도약하겠습니다.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장비가 아니라, 데이터와 사람이 답이었습니다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도전(장비)의 실패에서 배워, AI 3차례의 도전으로 여기까지 왔습니다. 이제 마지막 한 조각, 레벨링 라인 품질측정만 남았습니다.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노하우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2044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2044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데이터 자산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실서비스 · 프로토타입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1540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154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AX 실증 완료</a:t>
            </a:r>
            <a:endParaRPr lang="en-US" sz="11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2026-07-29T15:41:54Z</dcterms:created>
  <dcterms:modified xsi:type="dcterms:W3CDTF">2026-07-29T15:41:54Z</dcterms:modified>
</cp:coreProperties>
</file>