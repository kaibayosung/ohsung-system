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1828800" cy="0"/>
          </a:xfrm>
          <a:prstGeom prst="line">
            <a:avLst/>
          </a:prstGeom>
          <a:noFill/>
          <a:ln w="31750">
            <a:solidFill>
              <a:srgbClr val="DD6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ERP 2.0 · UI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ERP 2.0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시나리오 구성도 및 구축 기획안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ERP 분석 결과를 반영한 18개 화면 설계 · 4개 팀 통합 업무 흐름 · 단계별 구축 로드맵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· 2026-07-17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4356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설계를 관통하는 4가지 원칙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865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404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사이트맵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7523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팀 x 18개 화면 정보구조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27832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55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3741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화면별 UI 상세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21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실제 화면 목업 18종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97096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251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로드맵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690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설계→개발→연동→배포 4단계 일정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166360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29437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3126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및 팀 구성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6601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개발에 필요한 기술과 역할 분담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135624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 4가지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D6B2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입력, 자동 반영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ERP·그린피에 입력한 데이터가 스마트ERP 전 화면에 자동 동기화되어 이중입력이 없습니다.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최소 클릭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담당자는 "완료" 버튼 1클릭, 경리는 결재 1클릭으로 핵심 업무가 끝나도록 설계합니다.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42C5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동기화 상태 노출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연동 상태와 마지막 동기화 시각을 항상 화면에 표시해 데이터 신뢰도를 보장합니다.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46304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5303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우선 알림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일일 리포트(17:35)와 작업완료 처리는 모바일 화면을 기본으로 설계합니다.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사이트맵 · 18개 화면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2606040"/>
              </a:tblGrid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통합 대시보드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금일 매출·비용·순이익·미수금 한눈에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일일 실적 리포트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17:35 모바일 자동 발송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주간·월간 리포트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팀별 추이 비교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영업/현장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작업지시서 등록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고객사·품목·희망일 입력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영업/현장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작업지시 현황판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대기·진행·완료 칸반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영업/현장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작업완료 처리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모바일 1클릭 완료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영업/현장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거래명세서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증빙 확인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생산전표 조회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그린피 동기화 데이터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그린피 연동 현황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 로그·상태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417320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874520"/>
                <a:gridCol w="2606040"/>
              </a:tblGrid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재고 현황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700+ SKU 검색·노후재고 표시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미수금 현황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거래처별·연체 하이라이트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지출결의서 작성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계정과목·정기여부 입력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지출결의서 결재함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승인자 결재 처리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지출 대시보드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계정과목별 집계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정기지출 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고정비 자동 상신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계좌관리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계좌별 잔액 현황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로그인·팀 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역할별 진입 화면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관리자 설정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팀·권한·알림 관리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·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대시보드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8249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 대시보드 · 2026-07-17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동기화 08:12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40280" y="2075688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213969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금일 매출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350008" y="2322576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6,230,400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76472" y="2075688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13969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금일 비용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86200" y="2322576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1,180,000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12664" y="2075688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213969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422392" y="2322576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5,050,400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48856" y="2075688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8584" y="213969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 총액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58584" y="2322576"/>
            <a:ext cx="119786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3,027,523,686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0280" y="3081528"/>
            <a:ext cx="5943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172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진행 현황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493008"/>
            <a:ext cx="210312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34930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 · 작업지시 12건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17720" y="3493008"/>
            <a:ext cx="2103120" cy="21945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4930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· 전표 확정 9건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0" y="349300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4930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 · 결재대기 3건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77440" y="39044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세금계산서 발행 4건 · 재고 노후 SKU 12건 확인 필요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40280" y="4727448"/>
            <a:ext cx="5943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48188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17:35 자동 리포트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509320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카카오 알림톡으로 매출·비용·순이익 요약이 매일 자동 발송됩니다.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CE6F1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대표님이 매일 아침 접속해 금일 매출·비용·순이익·미수금 총액을 한 화면에서 확인합니다.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데이터는 그린피 동기화, 지출결의 승인, sales_records에서 자동 집계됩니다.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팀별 진행 현황 카드로 4개 팀 업무를 동시에 파악할 수 있습니다.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·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실적 리포트 (모바일)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463040" y="1207008"/>
            <a:ext cx="3017520" cy="5074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8575">
            <a:solidFill>
              <a:srgbClr val="1A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234440"/>
            <a:ext cx="2962656" cy="310896"/>
          </a:xfrm>
          <a:prstGeom prst="roundRect">
            <a:avLst>
              <a:gd name="adj" fmla="val 44118"/>
            </a:avLst>
          </a:prstGeom>
          <a:solidFill>
            <a:srgbClr val="1A365D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1389888"/>
            <a:ext cx="2962656" cy="1554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234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664208"/>
            <a:ext cx="2688336" cy="1188720"/>
          </a:xfrm>
          <a:prstGeom prst="roundRect">
            <a:avLst>
              <a:gd name="adj" fmla="val 4615"/>
            </a:avLst>
          </a:prstGeom>
          <a:solidFill>
            <a:srgbClr val="E6F1FB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755648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64792" y="1984248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64792" y="221284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실적 요약을 보내드려요.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6,230,400원 · 비용 1,180,000원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 5,050,400원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27632" y="2990088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자세히 보기 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CE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17:35, 스케줄러가 당일 매출·비용·순이익을 집계해 대표님께 카카오 알림톡으로 자동 발송합니다.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탭하면 통합 대시보드 상세 화면으로 바로 이동합니다.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확인이 필요 없는 완전 자동화 리포트입니다.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주간·월간 통합 리포트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· 주간 리포트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31720" y="3493008"/>
            <a:ext cx="1188720" cy="91440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3236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58.2M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69080" y="3218688"/>
            <a:ext cx="1188720" cy="118872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29626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06440" y="2944368"/>
            <a:ext cx="1188720" cy="146304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6883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43800" y="2670048"/>
            <a:ext cx="1188720" cy="173736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4140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0664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40280" y="4910328"/>
            <a:ext cx="59436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5001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고정비 대 변동비 비율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532180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31" name="Text 29"/>
          <p:cNvSpPr/>
          <p:nvPr/>
        </p:nvSpPr>
        <p:spPr>
          <a:xfrm>
            <a:off x="2377440" y="5321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고정비 62%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5321808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5321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변동비 38%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CE6F1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주간·월간 단위로 매출·비용·순이익 추이를 팀별로 비교합니다.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실데이터 기준 월평균 매출 5,800만~6,700만원 구간을 자동 벤치마크로 표시합니다.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 승인 데이터와 연동해 고정비 대비 변동비 비율도 함께 보여줍니다.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 등록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1755648"/>
            <a:ext cx="59436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892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작업지시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2350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259689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(주)대한강재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350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작업구분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0680" y="259689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SLITING2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3218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희망일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346557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3465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3218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예상단가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40680" y="346557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3465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23원/kg (자동계산)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5596128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DD6B2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596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 담당자가 고객사·품목·작업구분·희망일을 입력해 작업지시를 등록합니다.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즉시 work_orders 테이블에 저장되고 현황판(칸반)에 대기 카드로 나타납니다.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작업구분(SLITING/SLITING2/LEVELLING)에 따라 예상 단가가 자동 계산됩니다.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현황판 (칸반)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55648"/>
            <a:ext cx="1844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(4)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207568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214884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· SLITING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50008" y="245973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희망일 07-18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40280" y="294436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0008" y="301752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동양철강 · LEVELLING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50008" y="332841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희망일 07-19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21480" y="1755648"/>
            <a:ext cx="1844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 (5)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21480" y="207568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1208" y="214884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· SLITING2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31208" y="245973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김현장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21480" y="294436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1208" y="301752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삼성강판 · SLITING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31208" y="332841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박현장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02680" y="1755648"/>
            <a:ext cx="1844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(9)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02680" y="207568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EAF3DE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2408" y="214884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삼성강판 · LEVELLING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12408" y="245973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자동생성됨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02680" y="2944368"/>
            <a:ext cx="1844040" cy="777240"/>
          </a:xfrm>
          <a:prstGeom prst="roundRect">
            <a:avLst>
              <a:gd name="adj" fmla="val 7059"/>
            </a:avLst>
          </a:prstGeom>
          <a:solidFill>
            <a:srgbClr val="EAF3DE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2408" y="3017520"/>
            <a:ext cx="1624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동양철강 · SLITING2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12408" y="3328416"/>
            <a:ext cx="1624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자동생성됨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작업지시를 대기·진행중·완료 3단 칸반으로 시각화해 병목 구간을 즉시 파악합니다.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카드는 생산전표가 자동 생성되었음을 초록색으로 표시합니다.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카드를 드래그하면 상태가 실시간으로 변경되고 관련 팀에 알림이 갑니다.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작업완료 처리 (모바일)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463040" y="1207008"/>
            <a:ext cx="3017520" cy="5074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8575">
            <a:solidFill>
              <a:srgbClr val="1A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1234440"/>
            <a:ext cx="2962656" cy="310896"/>
          </a:xfrm>
          <a:prstGeom prst="roundRect">
            <a:avLst>
              <a:gd name="adj" fmla="val 44118"/>
            </a:avLst>
          </a:prstGeom>
          <a:solidFill>
            <a:srgbClr val="1A365D"/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1389888"/>
            <a:ext cx="2962656" cy="1554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234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ERP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664208"/>
            <a:ext cx="2688336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1773936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· SLITING2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64792" y="202996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 #2607-14 · 진행중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764792" y="2231136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23원/kg · 예상 4,200kg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64792" y="2944368"/>
            <a:ext cx="2414016" cy="502920"/>
          </a:xfrm>
          <a:prstGeom prst="roundRect">
            <a:avLst>
              <a:gd name="adj" fmla="val 14545"/>
            </a:avLst>
          </a:prstGeom>
          <a:solidFill>
            <a:srgbClr val="DD6B20"/>
          </a:solidFill>
          <a:ln/>
        </p:spPr>
      </p:sp>
      <p:sp>
        <p:nvSpPr>
          <p:cNvPr id="13" name="Text 11"/>
          <p:cNvSpPr/>
          <p:nvPr/>
        </p:nvSpPr>
        <p:spPr>
          <a:xfrm>
            <a:off x="1764792" y="294436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완료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담당자가 작업을 마치면 모바일에서 "완료" 버튼 1클릭으로 처리합니다.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처리 즉시 생산전표(production_slips)가 자동 생성되고 매출로 반영됩니다.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수기 입력 없이 현장→매출 확인까지 자동 연결됩니다.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거래명세서 조회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95681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거래명세서 조회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82880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번호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DN-0714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대한강재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SLITING2 4,200kg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발행완료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DN-0715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동양철강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LEVELLING 1,800kg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발행완료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DN-0716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삼성강판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SLITING 2,600kg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미발행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완료된 작업의 거래명세서(증빙)를 거래처·기간별로 조회합니다.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출고 데이터와 자동 대사되어 발행 누락을 방지합니다.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결과는 PDF로 즉시 다운로드해 거래처에 전달할 수 있습니다.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·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조회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생산전표 리스트 · 그린피 동기화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전표번호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J-11024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대한강재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SLITING2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J-11025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동양철강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J-11026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삼성강판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J-11027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대한강재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SLITING2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240280" y="4178808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18" name="Text 15"/>
          <p:cNvSpPr/>
          <p:nvPr/>
        </p:nvSpPr>
        <p:spPr>
          <a:xfrm>
            <a:off x="2240280" y="4178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실시간 동기화됨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그린피에서 동기화된 생산전표(작업일보)를 실시간으로 조회합니다.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작업구분별 단가 구조(SLITING/SLITING2/LEVELLING)가 그대로 반영됩니다.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전표 클릭 시 원본 그린피 화면 캡처와 대조 가능한 상세 화면으로 이동합니다.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·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연동 현황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ERP 연동 현황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728216"/>
            <a:ext cx="201168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728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동기화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40280" y="212140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0008" y="2185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동기화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350008" y="236829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08:12 (30분 간격)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06240" y="212140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2185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금일 수집 전표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15968" y="236829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212140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218541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테이블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81928" y="236829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240280" y="3035808"/>
            <a:ext cx="59436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0" y="3127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수집 로그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3447288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08:12 · greenp_production_slips 4건 upsert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07:42 · greenp_inventory 700건 갱신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07:12 · greenp_receivables 140개사 갱신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06:42 · greenp_shipments 6건 upsert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1단계(조회연동) 아키텍처의 핵심 화면 — 동기화 서버(RPA)의 상태를 실시간으로 노출합니다.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대상 8개 스테이징 테이블의 최신 upsert 로그를 확인할 수 있습니다.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실패 시 즉시 알림을 발송해 데이터 공백을 방지합니다.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·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현황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현황 · 700+ SKU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1719072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거래처/품명 검색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121408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188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업체명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재고중량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입고일자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대한강재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SPCC 1.2T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동양철강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SGCC 1.6T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2026-05-14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9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삼성강판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9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SPHC 3.0T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9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9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2020-08-31 · 노후재고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B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700개 이상의 SKU를 거래처·품명·규격으로 즉시 검색합니다.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입고 후 장기 미출고된 노후재고는 붉은색으로 자동 하이라이트됩니다.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그린피 데이터 기준 2020-08-31 입고 후 미출고 사례처럼 6년 이상 정체 재고를 조기 발견합니다.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미수금 현황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175564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0008" y="18196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미수금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350008" y="200253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3,027,523,686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175564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196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수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315968" y="200253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140개사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1755648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81965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최다 미수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81928" y="2002536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대한강재 897,183,664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761488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미수금액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대한강재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897,183,664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1위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동양철강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412,050,200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삼성강판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298,770,000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연체 30일+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26" name="Text 23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140개 거래처, 총 30억원 규모 미수금을 거래처별로 조회합니다.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연체 거래처는 붉은색으로, 상위 5개 거래처 집중도를 별도 카드로 표시합니다.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(주)대한강재 등 상위 거래처 편중(약 54%)을 대표님이 즉시 인지할 수 있습니다.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작성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1755648"/>
            <a:ext cx="59436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892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지출결의서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23160" y="2350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계정과목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259689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차량유지비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350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0680" y="259689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185,000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3218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지급방법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346557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3465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계좌이체 · 우리은행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32186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여부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40680" y="3465576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0408" y="3465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46520" y="4087368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DD6B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 요청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 담당자가 계정과목·금액·지급방법·정기여부를 입력해 결의서를 작성합니다.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즉시 결재자에게 알림이 가고, 승인 완료 시 daily_ledger에 자동 반영됩니다.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 지출로 표시하면 다음 달 정기초안 화면에 자동 상신됩니다.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결재함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 대기 3건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2121408"/>
            <a:ext cx="5943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차량유지비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2441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신청자 김현장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57800" y="2194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185,000원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226771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2677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40280" y="2807208"/>
            <a:ext cx="5943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사무용품비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3127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신청자 박경리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57800" y="2880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03720" y="295351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9535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40280" y="3493008"/>
            <a:ext cx="5943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 접대비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3813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신청자 이영업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257800" y="3566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340,000원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3639312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6393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결재자(대표님/경리팀장)가 대기중인 결의서를 한 화면에서 승인·반려합니다.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 완료 즉시 daily_ledger에 반영되어 대시보드 수치가 실시간으로 갱신됩니다.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 시 사유를 입력하면 작성자에게 알림이 자동 전송됩니다.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대시보드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7월 지출 현황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2121408"/>
            <a:ext cx="5943600" cy="640080"/>
          </a:xfrm>
          <a:prstGeom prst="roundRect">
            <a:avLst>
              <a:gd name="adj" fmla="val 8571"/>
            </a:avLst>
          </a:prstGeom>
          <a:solidFill>
            <a:srgbClr val="EAF3DE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1214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1214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12,400,000원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2898648"/>
            <a:ext cx="5943600" cy="640080"/>
          </a:xfrm>
          <a:prstGeom prst="roundRect">
            <a:avLst>
              <a:gd name="adj" fmla="val 8571"/>
            </a:avLst>
          </a:prstGeom>
          <a:solidFill>
            <a:srgbClr val="E6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2423160" y="28986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차량유지비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8986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1,850,000원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40280" y="3675888"/>
            <a:ext cx="5943600" cy="640080"/>
          </a:xfrm>
          <a:prstGeom prst="roundRect">
            <a:avLst>
              <a:gd name="adj" fmla="val 8571"/>
            </a:avLst>
          </a:prstGeom>
          <a:solidFill>
            <a:srgbClr val="FAEEDA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3675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접대비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3675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980,000원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4453128"/>
            <a:ext cx="5943600" cy="640080"/>
          </a:xfrm>
          <a:prstGeom prst="roundRect">
            <a:avLst>
              <a:gd name="adj" fmla="val 8571"/>
            </a:avLst>
          </a:prstGeom>
          <a:solidFill>
            <a:srgbClr val="FCEBEB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4453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44531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420,000원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승인된 지출결의를 계정과목별로 자동 집계해 월별 지출 구조를 시각화합니다.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고정비/변동비 비중을 자동 분류해 대표님 리포트에 그대로 연동됩니다.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 대비 증감률을 계정과목별로 함께 표시합니다.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정기지출(고정비) 관리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정기지출 목록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다음 상신일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직원 급여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사무실 임대료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통신비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240280" y="4041648"/>
            <a:ext cx="2743200" cy="219456"/>
          </a:xfrm>
          <a:prstGeom prst="roundRect">
            <a:avLst>
              <a:gd name="adj" fmla="val 50000"/>
            </a:avLst>
          </a:prstGeom>
          <a:solidFill>
            <a:srgbClr val="EAF3DE"/>
          </a:solidFill>
          <a:ln/>
        </p:spPr>
      </p:sp>
      <p:sp>
        <p:nvSpPr>
          <p:cNvPr id="18" name="Text 15"/>
          <p:cNvSpPr/>
          <p:nvPr/>
        </p:nvSpPr>
        <p:spPr>
          <a:xfrm>
            <a:off x="2240280" y="4041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상신 활성화됨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급여·임대료·통신비 등 매달 반복되는 고정비를 정기초안으로 등록·관리합니다.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매월 1일 등록된 정기지출이 자동으로 결재 상신되어 재입력이 필요 없습니다.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금액이 변경된 항목만 경리 담당자가 확인 후 조정합니다.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계좌관리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40280" y="1755648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8470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우리은행 · 법인계좌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23160" y="21214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128,450,000원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2670048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761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국민은행 · 예비계좌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42,100,000원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40280" y="3767328"/>
            <a:ext cx="5943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23160" y="3858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특수이체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4178808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07-15 · 설비 임차보증금 5,000,000원</a:t>
            </a:r>
            <a:endParaRPr lang="en-US" sz="9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07-10 · 거래처 선급금 3,200,000원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AEEDA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보유 계좌별 실시간 잔액과 최근 특수이체 내역을 관리합니다.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 승인 시 선택된 계좌 잔액이 자동 차감 표시됩니다.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 부족 예상 시 사전 경고 알림을 발송합니다.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· 17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· 팀 홈 런처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31720" y="1847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팀을 선택하세요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23957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DCE6F1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40680" y="23957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AF3DE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27157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영업/현장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37673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E6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4087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0" y="3767328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AEEDA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40873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경리/재무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소속 팀에 맞는 홈 화면으로 자동 이동합니다.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팀(경영/영업·현장/생산/경리) 각각 최적화된 초기 화면을 보여줍니다.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화면 내 팀 전환도 지원해 겸직자도 불편 없이 사용합니다.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· 18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설정 (팀·권한)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7818120" cy="5074920"/>
          </a:xfrm>
          <a:prstGeom prst="roundRect">
            <a:avLst>
              <a:gd name="adj" fmla="val 901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07008"/>
            <a:ext cx="7818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스마트ERP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508760" cy="4709160"/>
          </a:xfrm>
          <a:prstGeom prst="rect">
            <a:avLst/>
          </a:prstGeom>
          <a:solidFill>
            <a:srgbClr val="1529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6824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94944" y="195681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4944" y="223113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생산/재고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4944" y="250545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94944" y="277977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508760" cy="2743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0540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및 권한 관리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40280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김현장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영업/현장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박경리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경리/재무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이대표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조회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2240280" y="4041648"/>
            <a:ext cx="5943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23160" y="42245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주기: 30분  ·  일일 리포트: 17:35 발송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595360" y="120700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0" y="1207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595360" y="1664208"/>
            <a:ext cx="304495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관리자가 팀 구성원, 화면별 접근 권한, 알림 수신 대상을 관리합니다.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동기화 주기(기본 30분)와 17:35 리포트 발송 대상도 이 화면에서 조정합니다.</a:t>
            </a:r>
            <a:endParaRPr lang="en-US" sz="1050" dirty="0"/>
          </a:p>
          <a:p>
            <a:pPr marL="177800" indent="-177800">
              <a:lnSpc>
                <a:spcPts val="1500"/>
              </a:lnSpc>
              <a:spcAft>
                <a:spcPts val="1200"/>
              </a:spcAft>
              <a:buSzPct val="100000"/>
              <a:buChar char="▪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변경 이력은 감사 로그로 자동 기록됩니다.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구축 로드맵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188720" y="1554480"/>
            <a:ext cx="0" cy="448056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600200"/>
            <a:ext cx="219456" cy="219456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490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확정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508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IA·UI 시나리오 확정, DB 스키마 설계, 팀별 검수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78992" y="2743200"/>
            <a:ext cx="219456" cy="219456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633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2651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대시보드·작업지시·지출결의 등 12개 핵심 화면 개발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78992" y="3886200"/>
            <a:ext cx="219456" cy="219456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776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연동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794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서버(RPA) 구축, 8개 스테이징 테이블 연동, 데이터 검증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78992" y="5029200"/>
            <a:ext cx="219456" cy="219456"/>
          </a:xfrm>
          <a:prstGeom prst="ellipse">
            <a:avLst/>
          </a:prstGeom>
          <a:solidFill>
            <a:srgbClr val="DD6B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919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배포·안정화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4892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49377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팀 실사용 테스트, 17:35 자동 리포트 가동, 안정화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및 팀 구성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6F1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3DE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AEED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 + RPA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C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6459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20116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스케줄러 + 카카오 알림톡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/ 기획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일정 관리, 팀간 요구사항 조율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개발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703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개발, DB 설계, 동기화 로직 구현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 검수(4개팀)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관점 UI 피드백, 데이터 검증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0607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926080"/>
            <a:ext cx="1828800" cy="0"/>
          </a:xfrm>
          <a:prstGeom prst="line">
            <a:avLst/>
          </a:prstGeom>
          <a:noFill/>
          <a:ln w="31750">
            <a:solidFill>
              <a:srgbClr val="DD6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ERP 2.0 UI 시나리오 구성도 및 구축 기획안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참고: 오성철강_스마트ERP2.0_통합기획안.docx / 오성철강_그린피ERP분석_스마트ERP수용방안.docx / 오성철강_그린피ERP_프레젠테이션.pptx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2026-07-17T15:00:39Z</dcterms:created>
  <dcterms:modified xsi:type="dcterms:W3CDTF">2026-07-17T15:00:39Z</dcterms:modified>
</cp:coreProperties>
</file>