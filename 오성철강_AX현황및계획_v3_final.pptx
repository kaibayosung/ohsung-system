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osungsteel.servehttp.com:8095/admin/login" TargetMode="External"/><Relationship Id="rId3" Type="http://schemas.openxmlformats.org/officeDocument/2006/relationships/hyperlink" Target="http://osungsteel.servehttp.com:8095/admin/login" TargetMode="External"/><Relationship Id="rId5" Type="http://schemas.openxmlformats.org/officeDocument/2006/relationships/hyperlink" Target="https://ohsung-system.vercel.app/separator" TargetMode="External"/><Relationship Id="rId6" Type="http://schemas.openxmlformats.org/officeDocument/2006/relationships/hyperlink" Target="https://ohsung-system.vercel.app/separator" TargetMode="Externa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/portal" TargetMode="External"/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8" Type="http://schemas.openxmlformats.org/officeDocument/2006/relationships/hyperlink" Target="https://ohsung-system.vercel.app" TargetMode="External"/><Relationship Id="rId9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7" Type="http://schemas.openxmlformats.org/officeDocument/2006/relationships/image" Target="../media/image-7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4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AX 현황 및 계획 보고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7240" y="2121408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장비의 한계를 넘어, 데이터와 AI로 완성하는 오성철강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1983년부터 이어온 44년의 노하우 — 장비 투자 실패를 거쳐, AI 3차례의 도전 끝에 지금 여기까지 왔습니다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AX 현황 및 계획 보고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1983년부터, 자동차·건축용 정밀 탄소강 가공 외길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749040" cy="3703320"/>
          </a:xfrm>
          <a:prstGeom prst="roundRect">
            <a:avLst>
              <a:gd name="adj" fmla="val 2469"/>
            </a:avLst>
          </a:prstGeom>
          <a:solidFill>
            <a:srgbClr val="16283F"/>
          </a:solidFill>
          <a:ln/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5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625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연도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4343400"/>
            <a:ext cx="30175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26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째</a:t>
            </a:r>
            <a:endParaRPr lang="en-US" sz="4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 탄소강 가공 외길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4617720" y="2057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코일센터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및 건축용 정밀 탄소강을 가공하는 전문 코일센터로, 1983년 창업 이래 44년간 슬리팅·레벨링 공정의 현장 노하우를 쌓아왔습니다.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617720" y="356616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3" name="Image 1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8" y="3632728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54787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공정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303520" y="387705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슬리팅(코일 폭 절단) · 레벨링(평탄화) — 자동차·건축 산업의 소재 전 단계를 담당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17720" y="452628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7" name="Image 2" descr="/sessions/wonderful-affectionate-thompson/mnt/outputs/icons/handshak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88" y="4592848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450799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기반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303520" y="483717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등 다수 거래처가 재고를 맡기고 정기적으로 가공을 의뢰하는 신뢰 기반 사업 구조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17720" y="548640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1" name="Image 3" descr="/sessions/wonderful-affectionate-thompson/mnt/outputs/icons/history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88" y="555296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546811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44년의 자산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303520" y="579729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남지 않은 숙련공의 감각·판단력 — 이번 AX 전략의 출발점이자 지켜야 할 핵심 자산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44년의 노하우, 그러나 다가온 3가지 위기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36683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노후화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라인 설비의 노후화가 진행되면서, 정밀도와 가동 안정성 유지에 점점 더 많은 비용이 듭니다.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wonderful-affectionate-thompson/mnt/outputs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553" y="236683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기능인 고령화 · 기술 단절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숙련공의 은퇴가 다가오지만, 그 감각과 판단력을 다음 세대(외국인 근로자 포함)에게 전수할 방법이 없습니다.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wonderful-affectionate-thompson/mnt/outputs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13" y="2366833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서비스 확대 요구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1248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고품질·고객서비스 확대에 대한 시장 요구는 커지는데, 기존 방식으로는 이를 따라가지 못하고 있습니다.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201400" cy="1005840"/>
          </a:xfrm>
          <a:prstGeom prst="roundRect">
            <a:avLst>
              <a:gd name="adj" fmla="val 8182"/>
            </a:avLst>
          </a:prstGeom>
          <a:solidFill>
            <a:srgbClr val="FBE6E4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02920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8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이대로면 사업 중단 우려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세 가지 문제가 동시에 겹치며, 기존 방식의 연장선으로는 더 이상 버티기 어려운 상황입니다.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도전 — 신규 장비 도입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9006840" y="694944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694944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사업성 확보 실패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95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09928" y="2167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최신 장비 도입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2130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선진 설비를 국내 최초 수준으로 도입하는 데 성공했습니다.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38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09928" y="3310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공정·동일 장비의 생산성 한계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273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기존과 같은 방식의 공정을 그대로 자동화하는 것만으로는, 부분적인 생산성 향상 이상을 만들어내지 못했습니다.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681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81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09928" y="4453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투자 대비 사업성 부족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92040" y="4416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자체에 대한 대규모 투자만으로는 회수 가능한 사업 모델을 만들 수 없다는 결론에 도달했습니다.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다음 전환점: 장비가 아닌 데이터와 AI로 방향을 바꿉니다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1 · 제품 경쟁력 강화 · 생산성 향상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타사가 못하는 차별화 서비스, AI로 시작하다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32111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0520" y="2212848"/>
            <a:ext cx="17556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8" name="Text 5"/>
          <p:cNvSpPr/>
          <p:nvPr/>
        </p:nvSpPr>
        <p:spPr>
          <a:xfrm>
            <a:off x="4160520" y="2212848"/>
            <a:ext cx="17556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· 통합중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45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표면 검사 AI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250m로 지나가는 철판의 스크래치·찌그러짐·에지 웨이브를 AI 비전이 실시간으로 탐지합니다. 사람 눈으로는 절대 불가능한 속도의 전수 검사입니다.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6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결함 자동 검출·분류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96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결함 위치·전후 영상 자동 저장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96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원소재 불량 vs 가공 불량 책임소재 구분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품질검사시스템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http://osungsteel.servehttp.com:8095/admin/login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6583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1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13" y="2321113"/>
            <a:ext cx="460126" cy="4601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875520" y="2212848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23" name="Text 19"/>
          <p:cNvSpPr/>
          <p:nvPr/>
        </p:nvSpPr>
        <p:spPr>
          <a:xfrm>
            <a:off x="9875520" y="2212848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개발중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60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360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83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 직원의 요청으로 시작된 서비스입니다. 40년 공장장의 손끝 감각으로 계산하던 스페이서 조합을, 태블릿이 큰 글씨로 바로 알려줍니다. 외국인 근로자도 숙련공의 노하우를 즉시 흡수합니다.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611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4"/>
          <p:cNvSpPr/>
          <p:nvPr/>
        </p:nvSpPr>
        <p:spPr>
          <a:xfrm>
            <a:off x="6812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 → 스페이서 조합 자동 계산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611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611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2" name="Text 28"/>
          <p:cNvSpPr/>
          <p:nvPr/>
        </p:nvSpPr>
        <p:spPr>
          <a:xfrm>
            <a:off x="6812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요청 기반 자체 개발 — 지금도 계속 보완 중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583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태블릿 키오스크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DECD6"/>
          </a:solidFill>
          <a:ln/>
        </p:spPr>
      </p:sp>
      <p:sp>
        <p:nvSpPr>
          <p:cNvPr id="35" name="Text 31"/>
          <p:cNvSpPr/>
          <p:nvPr/>
        </p:nvSpPr>
        <p:spPr>
          <a:xfrm>
            <a:off x="868680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 — </a:t>
            </a:r>
            <a:pPr indent="0" marL="0">
              <a:buNone/>
            </a:pPr>
            <a:r>
              <a:rPr lang="en-US" sz="140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만들었지만, 여러 시스템에 따로 입력해야 하는 ‘사용상 편의성 부재’ 문제가 남았습니다.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2 · 사용성 확보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시스템에 흩어진 데이터를 하나로 — RPA와 대시보드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2865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피로도 해결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플랫폼(그린ERP)과 자체 ERP2.0을 사람이 손으로 옮겨 적을 필요 없이, 10분 주기로 자동 동기화합니다.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34,707건  </a:t>
            </a:r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자동 동기화 (입고·출고·재고 등)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868680" y="4544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14,513건  </a:t>
            </a:r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ERP2.0 누적 데이터 (거래처 146개사)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68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RPA Agent는 이미 상용 서비스로 매일 자동 실행되고 있습니다.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5" name="Image 1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81" y="2286549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15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데이터를 볼 수 있는 환경</a:t>
            </a:r>
            <a:endParaRPr lang="en-US" sz="1400" dirty="0"/>
          </a:p>
        </p:txBody>
      </p:sp>
      <p:pic>
        <p:nvPicPr>
          <p:cNvPr id="18" name="Image 2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75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29626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 — 데일리 리포트 · 월간분석 · 대표님 브리핑 · 카톡용 일일요약 · 접속로그</a:t>
            </a:r>
            <a:endParaRPr lang="en-US" sz="1400" dirty="0"/>
          </a:p>
        </p:txBody>
      </p:sp>
      <p:pic>
        <p:nvPicPr>
          <p:cNvPr id="20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1363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858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생산현장 도구 — 세퍼레이터 계산기 · 코일창고 3D 뷰어 · 영업대상 고객사 리스트 · 장애원인분석(AI)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83680" y="5303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메인 ERP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583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상단 메뉴에서 각 리포트 확인 · [오성철강 연구실]에서 프로토타입 확인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3 · 마케팅 및 서비스 혁신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열린 창구 — 고객 접점을 AI로 넓히다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2298070"/>
            <a:ext cx="433060" cy="4330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213055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213055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51176" y="19933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72768" y="24414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직접 미출고 현황을 조회·인쇄하고 FAX로 받아볼 수 있는 24시간 창구입니다. 그린ERP 원본 양식 그대로 제공합니다.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고객사 포털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4472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37033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0" y="3779398"/>
            <a:ext cx="433060" cy="4330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72768" y="3611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1572768" y="3611880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51176" y="34747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OCR 24시간 주문접수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572768" y="392277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접수하고, 팩스로 받은 주문서 이미지도 OCR로 읽어 바로 발주 초안을 만듭니다.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5528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9286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21" name="Shape 17"/>
          <p:cNvSpPr/>
          <p:nvPr/>
        </p:nvSpPr>
        <p:spPr>
          <a:xfrm>
            <a:off x="804672" y="51846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wonderful-affectionate-thompson/mnt/outputs/icons/fax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50" y="5260726"/>
            <a:ext cx="433060" cy="4330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572768" y="509320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4" name="Text 19"/>
          <p:cNvSpPr/>
          <p:nvPr/>
        </p:nvSpPr>
        <p:spPr>
          <a:xfrm>
            <a:off x="1572768" y="509320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2551176" y="4956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 · 현장 코일확정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572768" y="540410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 작업요청서를 자동 인식해 초안을 만들고, 지게차 기사가 태블릿에서 코일을 확정하는 흐름까지 하나로 이었습니다.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955280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DEVELOPMENT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개발 서비스 10종 — 지금도 계속 만들고 있습니다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솔루션을 사다 쓰는 대신, 현장 요청을 받아 오성철강이 직접 기획하고 개발합니다.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57" y="2073493"/>
            <a:ext cx="351861" cy="3518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61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9" name="Text 6"/>
          <p:cNvSpPr/>
          <p:nvPr/>
        </p:nvSpPr>
        <p:spPr>
          <a:xfrm>
            <a:off x="1261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231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1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배차·코일확정까지 전체 흐름을 한 화면에서 봅니다.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9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4" name="Image 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757" y="2073493"/>
            <a:ext cx="351861" cy="35186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76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6976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46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76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주문서 이미지에서 텍스트를 자동으로 읽어냅니다.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7" y="3024469"/>
            <a:ext cx="351861" cy="35186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261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3" name="Text 18"/>
          <p:cNvSpPr/>
          <p:nvPr/>
        </p:nvSpPr>
        <p:spPr>
          <a:xfrm>
            <a:off x="1261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231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261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접수합니다.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63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9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8" name="Image 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57" y="3024469"/>
            <a:ext cx="351861" cy="351861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976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0" name="Text 24"/>
          <p:cNvSpPr/>
          <p:nvPr/>
        </p:nvSpPr>
        <p:spPr>
          <a:xfrm>
            <a:off x="6976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946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976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팩스로 온 작업요청서를 자동 인식해 초안을 만듭니다.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34" name="Shape 28"/>
          <p:cNvSpPr/>
          <p:nvPr/>
        </p:nvSpPr>
        <p:spPr>
          <a:xfrm>
            <a:off x="694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35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57" y="3975445"/>
            <a:ext cx="351861" cy="351861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261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7" name="Text 30"/>
          <p:cNvSpPr/>
          <p:nvPr/>
        </p:nvSpPr>
        <p:spPr>
          <a:xfrm>
            <a:off x="1261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2231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1261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지게차 기사가 태블릿에서 코일을 확정합니다.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263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1" name="Shape 34"/>
          <p:cNvSpPr/>
          <p:nvPr/>
        </p:nvSpPr>
        <p:spPr>
          <a:xfrm>
            <a:off x="6409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757" y="3975445"/>
            <a:ext cx="351861" cy="351861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976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44" name="Text 36"/>
          <p:cNvSpPr/>
          <p:nvPr/>
        </p:nvSpPr>
        <p:spPr>
          <a:xfrm>
            <a:off x="6976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7946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6976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계산합니다. (사무실용)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548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8" name="Shape 40"/>
          <p:cNvSpPr/>
          <p:nvPr/>
        </p:nvSpPr>
        <p:spPr>
          <a:xfrm>
            <a:off x="694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9" name="Image 6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757" y="4926421"/>
            <a:ext cx="351861" cy="351861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261872" y="4855464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51" name="Text 42"/>
          <p:cNvSpPr/>
          <p:nvPr/>
        </p:nvSpPr>
        <p:spPr>
          <a:xfrm>
            <a:off x="1261872" y="4855464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2596896" y="4800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400" dirty="0"/>
          </a:p>
        </p:txBody>
      </p:sp>
      <p:sp>
        <p:nvSpPr>
          <p:cNvPr id="53" name="Text 44"/>
          <p:cNvSpPr/>
          <p:nvPr/>
        </p:nvSpPr>
        <p:spPr>
          <a:xfrm>
            <a:off x="1261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직원 요청으로 시작 — 슬리터2 현장에 실배포된 자체 개발 서비스입니다.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6263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55" name="Shape 46"/>
          <p:cNvSpPr/>
          <p:nvPr/>
        </p:nvSpPr>
        <p:spPr>
          <a:xfrm>
            <a:off x="6409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6" name="Image 7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757" y="4926421"/>
            <a:ext cx="351861" cy="351861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6976872" y="4855464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58" name="Text 48"/>
          <p:cNvSpPr/>
          <p:nvPr/>
        </p:nvSpPr>
        <p:spPr>
          <a:xfrm>
            <a:off x="6976872" y="4855464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실데이터연동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8494776" y="4800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400" dirty="0"/>
          </a:p>
        </p:txBody>
      </p:sp>
      <p:sp>
        <p:nvSpPr>
          <p:cNvPr id="60" name="Text 50"/>
          <p:cNvSpPr/>
          <p:nvPr/>
        </p:nvSpPr>
        <p:spPr>
          <a:xfrm>
            <a:off x="6976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맡겨둔 거래처 중 최근 작업이 뜸한 곳을 자동으로 찾아줍니다. 실데이터로 동작합니다.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548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2" name="Shape 52"/>
          <p:cNvSpPr/>
          <p:nvPr/>
        </p:nvSpPr>
        <p:spPr>
          <a:xfrm>
            <a:off x="694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3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57" y="5877397"/>
            <a:ext cx="351861" cy="351861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1261872" y="5806440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65" name="Text 54"/>
          <p:cNvSpPr/>
          <p:nvPr/>
        </p:nvSpPr>
        <p:spPr>
          <a:xfrm>
            <a:off x="1261872" y="5806440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250" dirty="0"/>
          </a:p>
        </p:txBody>
      </p:sp>
      <p:sp>
        <p:nvSpPr>
          <p:cNvPr id="66" name="Text 55"/>
          <p:cNvSpPr/>
          <p:nvPr/>
        </p:nvSpPr>
        <p:spPr>
          <a:xfrm>
            <a:off x="2596896" y="57515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400" dirty="0"/>
          </a:p>
        </p:txBody>
      </p:sp>
      <p:sp>
        <p:nvSpPr>
          <p:cNvPr id="67" name="Text 56"/>
          <p:cNvSpPr/>
          <p:nvPr/>
        </p:nvSpPr>
        <p:spPr>
          <a:xfrm>
            <a:off x="1261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보관 코일을 3D/평면도로 보고, 출고 처리까지 할 수 있는 실제 배포 서비스입니다.</a:t>
            </a:r>
            <a:endParaRPr lang="en-US" sz="1100" dirty="0"/>
          </a:p>
        </p:txBody>
      </p:sp>
      <p:sp>
        <p:nvSpPr>
          <p:cNvPr id="68" name="Shape 57"/>
          <p:cNvSpPr/>
          <p:nvPr/>
        </p:nvSpPr>
        <p:spPr>
          <a:xfrm>
            <a:off x="6263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9" name="Shape 58"/>
          <p:cNvSpPr/>
          <p:nvPr/>
        </p:nvSpPr>
        <p:spPr>
          <a:xfrm>
            <a:off x="6409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9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1757" y="5877397"/>
            <a:ext cx="351861" cy="351861"/>
          </a:xfrm>
          <a:prstGeom prst="rect">
            <a:avLst/>
          </a:prstGeom>
        </p:spPr>
      </p:pic>
      <p:sp>
        <p:nvSpPr>
          <p:cNvPr id="71" name="Shape 59"/>
          <p:cNvSpPr/>
          <p:nvPr/>
        </p:nvSpPr>
        <p:spPr>
          <a:xfrm>
            <a:off x="6976872" y="58064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72" name="Text 60"/>
          <p:cNvSpPr/>
          <p:nvPr/>
        </p:nvSpPr>
        <p:spPr>
          <a:xfrm>
            <a:off x="6976872" y="58064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</a:t>
            </a:r>
            <a:endParaRPr lang="en-US" sz="1250" dirty="0"/>
          </a:p>
        </p:txBody>
      </p:sp>
      <p:sp>
        <p:nvSpPr>
          <p:cNvPr id="73" name="Text 61"/>
          <p:cNvSpPr/>
          <p:nvPr/>
        </p:nvSpPr>
        <p:spPr>
          <a:xfrm>
            <a:off x="7763256" y="57515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원인 분석 (AI)</a:t>
            </a:r>
            <a:endParaRPr lang="en-US" sz="1400" dirty="0"/>
          </a:p>
        </p:txBody>
      </p:sp>
      <p:sp>
        <p:nvSpPr>
          <p:cNvPr id="74" name="Text 62"/>
          <p:cNvSpPr/>
          <p:nvPr/>
        </p:nvSpPr>
        <p:spPr>
          <a:xfrm>
            <a:off x="6976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이력·CCTV 데이터를 AI가 분석해 사고 원인을 30분 내로 규명합니다. 실제 슬리터 사고 사례로 만든 샘플입니다.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서비스맵 — 하나의 ERP, 네 갈래의 서비스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522976" y="1051560"/>
            <a:ext cx="1143000" cy="114300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E8830F"/>
            </a:solidFill>
            <a:prstDash val="solid"/>
          </a:ln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21615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2976" y="16733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94476" y="2194560"/>
            <a:ext cx="-4274820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2724912" cy="3227832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1C7A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596896"/>
            <a:ext cx="2724912" cy="265176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상용 서비스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1792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250" dirty="0"/>
          </a:p>
        </p:txBody>
      </p:sp>
      <p:pic>
        <p:nvPicPr>
          <p:cNvPr id="14" name="Image 1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28269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관리 — 입고 FAX · 작업일보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944368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7" name="Image 2" descr="/sessions/wonderful-affectionate-thompson/mnt/outputs/icons/moneybill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04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관리 — 영업 워크플로우 · 스크랩매출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944368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0" name="Image 3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7822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관리 — 지출결의서 · 일계표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944368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3" name="Image 4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7598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944368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6" name="Image 5" descr="/sessions/wonderful-affectionate-thompson/mnt/outputs/icons/buildin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87375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944368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9" name="Image 6" descr="/sessions/wonderful-affectionate-thompson/mnt/outputs/icons/key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271516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관리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2944368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32" name="Shape 23"/>
          <p:cNvSpPr/>
          <p:nvPr/>
        </p:nvSpPr>
        <p:spPr>
          <a:xfrm>
            <a:off x="6094476" y="2194560"/>
            <a:ext cx="-1421892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33" name="Shape 24"/>
          <p:cNvSpPr/>
          <p:nvPr/>
        </p:nvSpPr>
        <p:spPr>
          <a:xfrm>
            <a:off x="3310128" y="2331720"/>
            <a:ext cx="2724912" cy="2034540"/>
          </a:xfrm>
          <a:prstGeom prst="roundRect">
            <a:avLst>
              <a:gd name="adj" fmla="val 4045"/>
            </a:avLst>
          </a:prstGeom>
          <a:solidFill>
            <a:srgbClr val="F4F6FA"/>
          </a:solidFill>
          <a:ln/>
        </p:spPr>
      </p:sp>
      <p:sp>
        <p:nvSpPr>
          <p:cNvPr id="34" name="Shape 25"/>
          <p:cNvSpPr/>
          <p:nvPr/>
        </p:nvSpPr>
        <p:spPr>
          <a:xfrm>
            <a:off x="3310128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3672B0"/>
          </a:solidFill>
          <a:ln/>
        </p:spPr>
      </p:sp>
      <p:sp>
        <p:nvSpPr>
          <p:cNvPr id="35" name="Shape 26"/>
          <p:cNvSpPr/>
          <p:nvPr/>
        </p:nvSpPr>
        <p:spPr>
          <a:xfrm>
            <a:off x="3310128" y="2596896"/>
            <a:ext cx="2724912" cy="265176"/>
          </a:xfrm>
          <a:prstGeom prst="rect">
            <a:avLst/>
          </a:prstGeom>
          <a:solidFill>
            <a:srgbClr val="3672B0"/>
          </a:solidFill>
          <a:ln/>
        </p:spPr>
      </p:sp>
      <p:sp>
        <p:nvSpPr>
          <p:cNvPr id="36" name="Text 27"/>
          <p:cNvSpPr/>
          <p:nvPr/>
        </p:nvSpPr>
        <p:spPr>
          <a:xfrm>
            <a:off x="3474720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배포 서비스</a:t>
            </a:r>
            <a:endParaRPr lang="en-US" sz="1550" dirty="0"/>
          </a:p>
        </p:txBody>
      </p:sp>
      <p:sp>
        <p:nvSpPr>
          <p:cNvPr id="37" name="Shape 28"/>
          <p:cNvSpPr/>
          <p:nvPr/>
        </p:nvSpPr>
        <p:spPr>
          <a:xfrm>
            <a:off x="3474720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38" name="Text 29"/>
          <p:cNvSpPr/>
          <p:nvPr/>
        </p:nvSpPr>
        <p:spPr>
          <a:xfrm>
            <a:off x="3474720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실배포</a:t>
            </a:r>
            <a:endParaRPr lang="en-US" sz="1250" dirty="0"/>
          </a:p>
        </p:txBody>
      </p:sp>
      <p:pic>
        <p:nvPicPr>
          <p:cNvPr id="39" name="Image 7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82696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767328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797296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680460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67328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5797296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5" name="Image 9" descr="/sessions/wonderful-affectionate-thompson/mnt/outputs/icons/satellite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4078224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767328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5797296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48" name="Shape 36"/>
          <p:cNvSpPr/>
          <p:nvPr/>
        </p:nvSpPr>
        <p:spPr>
          <a:xfrm>
            <a:off x="6094476" y="2194560"/>
            <a:ext cx="1431036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49" name="Shape 37"/>
          <p:cNvSpPr/>
          <p:nvPr/>
        </p:nvSpPr>
        <p:spPr>
          <a:xfrm>
            <a:off x="6163056" y="2331720"/>
            <a:ext cx="2724912" cy="4023360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50" name="Shape 38"/>
          <p:cNvSpPr/>
          <p:nvPr/>
        </p:nvSpPr>
        <p:spPr>
          <a:xfrm>
            <a:off x="6163056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C46B06"/>
          </a:solidFill>
          <a:ln/>
        </p:spPr>
      </p:sp>
      <p:sp>
        <p:nvSpPr>
          <p:cNvPr id="51" name="Shape 39"/>
          <p:cNvSpPr/>
          <p:nvPr/>
        </p:nvSpPr>
        <p:spPr>
          <a:xfrm>
            <a:off x="6163056" y="2596896"/>
            <a:ext cx="2724912" cy="265176"/>
          </a:xfrm>
          <a:prstGeom prst="rect">
            <a:avLst/>
          </a:prstGeom>
          <a:solidFill>
            <a:srgbClr val="C46B06"/>
          </a:solidFill>
          <a:ln/>
        </p:spPr>
      </p:sp>
      <p:sp>
        <p:nvSpPr>
          <p:cNvPr id="52" name="Text 40"/>
          <p:cNvSpPr/>
          <p:nvPr/>
        </p:nvSpPr>
        <p:spPr>
          <a:xfrm>
            <a:off x="6327648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</a:t>
            </a:r>
            <a:endParaRPr lang="en-US" sz="1550" dirty="0"/>
          </a:p>
        </p:txBody>
      </p:sp>
      <p:sp>
        <p:nvSpPr>
          <p:cNvPr id="53" name="Shape 41"/>
          <p:cNvSpPr/>
          <p:nvPr/>
        </p:nvSpPr>
        <p:spPr>
          <a:xfrm>
            <a:off x="6327648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54" name="Text 42"/>
          <p:cNvSpPr/>
          <p:nvPr/>
        </p:nvSpPr>
        <p:spPr>
          <a:xfrm>
            <a:off x="6327648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pic>
        <p:nvPicPr>
          <p:cNvPr id="55" name="Image 1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282696"/>
            <a:ext cx="219456" cy="219456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620256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100" dirty="0"/>
          </a:p>
        </p:txBody>
      </p:sp>
      <p:sp>
        <p:nvSpPr>
          <p:cNvPr id="57" name="Shape 44"/>
          <p:cNvSpPr/>
          <p:nvPr/>
        </p:nvSpPr>
        <p:spPr>
          <a:xfrm>
            <a:off x="8650224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8" name="Image 1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680460"/>
            <a:ext cx="219456" cy="219456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620256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8650224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1" name="Image 1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4078224"/>
            <a:ext cx="219456" cy="21945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620256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100" dirty="0"/>
          </a:p>
        </p:txBody>
      </p:sp>
      <p:sp>
        <p:nvSpPr>
          <p:cNvPr id="63" name="Shape 48"/>
          <p:cNvSpPr/>
          <p:nvPr/>
        </p:nvSpPr>
        <p:spPr>
          <a:xfrm>
            <a:off x="8650224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4" name="Image 1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4475988"/>
            <a:ext cx="219456" cy="219456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620256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100" dirty="0"/>
          </a:p>
        </p:txBody>
      </p:sp>
      <p:sp>
        <p:nvSpPr>
          <p:cNvPr id="66" name="Shape 50"/>
          <p:cNvSpPr/>
          <p:nvPr/>
        </p:nvSpPr>
        <p:spPr>
          <a:xfrm>
            <a:off x="8650224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7" name="Image 1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4873752"/>
            <a:ext cx="219456" cy="21945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6620256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100" dirty="0"/>
          </a:p>
        </p:txBody>
      </p:sp>
      <p:sp>
        <p:nvSpPr>
          <p:cNvPr id="69" name="Shape 52"/>
          <p:cNvSpPr/>
          <p:nvPr/>
        </p:nvSpPr>
        <p:spPr>
          <a:xfrm>
            <a:off x="8650224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1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5271516"/>
            <a:ext cx="219456" cy="219456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6620256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100" dirty="0"/>
          </a:p>
        </p:txBody>
      </p:sp>
      <p:sp>
        <p:nvSpPr>
          <p:cNvPr id="72" name="Shape 54"/>
          <p:cNvSpPr/>
          <p:nvPr/>
        </p:nvSpPr>
        <p:spPr>
          <a:xfrm>
            <a:off x="8650224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3" name="Image 16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5669280"/>
            <a:ext cx="219456" cy="219456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6620256" y="560527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100" dirty="0"/>
          </a:p>
        </p:txBody>
      </p:sp>
      <p:sp>
        <p:nvSpPr>
          <p:cNvPr id="75" name="Shape 56"/>
          <p:cNvSpPr/>
          <p:nvPr/>
        </p:nvSpPr>
        <p:spPr>
          <a:xfrm>
            <a:off x="8650224" y="569671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6" name="Image 17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6067044"/>
            <a:ext cx="219456" cy="219456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6620256" y="600303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장애원인분석 (AI)</a:t>
            </a:r>
            <a:endParaRPr lang="en-US" sz="1100" dirty="0"/>
          </a:p>
        </p:txBody>
      </p:sp>
      <p:sp>
        <p:nvSpPr>
          <p:cNvPr id="78" name="Shape 58"/>
          <p:cNvSpPr/>
          <p:nvPr/>
        </p:nvSpPr>
        <p:spPr>
          <a:xfrm>
            <a:off x="8650224" y="609447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9" name="Shape 59"/>
          <p:cNvSpPr/>
          <p:nvPr/>
        </p:nvSpPr>
        <p:spPr>
          <a:xfrm>
            <a:off x="6094476" y="2194560"/>
            <a:ext cx="4283964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0" name="Shape 60"/>
          <p:cNvSpPr/>
          <p:nvPr/>
        </p:nvSpPr>
        <p:spPr>
          <a:xfrm>
            <a:off x="9015984" y="2331720"/>
            <a:ext cx="2724912" cy="2830068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81" name="Shape 61"/>
          <p:cNvSpPr/>
          <p:nvPr/>
        </p:nvSpPr>
        <p:spPr>
          <a:xfrm>
            <a:off x="9015984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4D5C72"/>
          </a:solidFill>
          <a:ln/>
        </p:spPr>
      </p:sp>
      <p:sp>
        <p:nvSpPr>
          <p:cNvPr id="82" name="Shape 62"/>
          <p:cNvSpPr/>
          <p:nvPr/>
        </p:nvSpPr>
        <p:spPr>
          <a:xfrm>
            <a:off x="9015984" y="2596896"/>
            <a:ext cx="2724912" cy="265176"/>
          </a:xfrm>
          <a:prstGeom prst="rect">
            <a:avLst/>
          </a:prstGeom>
          <a:solidFill>
            <a:srgbClr val="4D5C72"/>
          </a:solidFill>
          <a:ln/>
        </p:spPr>
      </p:sp>
      <p:sp>
        <p:nvSpPr>
          <p:cNvPr id="83" name="Text 63"/>
          <p:cNvSpPr/>
          <p:nvPr/>
        </p:nvSpPr>
        <p:spPr>
          <a:xfrm>
            <a:off x="9180576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· 외부 연동</a:t>
            </a:r>
            <a:endParaRPr lang="en-US" sz="1550" dirty="0"/>
          </a:p>
        </p:txBody>
      </p:sp>
      <p:sp>
        <p:nvSpPr>
          <p:cNvPr id="84" name="Shape 64"/>
          <p:cNvSpPr/>
          <p:nvPr/>
        </p:nvSpPr>
        <p:spPr>
          <a:xfrm>
            <a:off x="9180576" y="293522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85" name="Text 65"/>
          <p:cNvSpPr/>
          <p:nvPr/>
        </p:nvSpPr>
        <p:spPr>
          <a:xfrm>
            <a:off x="9180576" y="2935224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endParaRPr lang="en-US" sz="1250" dirty="0"/>
          </a:p>
        </p:txBody>
      </p:sp>
      <p:pic>
        <p:nvPicPr>
          <p:cNvPr id="86" name="Image 18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0576" y="3282696"/>
            <a:ext cx="219456" cy="219456"/>
          </a:xfrm>
          <a:prstGeom prst="rect">
            <a:avLst/>
          </a:prstGeom>
        </p:spPr>
      </p:pic>
      <p:sp>
        <p:nvSpPr>
          <p:cNvPr id="87" name="Text 66"/>
          <p:cNvSpPr/>
          <p:nvPr/>
        </p:nvSpPr>
        <p:spPr>
          <a:xfrm>
            <a:off x="9473184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대시보드 · 작업선택 PAD</a:t>
            </a:r>
            <a:endParaRPr lang="en-US" sz="1100" dirty="0"/>
          </a:p>
        </p:txBody>
      </p:sp>
      <p:sp>
        <p:nvSpPr>
          <p:cNvPr id="88" name="Shape 67"/>
          <p:cNvSpPr/>
          <p:nvPr/>
        </p:nvSpPr>
        <p:spPr>
          <a:xfrm>
            <a:off x="11503152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89" name="Image 19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0576" y="3680460"/>
            <a:ext cx="219456" cy="219456"/>
          </a:xfrm>
          <a:prstGeom prst="rect">
            <a:avLst/>
          </a:prstGeom>
        </p:spPr>
      </p:pic>
      <p:sp>
        <p:nvSpPr>
          <p:cNvPr id="90" name="Text 68"/>
          <p:cNvSpPr/>
          <p:nvPr/>
        </p:nvSpPr>
        <p:spPr>
          <a:xfrm>
            <a:off x="9473184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 통합저장</a:t>
            </a:r>
            <a:endParaRPr lang="en-US" sz="1100" dirty="0"/>
          </a:p>
        </p:txBody>
      </p:sp>
      <p:sp>
        <p:nvSpPr>
          <p:cNvPr id="91" name="Shape 69"/>
          <p:cNvSpPr/>
          <p:nvPr/>
        </p:nvSpPr>
        <p:spPr>
          <a:xfrm>
            <a:off x="11503152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92" name="Image 20" descr="/sessions/wonderful-affectionate-thompson/mnt/outputs/icons/search_ambe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0576" y="4078224"/>
            <a:ext cx="219456" cy="219456"/>
          </a:xfrm>
          <a:prstGeom prst="rect">
            <a:avLst/>
          </a:prstGeom>
        </p:spPr>
      </p:pic>
      <p:sp>
        <p:nvSpPr>
          <p:cNvPr id="93" name="Text 70"/>
          <p:cNvSpPr/>
          <p:nvPr/>
        </p:nvSpPr>
        <p:spPr>
          <a:xfrm>
            <a:off x="9473184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품질검사시스템 (SAIGE VIMS) · 통합중</a:t>
            </a:r>
            <a:endParaRPr lang="en-US" sz="1100" dirty="0"/>
          </a:p>
        </p:txBody>
      </p:sp>
      <p:sp>
        <p:nvSpPr>
          <p:cNvPr id="94" name="Shape 71"/>
          <p:cNvSpPr/>
          <p:nvPr/>
        </p:nvSpPr>
        <p:spPr>
          <a:xfrm>
            <a:off x="11503152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5" name="Image 21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0576" y="4475988"/>
            <a:ext cx="219456" cy="219456"/>
          </a:xfrm>
          <a:prstGeom prst="rect">
            <a:avLst/>
          </a:prstGeom>
        </p:spPr>
      </p:pic>
      <p:sp>
        <p:nvSpPr>
          <p:cNvPr id="96" name="Text 72"/>
          <p:cNvSpPr/>
          <p:nvPr/>
        </p:nvSpPr>
        <p:spPr>
          <a:xfrm>
            <a:off x="9473184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</a:t>
            </a:r>
            <a:endParaRPr lang="en-US" sz="1100" dirty="0"/>
          </a:p>
        </p:txBody>
      </p:sp>
      <p:sp>
        <p:nvSpPr>
          <p:cNvPr id="97" name="Shape 73"/>
          <p:cNvSpPr/>
          <p:nvPr/>
        </p:nvSpPr>
        <p:spPr>
          <a:xfrm>
            <a:off x="11503152" y="4503420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8" name="Image 22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0576" y="4873752"/>
            <a:ext cx="219456" cy="219456"/>
          </a:xfrm>
          <a:prstGeom prst="rect">
            <a:avLst/>
          </a:prstGeom>
        </p:spPr>
      </p:pic>
      <p:sp>
        <p:nvSpPr>
          <p:cNvPr id="99" name="Text 74"/>
          <p:cNvSpPr/>
          <p:nvPr/>
        </p:nvSpPr>
        <p:spPr>
          <a:xfrm>
            <a:off x="9473184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</a:t>
            </a:r>
            <a:endParaRPr lang="en-US" sz="1100" dirty="0"/>
          </a:p>
        </p:txBody>
      </p:sp>
      <p:sp>
        <p:nvSpPr>
          <p:cNvPr id="100" name="Shape 75"/>
          <p:cNvSpPr/>
          <p:nvPr/>
        </p:nvSpPr>
        <p:spPr>
          <a:xfrm>
            <a:off x="11503152" y="4901184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101" name="Text 76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   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도입/연동</a:t>
            </a:r>
            <a:endParaRPr lang="en-US" sz="1050" dirty="0"/>
          </a:p>
        </p:txBody>
      </p:sp>
      <p:sp>
        <p:nvSpPr>
          <p:cNvPr id="102" name="Text 77"/>
          <p:cNvSpPr/>
          <p:nvPr/>
        </p:nvSpPr>
        <p:spPr>
          <a:xfrm>
            <a:off x="4206240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연구실 프로토타입은 ERP 로그인 후 [오성철강 연구실] 메뉴에서, 나머지는 각 서비스 화면에서 바로 확인할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한 조각 — 레벨링 라인 품질측정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슬리팅은 AI 비전으로 이미 검사하고 있지만, 레벨링 라인은 아직 사람의 눈에만 의존하고 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반월시화 AX사업  </a:t>
            </a:r>
            <a:pPr indent="0" marL="0">
              <a:buNone/>
            </a:pPr>
            <a:r>
              <a:rPr lang="en-US" sz="15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총사업비 5,500만 원 (정부출연금 4,950만 원)   |   2026.07 ~ 12 도입   |   공급사 (주)한줌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47548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(AS-IS)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(TO-BE)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철판 전수 검사율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8388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(인라인 연속 촬영)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· 표면 불량 검출률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불가 (수작업)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이상 (3D 라인스캔 + 레이저)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정지 횟수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1회 이상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8388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(무정지 자동검사)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30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품질데이터 기록 보관율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8388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(최소 1년 보존)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정지 없는 전수 검사로 생산성과 품질을 동시에 극대화합니다.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충분합니다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하나만 비어 있던 마지막 칸 — 나머지 데이터 자산은 이미 쌓였고, 신뢰성까지 직접 검증했습니다.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625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입고·출고·재고, 10분 간격 자동 동기화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3" name="Image 1" descr="/sessions/wonderful-affectionate-thompson/mnt/outputs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625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5760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16" name="Text 12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9" name="Image 2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1625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3796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22" name="Text 17"/>
          <p:cNvSpPr/>
          <p:nvPr/>
        </p:nvSpPr>
        <p:spPr>
          <a:xfrm>
            <a:off x="653796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 초정밀 실시간 운전 로그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8972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9088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5" name="Image 3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625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696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41832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28" name="Text 22"/>
          <p:cNvSpPr/>
          <p:nvPr/>
        </p:nvSpPr>
        <p:spPr>
          <a:xfrm>
            <a:off x="94183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이벤트 88,059건 (슬리팅 표면검사)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3749040"/>
            <a:ext cx="11292840" cy="713232"/>
          </a:xfrm>
          <a:prstGeom prst="roundRect">
            <a:avLst>
              <a:gd name="adj" fmla="val 10256"/>
            </a:avLst>
          </a:prstGeom>
          <a:solidFill>
            <a:srgbClr val="16283F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데이터 자산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680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700" dirty="0"/>
          </a:p>
        </p:txBody>
      </p:sp>
      <p:sp>
        <p:nvSpPr>
          <p:cNvPr id="32" name="Text 26"/>
          <p:cNvSpPr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 축적이 아니라, 직접 검증했습니다</a:t>
            </a:r>
            <a:endParaRPr lang="en-US" sz="1850" dirty="0"/>
          </a:p>
        </p:txBody>
      </p:sp>
      <p:pic>
        <p:nvPicPr>
          <p:cNvPr id="33" name="Image 4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5721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7824" y="508406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실API 직접 조사로 표면검사 시스템 규모(1,953건 · 결함 88,059건 · 2025-12~2026-07)를 재확인</a:t>
            </a:r>
            <a:endParaRPr lang="en-US" sz="1400" dirty="0"/>
          </a:p>
        </p:txBody>
      </p:sp>
      <p:pic>
        <p:nvPicPr>
          <p:cNvPr id="35" name="Image 5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2297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7824" y="54498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 확인 — 상단 카메라(5클래스, 학습완료) · 측면 카메라(2클래스, 학습중)</a:t>
            </a:r>
            <a:endParaRPr lang="en-US" sz="1400" dirty="0"/>
          </a:p>
        </p:txBody>
      </p:sp>
      <p:pic>
        <p:nvPicPr>
          <p:cNvPr id="37" name="Image 6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88736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7824" y="581558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 이슈를 직접 발견 — 일부 코일은 결함의 최대 94.2%가 실결함 아닌 데모 데이터</a:t>
            </a:r>
            <a:endParaRPr lang="en-US" sz="1400" dirty="0"/>
          </a:p>
        </p:txBody>
      </p:sp>
      <p:pic>
        <p:nvPicPr>
          <p:cNvPr id="39" name="Image 7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25449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7824" y="61813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5개 코일 표본조사로 ‘두께측정 미가동’ 상태를 직접 확인 — 놓치지 않고 개선 과제로 반영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04288" cy="310896"/>
          </a:xfrm>
          <a:prstGeom prst="roundRect">
            <a:avLst>
              <a:gd name="adj" fmla="val 17647"/>
            </a:avLst>
          </a:prstGeom>
          <a:solidFill>
            <a:srgbClr val="1628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042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별첨 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SAIGE VIMS 데이터 상세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표면검사 AI(세이지 외부 플랫폼)를 실제 API까지 직접 조사해 확인한 데이터 규모와 품질 이슈입니다.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1,953건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작업 건수 (2025-12-15~2026-07-29)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88,059건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61188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결함 이벤트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2종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49224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모델 (상단 5클래스·측면 2클래스)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7260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 결함 중 데모데이터 비중 (최대)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SLITING2 결함 집중도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447288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83,337건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건수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46888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결함 중 비중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110.7건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25196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평균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모델 구성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13 · 상단 카메라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651760" y="5120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5클래스 — 세로스크래치 학습완료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431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15 · 측면 카메라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651760" y="54315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2클래스 — 가로스크래치 학습중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품질 이슈 — 직접 발견·검증한 내용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3640" y="3447288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5204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7581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코일은 결함의 최대 94.2%가 실제 결함이 아닌 데모 데이터 — 20개 코일 표본 중 30%가 영향, 전체 이벤트의 33%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416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미가동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46542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코일 표본조사 결과 전부 측정값 0건 — 두께 데이터가 아직 쌓이지 않고 있음을 직접 확인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5239512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5312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구성 불일치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46520" y="55504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응답은 카메라 3대뿐이지만, 실제 이벤트 데이터에는 8종(실시간 5 + 데모 3) 카메라명이 존재 — 세이지 측 확인 필요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6172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6EEF8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6172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 발견 사항을 바탕으로 세이지와 플랫폼 통합을 진행 중이며, 통합 완료 시 데모 데이터 자동 필터링·카메라 마스터 정합까지 함께 반영합니다.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Coil ID로, 입고부터 출고까지 잇는다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하나의 전 생애가 처음으로 완전히 연결됩니다.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2311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6" name="Image 0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468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11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입고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311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856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8536" y="2286000"/>
            <a:ext cx="1554480" cy="1554480"/>
          </a:xfrm>
          <a:prstGeom prst="ellipse">
            <a:avLst/>
          </a:prstGeom>
          <a:solidFill>
            <a:srgbClr val="FDECD6"/>
          </a:solidFill>
          <a:ln w="31750">
            <a:solidFill>
              <a:srgbClr val="E8830F"/>
            </a:solidFill>
            <a:prstDash val="solid"/>
          </a:ln>
        </p:spPr>
      </p:sp>
      <p:pic>
        <p:nvPicPr>
          <p:cNvPr id="11" name="Image 1" descr="/sessions/wonderful-affectionate-thompson/mnt/outputs/icons/tool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885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레벨링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2885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신규 AI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28853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이번 신규 서비스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17" name="Image 2" descr="/sessions/wonderful-affectionate-thompson/mnt/outputs/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4688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슬리팅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459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004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033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22" name="Image 3" descr="/sessions/wonderful-affectionate-thompson/mnt/outputs/icons/tru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4688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033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출고/매출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4033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명확화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77240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시점 불량(소재)과 가공 불량을 완벽하게 분리해 분쟁을 줄입니다.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25112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9" name="Text 23"/>
          <p:cNvSpPr/>
          <p:nvPr/>
        </p:nvSpPr>
        <p:spPr>
          <a:xfrm>
            <a:off x="4553712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고도화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4553712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포털에 코일별 정밀 품질 리포트를 증빙 자료로 자동 제공합니다.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8101584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32" name="Text 26"/>
          <p:cNvSpPr/>
          <p:nvPr/>
        </p:nvSpPr>
        <p:spPr>
          <a:xfrm>
            <a:off x="8330184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산출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8330184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데이터와 연결해 정확한 ROI와 절감액을 도출합니다.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단위 기술이 아니라, 사업모델 전환의 핵심입니다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하청업체에서 통합 서비스 제공업체로 — 오성철강은 고객과의 접점부터 배송까지, 전 과정을 하나의 서비스로 묶고 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4D5C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2880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가공 하청업체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전화로만 주문을 접수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담당자가 수기로 작업지시서 작성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진행상황·품질 문의는 그때그때 확인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접점(주문)부터 배송까지 각 단계가 분리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28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883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5236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서비스 제공업체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24시간 카카오톡·고객포털로 주문 접수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접수 즉시 자동으로 작업지시 생성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고객이 포털에서 진행상황·품질 데이터 실시간 확인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접점부터 배송까지 하나의 데이터로 연결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접점 → 배송까지, 전 과정을 서비스로 연결합니다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346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3" name="Image 0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01" y="4673041"/>
            <a:ext cx="575158" cy="5751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접점 · 주문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고객포털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55520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1508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8" name="Image 1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549" y="4673041"/>
            <a:ext cx="575158" cy="57515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456688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456688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자동 지시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163568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29556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3" name="Image 2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7" y="4673041"/>
            <a:ext cx="575158" cy="57515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364736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· 품질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364736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SAIGE VIMS · 레벨러 AI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071616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737604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8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645" y="4673041"/>
            <a:ext cx="575158" cy="57515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72784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272784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· 출고관리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979664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645652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3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693" y="4673041"/>
            <a:ext cx="575158" cy="57515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180832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· 사후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180832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 자동 리포트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9887712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55370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8" name="Image 5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741" y="4673041"/>
            <a:ext cx="575158" cy="57515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8888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축적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1008888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Coil ID DB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MODEL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서비스에 AI를 더하면, 새로운 서비스가 됩니다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제조업에 IT 서비스를 결합해, 가공만 하던 기존 서비스를 새로운 서비스 모델로 만드는 것이 오성철강 AX의 목표입니다.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03704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298802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30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28800" y="23865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(Slitting)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2569464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166360" y="2569464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434840" y="22494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669280" y="2203704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4" name="Image 1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78" y="2298802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130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29400" y="23865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품질 검사 · SAIGE VIMS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629400" y="2734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탐지 자동화, 실시간 품질 모니터링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282696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520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615538"/>
            <a:ext cx="541325" cy="5413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3447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82880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전화 주문 접수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343400" y="3886200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5166360" y="3886200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4434840" y="3566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669280" y="3520440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7" name="Image 3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3615538"/>
            <a:ext cx="541325" cy="5413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29400" y="3447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629400" y="3703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자동 접수 · 즉시 작업지시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662940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카카오톡·포털 접수 + RPA 자동 작업지시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4599432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32" name="Shape 26"/>
          <p:cNvSpPr/>
          <p:nvPr/>
        </p:nvSpPr>
        <p:spPr>
          <a:xfrm>
            <a:off x="868680" y="483717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4932274"/>
            <a:ext cx="541325" cy="5413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4764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828800" y="5020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수기 재고 관리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4343400" y="5202936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37" name="Shape 30"/>
          <p:cNvSpPr/>
          <p:nvPr/>
        </p:nvSpPr>
        <p:spPr>
          <a:xfrm>
            <a:off x="5166360" y="5202936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38" name="Text 31"/>
          <p:cNvSpPr/>
          <p:nvPr/>
        </p:nvSpPr>
        <p:spPr>
          <a:xfrm>
            <a:off x="4434840" y="48828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39" name="Shape 32"/>
          <p:cNvSpPr/>
          <p:nvPr/>
        </p:nvSpPr>
        <p:spPr>
          <a:xfrm>
            <a:off x="5669280" y="4837176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0" name="Image 5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378" y="4932274"/>
            <a:ext cx="541325" cy="54132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29400" y="4764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629400" y="5020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코일창고 3D 뷰어 · 출고관리</a:t>
            </a:r>
            <a:endParaRPr lang="en-US" sz="1550" dirty="0"/>
          </a:p>
        </p:txBody>
      </p:sp>
      <p:sp>
        <p:nvSpPr>
          <p:cNvPr id="43" name="Text 35"/>
          <p:cNvSpPr/>
          <p:nvPr/>
        </p:nvSpPr>
        <p:spPr>
          <a:xfrm>
            <a:off x="6629400" y="5367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위치 추적, 출고 처리 자동화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548640" y="597103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6283F"/>
          </a:solidFill>
          <a:ln/>
        </p:spPr>
      </p:sp>
      <p:sp>
        <p:nvSpPr>
          <p:cNvPr id="45" name="Text 37"/>
          <p:cNvSpPr/>
          <p:nvPr/>
        </p:nvSpPr>
        <p:spPr>
          <a:xfrm>
            <a:off x="868680" y="59710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 + IT 서비스 = 새로운 서비스 모델 — </a:t>
            </a:r>
            <a:pPr indent="0" marL="0"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오성철강은 가공 기술에 AI·IT 서비스를 더해, 고객에게 새로운 가치를 제공하는 서비스 기업으로 나아가고 있습니다.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레벨링을 위해, 우리는 이렇게 갑니다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AX 실증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전수검사율 100% 달성 및 데이터 신뢰성 확보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9080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25112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5232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85232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서비스 연계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영업·현장 태블릿에 품질 이력 통합 대시보드 반영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45552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01584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61704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61704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산업단지 확산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75904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~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75904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누적된 품질 + PLC 데이터로 예지보전 모델 구축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73384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434840"/>
            <a:ext cx="10433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단순한 기업 내 자동화를 넘어, 중대재해를 예방하고 숙련공의 노하우를 디지털화하는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‘반월시화 산업단지 4,000여 개 코일 가공업체의 AI 제조혁신 표준 모델’로 도약하겠습니다.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fla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0292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장비가 아니라, 데이터와 사람이 답이었습니다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도전(장비)의 실패에서 배워, AI 3차례의 도전으로 여기까지 왔습니다. 이제 마지막 한 조각, 레벨링 라인 품질측정만 남았습니다.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노하우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1,872,953건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52044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데이터 자산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2179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실서비스 · 프로토타입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1540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915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실증 완료</a:t>
            </a:r>
            <a:endParaRPr lang="en-US" sz="135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2026-07-29T16:48:48Z</dcterms:created>
  <dcterms:modified xsi:type="dcterms:W3CDTF">2026-07-29T16:48:48Z</dcterms:modified>
</cp:coreProperties>
</file>