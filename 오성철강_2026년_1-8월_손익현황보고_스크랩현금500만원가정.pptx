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총매출(현금가정 포함)</c:v>
                </c:pt>
              </c:strCache>
            </c:strRef>
          </c:tx>
          <c:spPr>
            <a:solidFill>
              <a:srgbClr val="0F2647"/>
            </a:solidFill>
            <a:ln w="31750" cap="flat">
              <a:solidFill>
                <a:srgbClr val="0F26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2647"/>
              </a:solidFill>
              <a:ln w="9525" cap="flat">
                <a:solidFill>
                  <a:srgbClr val="0F26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81711800</c:v>
                </c:pt>
                <c:pt idx="1">
                  <c:v>59514650</c:v>
                </c:pt>
                <c:pt idx="2">
                  <c:v>80263285</c:v>
                </c:pt>
                <c:pt idx="3">
                  <c:v>73145145</c:v>
                </c:pt>
                <c:pt idx="4">
                  <c:v>90872065</c:v>
                </c:pt>
                <c:pt idx="5">
                  <c:v>84638555</c:v>
                </c:pt>
                <c:pt idx="6">
                  <c:v>78029450</c:v>
                </c:pt>
                <c:pt idx="7">
                  <c:v>76045580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영업비용</c:v>
                </c:pt>
              </c:strCache>
            </c:strRef>
          </c:tx>
          <c:spPr>
            <a:solidFill>
              <a:srgbClr val="B91C1C"/>
            </a:solidFill>
            <a:ln w="31750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70338524</c:v>
                </c:pt>
                <c:pt idx="1">
                  <c:v>82584837</c:v>
                </c:pt>
                <c:pt idx="2">
                  <c:v>70961860</c:v>
                </c:pt>
                <c:pt idx="3">
                  <c:v>63793546</c:v>
                </c:pt>
                <c:pt idx="4">
                  <c:v>59745896</c:v>
                </c:pt>
                <c:pt idx="5">
                  <c:v>76780449</c:v>
                </c:pt>
                <c:pt idx="6">
                  <c:v>94554314</c:v>
                </c:pt>
                <c:pt idx="7">
                  <c:v>73371083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,,&quot;백만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89320"/>
            <a:ext cx="12188952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5" name="Image 0" descr="/sessions/happy-laughing-euler/mnt/outputs/ceo_deck/icons/b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99669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 현황 보고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2026년 1-8월 손익 현황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(스크랩 현금매출 월 500만원 가정)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2026년 1월 ~ 8월 · 통장 기록 + 스크랩 현금매출 월 5,000,000원 가정 반영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작성일  2026-09-01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0" y="6126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ERP2.0 · 경영보고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보고 드릴 내용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1155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109728" cy="105156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883664"/>
            <a:ext cx="749808" cy="749808"/>
          </a:xfrm>
          <a:prstGeom prst="ellipse">
            <a:avLst/>
          </a:prstGeom>
          <a:solidFill>
            <a:srgbClr val="0F2647"/>
          </a:solidFill>
          <a:ln/>
        </p:spPr>
      </p:sp>
      <p:pic>
        <p:nvPicPr>
          <p:cNvPr id="9" name="Image 0" descr="/sessions/happy-laughing-euler/mnt/outputs/ceo_deck/icons/mone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0312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834640" y="18105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개요 및 핵심 요약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2834640" y="22677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 기준(현금 가정 포함) · 총매출/영업비용/손익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2971800"/>
            <a:ext cx="11155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971800"/>
            <a:ext cx="109728" cy="1051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Shape 12"/>
          <p:cNvSpPr/>
          <p:nvPr/>
        </p:nvSpPr>
        <p:spPr>
          <a:xfrm>
            <a:off x="822960" y="3118104"/>
            <a:ext cx="749808" cy="74980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6" name="Image 1" descr="/sessions/happy-laughing-euler/mnt/outputs/ceo_deck/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33756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28800" y="3063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2834640" y="30449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월별 추이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2834640" y="3502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1-8월 매출·비용·손익 흐름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2920" y="4206240"/>
            <a:ext cx="11155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2920" y="4206240"/>
            <a:ext cx="109728" cy="1051560"/>
          </a:xfrm>
          <a:prstGeom prst="rect">
            <a:avLst/>
          </a:prstGeom>
          <a:solidFill>
            <a:srgbClr val="2D5DA1"/>
          </a:solidFill>
          <a:ln/>
        </p:spPr>
      </p:sp>
      <p:sp>
        <p:nvSpPr>
          <p:cNvPr id="22" name="Shape 18"/>
          <p:cNvSpPr/>
          <p:nvPr/>
        </p:nvSpPr>
        <p:spPr>
          <a:xfrm>
            <a:off x="822960" y="4352544"/>
            <a:ext cx="749808" cy="749808"/>
          </a:xfrm>
          <a:prstGeom prst="ellipse">
            <a:avLst/>
          </a:prstGeom>
          <a:solidFill>
            <a:srgbClr val="2D5DA1"/>
          </a:solidFill>
          <a:ln/>
        </p:spPr>
      </p:sp>
      <p:pic>
        <p:nvPicPr>
          <p:cNvPr id="23" name="Image 2" descr="/sessions/happy-laughing-euler/mnt/outputs/ceo_deck/icons/coin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572000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828800" y="4297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5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2834640" y="42793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비용 구조 및 특이월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2834640" y="4736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영업비용 상위 항목 · 2월/5월/7월/8월 설명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502920" y="5440680"/>
            <a:ext cx="11155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02920" y="5440680"/>
            <a:ext cx="109728" cy="10515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9" name="Shape 24"/>
          <p:cNvSpPr/>
          <p:nvPr/>
        </p:nvSpPr>
        <p:spPr>
          <a:xfrm>
            <a:off x="822960" y="5586984"/>
            <a:ext cx="749808" cy="74980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30" name="Image 3" descr="/sessions/happy-laughing-euler/mnt/outputs/ceo_deck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5806440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828800" y="5532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32" name="Text 26"/>
          <p:cNvSpPr/>
          <p:nvPr/>
        </p:nvSpPr>
        <p:spPr>
          <a:xfrm>
            <a:off x="2834640" y="55138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 및 결론</a:t>
            </a:r>
            <a:endParaRPr lang="en-US" sz="1900" dirty="0"/>
          </a:p>
        </p:txBody>
      </p:sp>
      <p:sp>
        <p:nvSpPr>
          <p:cNvPr id="33" name="Text 27"/>
          <p:cNvSpPr/>
          <p:nvPr/>
        </p:nvSpPr>
        <p:spPr>
          <a:xfrm>
            <a:off x="2834640" y="5971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가정의 한계, 확인 필요 사항, 결론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36576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손익 현황 보고 (스크랩현금 월500만원 가정)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개요 · 핵심 요약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스크랩 현금매출 가정 반영 1-8월 손익 요약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155680" cy="566928"/>
          </a:xfrm>
          <a:prstGeom prst="rect">
            <a:avLst/>
          </a:prstGeom>
          <a:solidFill>
            <a:srgbClr val="EAF0FA"/>
          </a:solidFill>
          <a:ln w="12700">
            <a:solidFill>
              <a:srgbClr val="2D5D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총매출 = ERP매출 + 스크랩매출(은행) + 스크랩 현금매출(월 5,000,000원 가정, 8개월 40,000,000원)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94560"/>
            <a:ext cx="3566160" cy="9144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957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총매출 (8개월)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624,220,530원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현금가정 40,000,000원 포함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0248" y="21945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2194560"/>
            <a:ext cx="3566160" cy="9144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23957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영업비용 (8개월)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2697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592,130,509원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498848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인건비·이자·공과금 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37576" y="21945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7576" y="2194560"/>
            <a:ext cx="3566160" cy="91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23957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 (8개월)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66176" y="2697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+32,090,021원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66176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흑자 · 2개월 적자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160520"/>
            <a:ext cx="11155680" cy="1371600"/>
          </a:xfrm>
          <a:prstGeom prst="rect">
            <a:avLst/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370832"/>
            <a:ext cx="731520" cy="73152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5" name="Image 0" descr="/sessions/happy-laughing-euler/mnt/outputs/ceo_deck/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4590288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691640" y="42611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가정 사항 안내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691640" y="4599432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 현금매출은 실제 확인된 금액이 아니라, 월 약 5,000,000원 수준일 것이라는 가정을 모든 달에 동일하게 적용한 추정치입니다. 실제 확인된 현금은 7월 5,396,000원뿐이며 나머지 달은 미확인입니다.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36576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손익 현황 보고 (스크랩현금 월500만원 가정)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월별 추이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월별 매출·비용·손익 추이 (1-8월, 현금가정 포함)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17320"/>
          <a:ext cx="111556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709160"/>
            <a:ext cx="11155680" cy="1463040"/>
          </a:xfrm>
          <a:prstGeom prst="rect">
            <a:avLst/>
          </a:prstGeom>
          <a:solidFill>
            <a:srgbClr val="E8F5EC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4937760"/>
            <a:ext cx="731520" cy="73152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9" name="Image 0" descr="/sessions/happy-laughing-euler/mnt/outputs/ceo_deck/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515721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4828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현금가정 반영 시 8월도 흑자로 전환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91640" y="51663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500만원 현금가정을 더하면 2월·7월만 적자로 남고, 8월은 +2,674,497원으로 흑자 전환됩니다. 5월이 가장 좋았습니다(+31,126,169원).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6576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손익 현황 보고 (스크랩현금 월500만원 가정)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비용 구조 · 특이월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영업비용 구조 및 특이월 설명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영업비용 상위 항목 (8개월 합계)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5669280" cy="320040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005840"/>
              </a:tblGrid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항목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금액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비중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인건비-급여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285,671,780원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이자비용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58,250,637원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인건비-4대보험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48,057,590원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수도광열비-전기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45,142,950원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카드대금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42,246,390원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세금과공과-부가가치세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29,284,630원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외주가공비/자재비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18,365,924원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기타 23개 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65,110,608원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46520" y="1417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특이월 설명 (현금가정 반영 손익)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46520" y="1783080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783080"/>
            <a:ext cx="91440" cy="71323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18379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2월 · -23,070,187원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20840" y="21488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부가가치세 분기 납부 집중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46520" y="2624328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2624328"/>
            <a:ext cx="91440" cy="7132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2679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5월 · +31,126,169원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20840" y="29900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스크랩(은행) 매출 최대, 비용 최저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46520" y="3465576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6520" y="3465576"/>
            <a:ext cx="91440" cy="71323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6"/>
          <p:cNvSpPr/>
          <p:nvPr/>
        </p:nvSpPr>
        <p:spPr>
          <a:xfrm>
            <a:off x="6720840" y="3520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7월 · -16,524,864원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20840" y="38313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영업비용 8개월 중 최고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46520" y="4306824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46520" y="4306824"/>
            <a:ext cx="91440" cy="7132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Text 20"/>
          <p:cNvSpPr/>
          <p:nvPr/>
        </p:nvSpPr>
        <p:spPr>
          <a:xfrm>
            <a:off x="6720840" y="43616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8월 · +2,674,497원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20840" y="46725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현금가정 반영 시 흑자 전환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6576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손익 현황 보고 (스크랩현금 월500만원 가정)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한계 및 결론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가정의 한계, 확인 필요 사항, 결론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 및 확인 필요 사항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 현금매출 월 5,000,000원은 가정치 — 실제 확인된 것은 7월 5,396,000원뿐, 나머지 달은 미확인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0428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 매출 부가가치세(VAT) 부분은 통장 입금 기록이 없어 별도 확인 필요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08376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71216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 5건(월 870,600원, 단체보험 추정)은 아직 성격 확인 미완료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38144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매출(발생주의)·비용(현금주의) 기준 혼재 — 확정 손익은 세무/회계 결산 자료로 별도 확인 필요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206240"/>
            <a:ext cx="11155680" cy="1920240"/>
          </a:xfrm>
          <a:prstGeom prst="rect">
            <a:avLst/>
          </a:prstGeom>
          <a:solidFill>
            <a:srgbClr val="E8F5EC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434840"/>
            <a:ext cx="777240" cy="77724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7" name="Image 0" descr="/sessions/happy-laughing-euler/mnt/outputs/ceo_deck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4654296"/>
            <a:ext cx="338328" cy="33832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373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737360" y="470916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 현금매출 월 500만원 가정 시 1-8월 손익은 총매출 624,220,530원 - 영업비용 592,130,509원 = +32,090,021원로 흑자입니다. 8개월 중 6개월은 흑자, 2개월(2월·7월)만 적자로 남으며, 통장 내역만 기준(별도자료, -7,909,979원)보다 40,000,000원 개선된 수치입니다.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576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손익 현황 보고 (스크랩현금 월500만원 가정)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2026-09-01T04:33:53Z</dcterms:created>
  <dcterms:modified xsi:type="dcterms:W3CDTF">2026-09-01T04:33:53Z</dcterms:modified>
</cp:coreProperties>
</file>