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43년 제조업 + AI, 그리고 다문화 상생. 세 가지 외부 인증으로 신뢰를 먼저 제시한다.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칸으로 전체 서사를 압축. 실패→자산→질문→결과.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심사위원이 배점표를 들고 읽을 수 있도록 매핑을 먼저 제시한다.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회사 소개이자 위기 예고. 마지막 배너에서 '전통'을 '노후'로 재정의한다.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실패를 숨기지 않고 금액까지 공개한다. 이 정직함이 뒤의 성과를 믿게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상을 받고도 매출이 안 움직인 이유 = 현장 미사용 + 고객 전달 통로 부재.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번의 사업 실패 밑에 깔린 구조적 위기 — 인력 양극화와 기술 단절.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질문의 전환이 혁신의 출발점. 목표 3개 모두 측정 지표를 붙였다.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전략의 핵심 = 버리지 않고 덧붙인다. 이것이 E 항목의 근거이기도 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조직도 자체가 혁신의 증거 — 연구실이 대표 직속이고, 그 실장이 근로자 대표를 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 질문에 답할 데이터는 이미 있었다. 서비스로 만들 생각을 못 했을 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혁신의 단위는 '시스템'이 아니라 '답하지 못한 질문 하나'.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고객이 원한 건 더 좋은 기술이 아니라, 다른 데서 다 되는 것이 여기서만 안 되는 그 불편의 해소였다.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혁신을 프로젝트가 아니라 사이클로 정의. 41개는 그 사이클의 산출물.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젊은 직원이 없어 혁신이 불가능하다는 제조업에서, 외국인 근로자가 그 역할을 수행한다.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역멘토링은 구호가 아니라 예산과 목표치가 붙은 사업이다.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교육·훈련 프로그램 4종. 모두 실제 운영 중이며 예산과 횟수가 명시돼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재무 수치는 별첨 재무제표로 채운다. 발표 시 절대액이 아니라 밀도 프레임으로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리드타임 2시간 30분 단축은 라인 가동시간 증가 → 매출로 이어지는 인과의 출발점.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품질 성과의 본질은 검사율이 아니라 책임 소재를 데이터로 가린다는 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0원·0건·0명 — 투자 없이 얻은 성과라는 점이 중소기업 심사에서 강력하다.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고용 성과는 ④ 경영성과와 ⑦ 사회(S) 양쪽에서 득점한다.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환경경영은 선언이 아니라 외부 진단 등급과 지역 포럼 발표로 증명.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E의 핵심 논리: 비용을 쓰는 ESG가 아니라 돈을 버는 ESG.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자원순환을 추상적으로 말하지 않고 코일 15톤·2km라는 물리량으로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S의 최강 카드. 외부 인증 3종을 상단에 고정 배치.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안전은 투자 금액·국제인증·무재해 기록의 3종 증빙으로 제시.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연도별 ESG 연혁을 보여줘 '올해 급조한 ESG'가 아님을 증명.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G의 핵심: 법적 의무가 없는데도 자발적으로 만든 거버넌스.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마무리. 세 개의 꿈으로 닫고, AI 모델공장 지정 요청으로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14300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제33회 기업혁신대상 · 활동사례 및 성과 소개자료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737360"/>
            <a:ext cx="11057839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 된 철판 공장이</a:t>
            </a:r>
            <a:endParaRPr lang="en-US" sz="42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서비스 회사로 다시 시작합니다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566928" y="3703320"/>
            <a:ext cx="2377440" cy="0"/>
          </a:xfrm>
          <a:prstGeom prst="line">
            <a:avLst/>
          </a:prstGeom>
          <a:noFill/>
          <a:ln w="31750">
            <a:solidFill>
              <a:srgbClr val="F0C4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3931920"/>
            <a:ext cx="95097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실패, 187만 건의 데이터, 그리고 60대 장인과 20대 외국인 청년이 함께 만든 54개의 AI 서비스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80560" y="4892040"/>
            <a:ext cx="2926080" cy="402336"/>
          </a:xfrm>
          <a:prstGeom prst="roundRect">
            <a:avLst>
              <a:gd name="adj" fmla="val 50000"/>
            </a:avLst>
          </a:prstGeom>
          <a:solidFill>
            <a:srgbClr val="1F3358"/>
          </a:solidFill>
          <a:ln w="12700">
            <a:solidFill>
              <a:srgbClr val="5B7BB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53712" y="4892040"/>
            <a:ext cx="2779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 경기지역 중소기업 AI전환 우수사례 공모전 대상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498080" y="4892040"/>
            <a:ext cx="2514600" cy="402336"/>
          </a:xfrm>
          <a:prstGeom prst="roundRect">
            <a:avLst>
              <a:gd name="adj" fmla="val 50000"/>
            </a:avLst>
          </a:prstGeom>
          <a:solidFill>
            <a:srgbClr val="1F3358"/>
          </a:solidFill>
          <a:ln w="12700">
            <a:solidFill>
              <a:srgbClr val="5B7BB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71232" y="4892040"/>
            <a:ext cx="236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최초「경기도 이주노동자 행복일터」인증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104120" y="4892040"/>
            <a:ext cx="1783080" cy="402336"/>
          </a:xfrm>
          <a:prstGeom prst="roundRect">
            <a:avLst>
              <a:gd name="adj" fmla="val 50000"/>
            </a:avLst>
          </a:prstGeom>
          <a:solidFill>
            <a:srgbClr val="1F3358"/>
          </a:solidFill>
          <a:ln w="12700">
            <a:solidFill>
              <a:srgbClr val="5B7BB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177272" y="4892040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 45001 국제인증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5760720"/>
            <a:ext cx="11057839" cy="0"/>
          </a:xfrm>
          <a:prstGeom prst="line">
            <a:avLst/>
          </a:prstGeom>
          <a:noFill/>
          <a:ln w="12700">
            <a:solidFill>
              <a:srgbClr val="2E43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5897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오성철강사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766767" y="603504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대표이사 남은우   |   경기도 안산시 단원구 별망로 73   |   2026. 9.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 PAGE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실패가 자산을 남겼고, AI가 그 자산을 서비스로 바꿨습니다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670048" cy="292608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304288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69748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고성능 장비 도입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 ↑ · 단가 동결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8096" y="3611880"/>
            <a:ext cx="2267712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" y="376732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−32.7억 원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410712" y="1691640"/>
            <a:ext cx="2670048" cy="292608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611880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304288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69748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설비 · 품질 데이터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2초마다 한 줄씩 누적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11880" y="3611880"/>
            <a:ext cx="2267712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11880" y="376732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187만 건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254496" y="1691640"/>
            <a:ext cx="2670048" cy="292608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55664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455664" y="2304288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개의 질문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269748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무엇을 모르는가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고객은 무엇을 원하는가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55664" y="3611880"/>
            <a:ext cx="2267712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55664" y="376732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질문의 전환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098280" y="1691640"/>
            <a:ext cx="2670048" cy="292608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299448" y="1828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9299448" y="2304288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되었나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299448" y="269748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품질 · 기술 내재화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서비스 회사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299448" y="3611880"/>
            <a:ext cx="2267712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99448" y="3767328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54개 서비스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566928" y="4846320"/>
            <a:ext cx="11057839" cy="658368"/>
          </a:xfrm>
          <a:prstGeom prst="roundRect">
            <a:avLst>
              <a:gd name="adj" fmla="val 694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4846320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장비로 높은 생산성을 내는 것은 기본입니다.  AI는 지속 가능한 고품질 생산과 24시간 서비스를 가능하게 합니다.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심사항목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TO READ THIS DECK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심사기준 대응 맵 — 30장을 배점 비중대로 배치했습니다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486400" cy="475488"/>
          </a:xfrm>
          <a:prstGeom prst="roundRect">
            <a:avLst>
              <a:gd name="adj" fmla="val 11538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664208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혁신 부문  ·  1차 220점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139696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2304288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추진배경 및 목표설정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230428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30점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01184" y="2304288"/>
            <a:ext cx="1042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p.4 – 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" y="2798064"/>
            <a:ext cx="5212080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2871216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추진방향 및 세부내용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28712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30점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901184" y="2871216"/>
            <a:ext cx="1042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p.9 – 13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" y="3364992"/>
            <a:ext cx="5212080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" y="3438144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실천사례 및 참여도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343814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50점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901184" y="3438144"/>
            <a:ext cx="1042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p.14 – 17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4088" y="3931920"/>
            <a:ext cx="5212080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8096" y="4005072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경영혁신 성과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749040" y="400507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80점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901184" y="4005072"/>
            <a:ext cx="1042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p.18 – 22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4088" y="4498848"/>
            <a:ext cx="5212080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" y="4572000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향후 추진계획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3749040" y="457200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30점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901184" y="4572000"/>
            <a:ext cx="1042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p.30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37376" y="1664208"/>
            <a:ext cx="5184648" cy="475488"/>
          </a:xfrm>
          <a:prstGeom prst="roundRect">
            <a:avLst>
              <a:gd name="adj" fmla="val 11538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0256" y="1664208"/>
            <a:ext cx="4818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부문  ·  1차 180점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37376" y="2139696"/>
            <a:ext cx="5184648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38544" y="2304288"/>
            <a:ext cx="29034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환경 (E)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444472" y="2304288"/>
            <a:ext cx="10369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65점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533248" y="2304288"/>
            <a:ext cx="98508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p.23 – 25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74536" y="2798064"/>
            <a:ext cx="4910328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38544" y="2871216"/>
            <a:ext cx="29034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 사회 (S)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44472" y="2871216"/>
            <a:ext cx="10369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65점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10533248" y="2871216"/>
            <a:ext cx="98508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p.26 – 28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74536" y="3364992"/>
            <a:ext cx="4910328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38544" y="3438144"/>
            <a:ext cx="29034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⑧ 지배구조 (G)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444472" y="3438144"/>
            <a:ext cx="103693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50점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10533248" y="3438144"/>
            <a:ext cx="98508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p.29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37376" y="5029200"/>
            <a:ext cx="5184648" cy="1005840"/>
          </a:xfrm>
          <a:prstGeom prst="roundRect">
            <a:avLst>
              <a:gd name="adj" fmla="val 5455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638544" y="5029200"/>
            <a:ext cx="4782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180점은 혁신 220점과 대등합니다.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오성철강사의 ESG는 외부 인증 3종으로 이미 검증돼 있습니다.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400점 / 2차 600점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1983년, 저희는 잠실 주경기장 지붕을 만들었습니다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3949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오성철강사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359152"/>
            <a:ext cx="11631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설립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004365" y="2359152"/>
            <a:ext cx="3683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1983년 5월 10일 (43년)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41248" y="2670048"/>
            <a:ext cx="4846320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2724912"/>
            <a:ext cx="11631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업종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004365" y="2724912"/>
            <a:ext cx="3683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제조업 · 철판 임가공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1248" y="3035808"/>
            <a:ext cx="4846320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3090672"/>
            <a:ext cx="11631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주생산품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004365" y="3090672"/>
            <a:ext cx="3683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 및 건축용 철판 (냉간 압연·압출)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" y="3401568"/>
            <a:ext cx="4846320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3456432"/>
            <a:ext cx="11631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004365" y="3456432"/>
            <a:ext cx="3683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경기도 안산시 단원구 별망로 73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63056" y="1664208"/>
            <a:ext cx="5458968" cy="2148840"/>
          </a:xfrm>
          <a:prstGeom prst="roundRect">
            <a:avLst>
              <a:gd name="adj" fmla="val 2553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37376" y="182880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20만 톤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239572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 생산 설비 · 3개 가공 라인 (레벨링 / 슬리팅1 / 슬리팅2)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28346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전기차 차체와 고층 건물 골조가 되기 전, 모든 철판은 이 공정을 반드시 거칩니다.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완성차가 세계에서 경쟁하려면 고품질 소재가 적정한 가격에 안정적으로 공급되어야 합니다.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41148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</a:t>
            </a:r>
            <a:endParaRPr lang="en-US" sz="38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7731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제조업 경력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50657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1983년 창립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410712" y="41148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28년</a:t>
            </a:r>
            <a:endParaRPr lang="en-US" sz="3800" dirty="0"/>
          </a:p>
        </p:txBody>
      </p:sp>
      <p:sp>
        <p:nvSpPr>
          <p:cNvPr id="25" name="Text 23"/>
          <p:cNvSpPr txBox="1"/>
          <p:nvPr/>
        </p:nvSpPr>
        <p:spPr>
          <a:xfrm>
            <a:off x="3410712" y="47731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· 로봇 경력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410712" y="50657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前 KT AI/ROBOT 기술팀장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254496" y="41148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12명</a:t>
            </a:r>
            <a:endParaRPr lang="en-US" sz="3800" dirty="0"/>
          </a:p>
        </p:txBody>
      </p:sp>
      <p:sp>
        <p:nvSpPr>
          <p:cNvPr id="28" name="Text 26"/>
          <p:cNvSpPr txBox="1"/>
          <p:nvPr/>
        </p:nvSpPr>
        <p:spPr>
          <a:xfrm>
            <a:off x="6254496" y="47731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직원 · 100% 정규직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254496" y="50657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내국인 6 : 외국인 6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098280" y="41148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14년</a:t>
            </a:r>
            <a:endParaRPr lang="en-US" sz="3800" dirty="0"/>
          </a:p>
        </p:txBody>
      </p:sp>
      <p:sp>
        <p:nvSpPr>
          <p:cNvPr id="31" name="Text 29"/>
          <p:cNvSpPr txBox="1"/>
          <p:nvPr/>
        </p:nvSpPr>
        <p:spPr>
          <a:xfrm>
            <a:off x="9098280" y="47731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근속연수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098280" y="50657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최장 40년 (1985년 입사)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66928" y="5440680"/>
            <a:ext cx="11057839" cy="658368"/>
          </a:xfrm>
          <a:prstGeom prst="roundRect">
            <a:avLst>
              <a:gd name="adj" fmla="val 694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43년 전통의 회사가 아닙니다. 회사도, 기계도, 사람도 오래되었습니다. 그래서 다시 짓기로 했습니다.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I. 경영혁신 추진배경 및 목표설정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30점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FAILURE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 실패 — 장비를 바꿨지만, 단가는 그대로였습니다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267004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78308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투자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10312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크게 늘었습니다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410712" y="1645920"/>
            <a:ext cx="267004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11880" y="178308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123944" y="210312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올랐습니다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54496" y="1645920"/>
            <a:ext cx="267004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55664" y="178308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판매 가격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967728" y="210312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그대로였습니다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098280" y="1645920"/>
            <a:ext cx="267004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99448" y="178308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이자 비용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299448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9811512" y="2103120"/>
            <a:ext cx="17556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과다 발생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127248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계산해 보면 — 32.7억 원 손실입니다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66928" y="3611880"/>
            <a:ext cx="11055096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" y="3785616"/>
            <a:ext cx="23114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및 구축 비용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152668" y="3785616"/>
            <a:ext cx="8195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10억 원 + 장비 부지 18억 원 (180평 × 1천만 원)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41248" y="4133088"/>
            <a:ext cx="10506456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1248" y="4187952"/>
            <a:ext cx="23114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기회 비용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3152668" y="4187952"/>
            <a:ext cx="8195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라인 중단에 따른 매출 손실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41248" y="4535424"/>
            <a:ext cx="10506456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1248" y="4590288"/>
            <a:ext cx="23114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운영비 증가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3152668" y="4590288"/>
            <a:ext cx="8195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안정화 및 테스트에 추가 비용 발생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9070848" y="37856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− 28억 원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070848" y="41879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− 4.5억 원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070848" y="45902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− 0.2억 원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66928" y="4956048"/>
            <a:ext cx="11055096" cy="420624"/>
          </a:xfrm>
          <a:prstGeom prst="roundRect">
            <a:avLst>
              <a:gd name="adj" fmla="val 10870"/>
            </a:avLst>
          </a:prstGeom>
          <a:solidFill>
            <a:srgbClr val="FBEEEC"/>
          </a:solidFill>
          <a:ln w="12700">
            <a:solidFill>
              <a:srgbClr val="E8C4B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1248" y="495604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결론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8796528" y="495604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− 32.7억 원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566928" y="5532120"/>
            <a:ext cx="11057839" cy="658368"/>
          </a:xfrm>
          <a:prstGeom prst="roundRect">
            <a:avLst>
              <a:gd name="adj" fmla="val 694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" y="5532120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고객은 저희가 어떤 기계를 쓰는지 볼 방법이 없었습니다. 생산성은 저희 안에서만 올랐습니다.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I. 경영혁신 추진배경 및 목표설정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30점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FAILURE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번째 실패 — 대상(大賞)까지 받았지만, 매출은 그대로였습니다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4937760" cy="3200400"/>
          </a:xfrm>
          <a:prstGeom prst="roundRect">
            <a:avLst>
              <a:gd name="adj" fmla="val 1714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470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9EBE1"/>
          </a:solidFill>
          <a:ln w="12700">
            <a:solidFill>
              <a:srgbClr val="D9EB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1847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기술은 성공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28600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표면 전수검사 시스템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7432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분당 250m로 회전하는 철판 표면을 AI가 전수 촬영하고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결함의 좌표와 크기까지 기록합니다. 사람의 눈은 깜빡이지만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깜빡이지 않습니다.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41248" y="3858768"/>
            <a:ext cx="4389120" cy="621792"/>
          </a:xfrm>
          <a:prstGeom prst="roundRect">
            <a:avLst>
              <a:gd name="adj" fmla="val 7353"/>
            </a:avLst>
          </a:prstGeom>
          <a:solidFill>
            <a:srgbClr val="FBF3E0"/>
          </a:solidFill>
          <a:ln w="12700">
            <a:solidFill>
              <a:srgbClr val="EBD9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78408" y="3858768"/>
            <a:ext cx="4114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6A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 경기지역 중소기업 AI전환 우수사례 공모전  대상(大賞) 수상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61888" y="1664208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7DEDB"/>
          </a:solidFill>
          <a:ln w="12700">
            <a:solidFill>
              <a:srgbClr val="F7DE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61888" y="16642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사업은 실패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1888" y="2212848"/>
            <a:ext cx="384048" cy="384048"/>
          </a:xfrm>
          <a:prstGeom prst="ellipse">
            <a:avLst/>
          </a:prstGeom>
          <a:solidFill>
            <a:srgbClr val="B5342B"/>
          </a:solidFill>
          <a:ln w="12700">
            <a:solidFill>
              <a:srgbClr val="B534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61888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213969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현장이 쓰지 않았습니다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10528" y="254203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분석에만 집중하고 사용성은 고려하지 않았습니다.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지속적으로 사용해야 품질이 향상된다는 것을 몰랐습니다.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61888" y="3383280"/>
            <a:ext cx="384048" cy="384048"/>
          </a:xfrm>
          <a:prstGeom prst="ellipse">
            <a:avLst/>
          </a:prstGeom>
          <a:solidFill>
            <a:srgbClr val="B5342B"/>
          </a:solidFill>
          <a:ln w="12700">
            <a:solidFill>
              <a:srgbClr val="B534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61888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10528" y="33101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알지 못했습니다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510528" y="3712464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검사를 한다는 사실이 고객에게 전달될 통로가 없었습니다.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61888" y="4480560"/>
            <a:ext cx="5669280" cy="566928"/>
          </a:xfrm>
          <a:prstGeom prst="roundRect">
            <a:avLst>
              <a:gd name="adj" fmla="val 8065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44768" y="448056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   그래서 매출은 그대로였습니다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66928" y="5440680"/>
            <a:ext cx="11057839" cy="658368"/>
          </a:xfrm>
          <a:prstGeom prst="roundRect">
            <a:avLst>
              <a:gd name="adj" fmla="val 694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기술을 만들었지만, 고이 금고에 모셔놓기만 했습니다.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I. 경영혁신 추진배경 및 목표설정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30점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REAL CRISIS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깊은 위기 — 장인과 청년 사이에서 기술이 끊기고 있었습니다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18464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60대 한국인 장인 (50%)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 철강 암묵지 보유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기기·IT 조작에 두려움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머지않아 현장을 떠납니다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37376" y="1664208"/>
            <a:ext cx="518464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93408" y="1828800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20대 외국인 청년 (50%)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93408" y="233172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기기 수용력 우수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 서툴러 노하우 전수 불가</a:t>
            </a:r>
            <a:endParaRPr lang="en-US" sz="1300" dirty="0"/>
          </a:p>
          <a:p>
            <a:pPr marL="342900" indent="-342900">
              <a:lnSpc>
                <a:spcPts val="22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설명서·작업기준이 전부 한국어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57216" y="2487168"/>
            <a:ext cx="1417320" cy="566928"/>
          </a:xfrm>
          <a:prstGeom prst="roundRect">
            <a:avLst>
              <a:gd name="adj" fmla="val 50000"/>
            </a:avLst>
          </a:prstGeom>
          <a:solidFill>
            <a:srgbClr val="B5342B"/>
          </a:solidFill>
          <a:ln w="12700">
            <a:solidFill>
              <a:srgbClr val="B534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57216" y="248716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단절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41148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직원 12명 중 6명이 외국인입니다. 그런데 설명서도 작업 기준도 전부 한국어였습니다 — 개선 제안이 나올 수 없는 구조였습니다.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572000"/>
            <a:ext cx="3529584" cy="1371600"/>
          </a:xfrm>
          <a:prstGeom prst="roundRect">
            <a:avLst>
              <a:gd name="adj" fmla="val 4000"/>
            </a:avLst>
          </a:prstGeom>
          <a:solidFill>
            <a:srgbClr val="FBEEEC"/>
          </a:solidFill>
          <a:ln w="12700">
            <a:solidFill>
              <a:srgbClr val="E8C4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4709160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기계를 다룰 줄 아는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한 분뿐이었습니다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5413248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그만두시면 회사 기술도 같이 사라집니다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06824" y="4572000"/>
            <a:ext cx="3529584" cy="1371600"/>
          </a:xfrm>
          <a:prstGeom prst="roundRect">
            <a:avLst>
              <a:gd name="adj" fmla="val 4000"/>
            </a:avLst>
          </a:prstGeom>
          <a:solidFill>
            <a:srgbClr val="FBEEEC"/>
          </a:solidFill>
          <a:ln w="12700">
            <a:solidFill>
              <a:srgbClr val="E8C4B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35424" y="4709160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우리만 할 수 있는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무기가 없었습니다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535424" y="5413248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 깎는 것 말고는 내세울 게 없었습니다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0" y="4572000"/>
            <a:ext cx="3529584" cy="1371600"/>
          </a:xfrm>
          <a:prstGeom prst="roundRect">
            <a:avLst>
              <a:gd name="adj" fmla="val 4000"/>
            </a:avLst>
          </a:prstGeom>
          <a:solidFill>
            <a:srgbClr val="FBEEEC"/>
          </a:solidFill>
          <a:ln w="12700">
            <a:solidFill>
              <a:srgbClr val="E8C4B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4709160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잘해도 고객이</a:t>
            </a:r>
            <a:endParaRPr lang="en-US" sz="14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 수 없었습니다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5413248"/>
            <a:ext cx="3072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만들어도 보여줄 곳이 없었습니다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I. 경영혁신 추진배경 및 목표설정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30점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TURNING POINT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바꿨습니다 — 그리고 세 가지 혁신 목표를 세웠습니다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55096" cy="1325880"/>
          </a:xfrm>
          <a:prstGeom prst="roundRect">
            <a:avLst>
              <a:gd name="adj" fmla="val 4138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6968" y="173736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rgbClr val="8FA5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"무엇을 도입하면 경쟁력이 생길까"  —  두 번 다 틀렸습니다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17627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우리는 무엇을 모르는가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578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안을 보는 질문 → 품질이 완벽해집니다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327648" y="217627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우리 고객들은 무엇을 원하는가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327648" y="25786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밖을 보는 질문 → 제값을 받을 수 있습니다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03580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혁신 목표와 측정 지표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66928" y="3493008"/>
            <a:ext cx="3529584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95528" y="3657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CE5F5"/>
          </a:solidFill>
          <a:ln w="12700">
            <a:solidFill>
              <a:srgbClr val="DCE5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" y="3657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4069080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품질의 내재화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4681728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감(感)으로 하던 작업을 숫자로 전환해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작업해도 같은 기준이 되게 한다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5376672"/>
            <a:ext cx="3072384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" y="5449824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지표  ·  설정 불량 · 전수검사 적용률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06824" y="3493008"/>
            <a:ext cx="3529584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35424" y="3657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BF3E0"/>
          </a:solidFill>
          <a:ln w="12700">
            <a:solidFill>
              <a:srgbClr val="FBF3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35424" y="3657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535424" y="4069080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응답하는 소재 서비스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4535424" y="4681728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가공업체가 아니라 고객이 아무 때나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묻고 바로 확인받는 서비스 기업이 된다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35424" y="5376672"/>
            <a:ext cx="3072384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35424" y="5449824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지표  ·  응대 가능 시간 · 리드타임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0" y="3493008"/>
            <a:ext cx="3529584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75320" y="365760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9EBE1"/>
          </a:solidFill>
          <a:ln w="12700">
            <a:solidFill>
              <a:srgbClr val="D9EB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75320" y="36576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3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4069080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세대·국적을 넘는 기술 승계</a:t>
            </a:r>
            <a:endParaRPr lang="en-US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8275320" y="4681728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60대 장인의 암묵지와 20대 외국인의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수용력을 서로 교환하게 한다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75320" y="5376672"/>
            <a:ext cx="3072384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75320" y="5449824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지표  ·  직무 전환율 · 이직률 · 근속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I. 경영혁신 추진배경 및 목표설정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30점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STRATEGY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 전략「AI Inside」— 설비를 바꾸지 않습니다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4015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847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1579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제조 장비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700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 된 노후 설비도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교체하지 않습니다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80560" y="1691640"/>
            <a:ext cx="3401568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18304" y="1847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02 · DATA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718304" y="21579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Inside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4718304" y="26700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장비에 데이터 수집·분석을 붙여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제어로 바꿉니다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936992" y="2377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94192" y="1691640"/>
            <a:ext cx="3401568" cy="1828800"/>
          </a:xfrm>
          <a:prstGeom prst="roundRect">
            <a:avLst>
              <a:gd name="adj" fmla="val 300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31936" y="1847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03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631936" y="21579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관제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8631936" y="267004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라인 전 잔업을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화면에서 확인합니다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675888"/>
            <a:ext cx="5394960" cy="1627632"/>
          </a:xfrm>
          <a:prstGeom prst="roundRect">
            <a:avLst>
              <a:gd name="adj" fmla="val 3371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1248" y="38221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통신사가 하던 통합 관제를, 오성철강사에 적용합니다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4224528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통신사는 모든 장비를 네트워크로 연결해 현장에 가지 않아도 24시간 관제합니다.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오성철강사는 기존 장비에 AI가 데이터 수집·분석을 붙여 같은 방식의 통합 관제를 구현했습니다.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前 KT AI/ROBOT 기술팀장 28년 경력의 직접 이전입니다.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63056" y="3675888"/>
            <a:ext cx="5458968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37376" y="3822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전략이 곧 환경 성과입니다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37376" y="4242816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1대 교체 시 발생하는 폐설비·산업폐기물을 원천 회피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설비 제조 과정의 탄소 배출을 발생시키지 않음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투자비를 쓰지 않고 정밀제어 성능을 확보 — 원가절감과 동시 달성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440680"/>
            <a:ext cx="11057839" cy="658368"/>
          </a:xfrm>
          <a:prstGeom prst="roundRect">
            <a:avLst>
              <a:gd name="adj" fmla="val 694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생산에 몰입하면 품질 확인이 어렵습니다. 통신사가 통신망을 관제하듯, 품질 관리자가 공정을 관제합니다.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II. 경영혁신 추진방향 및 세부내용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30점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조직을 다시 설계했습니다 —「코일센터연구실」과 직무 재설계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394960" cy="2176272"/>
          </a:xfrm>
          <a:prstGeom prst="roundRect">
            <a:avLst>
              <a:gd name="adj" fmla="val 252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8288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신설 :「코일센터연구실」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6771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대표이사 직속으로 신설. 실장은 前 KT AI/ROBOT 기술팀장 28년 경력의 정대균 실장이며, 동시에 전 직원이 선출한 근로자 대표를 겸임합니다.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1248" y="2999232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78408" y="299923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43년  ＋  AI · 로봇 28년  =  한 회사 안의 두 기술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63056" y="1664208"/>
            <a:ext cx="5458968" cy="2176272"/>
          </a:xfrm>
          <a:prstGeom prst="roundRect">
            <a:avLst>
              <a:gd name="adj" fmla="val 252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37376" y="18288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 재설계 — 두 방향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37376" y="2286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암묵지 → 화면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37376" y="256032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 공장장 머릿속의 암산과 감(感)을 화면의 숫자로. 경력 40년이든 입사 한 달이든 같은 화면, 같은 값.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37376" y="30723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육체노동 → AI 조종사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334670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60대 장인을 고강도 육체노동에서 첨단 터치패널을 다루는 'AI 조종사'로 전환. KT AI 전문가 밀착 코칭 월 8시간 × 6개월.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04164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직원 12명 · 100% 정규직 · 내국인 6 : 외국인 6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213055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59028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대표이사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84632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남은우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157216"/>
            <a:ext cx="1801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 총괄 · 주 1회 노사 소통 회의 직접 주재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98064" y="4480560"/>
            <a:ext cx="213055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62656" y="459028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· 마케팅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962656" y="484632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이원춘 이사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962656" y="5157216"/>
            <a:ext cx="1801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1985년 입사 · 40년 장기근속 · 국내외 판로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0" y="4480560"/>
            <a:ext cx="213055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93792" y="459028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코일센터연구실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193792" y="484632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정대균 실장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193792" y="5157216"/>
            <a:ext cx="1801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현장 도입 기획 · ESG 체계 수립 · 근로자 대표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60336" y="4480560"/>
            <a:ext cx="213055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24928" y="459028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 · 경리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424928" y="484632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정연희 과장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7424928" y="5157216"/>
            <a:ext cx="1801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재무 · 회계 · 인사 · 노무 행정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491472" y="4480560"/>
            <a:ext cx="2130552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656064" y="4590288"/>
            <a:ext cx="1801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생산가공팀 (8명)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656064" y="484632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내국인 2 · 외국인 6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9656064" y="5157216"/>
            <a:ext cx="1801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공장장 전부영 · 물류 이정설 (60대 숙련공)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김영철 · 멜벤 대리 (외국인 중간관리자)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II. 경영혁신 추진방향 및 세부내용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30점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AI·디지털 혁신 계획 — 4개 데이터 계층에 187만 건을 쌓았습니다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670048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91640"/>
            <a:ext cx="2670048" cy="457200"/>
          </a:xfrm>
          <a:prstGeom prst="roundRect">
            <a:avLst>
              <a:gd name="adj" fmla="val 1200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55648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3EA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그린ERP 미러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28600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작업지시서 · 생산 · 입출고 재고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미출고 · 미수금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68096" y="3072384"/>
            <a:ext cx="2267712" cy="713232"/>
          </a:xfrm>
          <a:prstGeom prst="roundRect">
            <a:avLst>
              <a:gd name="adj" fmla="val 7692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7824" y="3108960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347472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주기 자동 동기화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384048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"내 물건 지금 어디까지?"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10712" y="1691640"/>
            <a:ext cx="2670048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10712" y="1691640"/>
            <a:ext cx="2670048" cy="457200"/>
          </a:xfrm>
          <a:prstGeom prst="roundRect">
            <a:avLst>
              <a:gd name="adj" fmla="val 12000"/>
            </a:avLst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11880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99432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3EA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PLC 실측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228600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 · 절단길이 · 사이클타임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가동/정지 · 부하율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11880" y="3072384"/>
            <a:ext cx="2267712" cy="713232"/>
          </a:xfrm>
          <a:prstGeom prst="roundRect">
            <a:avLst>
              <a:gd name="adj" fmla="val 7692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21608" y="3108960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182만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3721608" y="347472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 누적 · 2초마다 1행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611880" y="384048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"그 코일 중단된 적 있나?"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54496" y="1691640"/>
            <a:ext cx="2670048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54496" y="1691640"/>
            <a:ext cx="2670048" cy="457200"/>
          </a:xfrm>
          <a:prstGeom prst="roundRect">
            <a:avLst>
              <a:gd name="adj" fmla="val 12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55664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43216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3EA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비전 전수검사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55664" y="228600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결함 위치 · 전후 영상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두께 실측 프로파일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55664" y="3072384"/>
            <a:ext cx="2267712" cy="713232"/>
          </a:xfrm>
          <a:prstGeom prst="roundRect">
            <a:avLst>
              <a:gd name="adj" fmla="val 7692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65392" y="3108960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6565392" y="347472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샘플 아님 · 모든 코일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455664" y="384048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"표면 결함 있었나?"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098280" y="1691640"/>
            <a:ext cx="2670048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098280" y="1691640"/>
            <a:ext cx="2670048" cy="457200"/>
          </a:xfrm>
          <a:prstGeom prst="roundRect">
            <a:avLst>
              <a:gd name="adj" fmla="val 1200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299448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0287000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3EA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· 카메라 OCR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299448" y="2286000"/>
            <a:ext cx="2267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장력 6개 값 · 코일 외경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 신뢰도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299448" y="3072384"/>
            <a:ext cx="2267712" cy="713232"/>
          </a:xfrm>
          <a:prstGeom prst="roundRect">
            <a:avLst>
              <a:gd name="adj" fmla="val 7692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409176" y="3108960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9409176" y="347472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주기 수집 · 노후 장비도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9299448" y="3840480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"장력은 적정했나?"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66928" y="4526280"/>
            <a:ext cx="2670048" cy="960120"/>
          </a:xfrm>
          <a:prstGeom prst="roundRect">
            <a:avLst>
              <a:gd name="adj" fmla="val 571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8096" y="46177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187만 건</a:t>
            </a:r>
            <a:endParaRPr lang="en-US" sz="2200" dirty="0"/>
          </a:p>
        </p:txBody>
      </p:sp>
      <p:sp>
        <p:nvSpPr>
          <p:cNvPr id="42" name="Text 40"/>
          <p:cNvSpPr txBox="1"/>
          <p:nvPr/>
        </p:nvSpPr>
        <p:spPr>
          <a:xfrm>
            <a:off x="768096" y="507492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데이터 자산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410712" y="4526280"/>
            <a:ext cx="2670048" cy="960120"/>
          </a:xfrm>
          <a:prstGeom prst="roundRect">
            <a:avLst>
              <a:gd name="adj" fmla="val 571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611880" y="46177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계층</a:t>
            </a:r>
            <a:endParaRPr lang="en-US" sz="2200" dirty="0"/>
          </a:p>
        </p:txBody>
      </p:sp>
      <p:sp>
        <p:nvSpPr>
          <p:cNvPr id="45" name="Text 43"/>
          <p:cNvSpPr txBox="1"/>
          <p:nvPr/>
        </p:nvSpPr>
        <p:spPr>
          <a:xfrm>
            <a:off x="3611880" y="507492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· 공정 · 품질 · 설비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254496" y="4526280"/>
            <a:ext cx="2670048" cy="960120"/>
          </a:xfrm>
          <a:prstGeom prst="roundRect">
            <a:avLst>
              <a:gd name="adj" fmla="val 571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55664" y="46177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54개</a:t>
            </a:r>
            <a:endParaRPr lang="en-US" sz="2200" dirty="0"/>
          </a:p>
        </p:txBody>
      </p:sp>
      <p:sp>
        <p:nvSpPr>
          <p:cNvPr id="48" name="Text 46"/>
          <p:cNvSpPr txBox="1"/>
          <p:nvPr/>
        </p:nvSpPr>
        <p:spPr>
          <a:xfrm>
            <a:off x="6455664" y="507492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 가동 서비스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098280" y="4526280"/>
            <a:ext cx="2670048" cy="960120"/>
          </a:xfrm>
          <a:prstGeom prst="roundRect">
            <a:avLst>
              <a:gd name="adj" fmla="val 571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299448" y="461772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0건</a:t>
            </a:r>
            <a:endParaRPr lang="en-US" sz="2200" dirty="0"/>
          </a:p>
        </p:txBody>
      </p:sp>
      <p:sp>
        <p:nvSpPr>
          <p:cNvPr id="51" name="Text 49"/>
          <p:cNvSpPr txBox="1"/>
          <p:nvPr/>
        </p:nvSpPr>
        <p:spPr>
          <a:xfrm>
            <a:off x="9299448" y="507492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 개발 — 전량 자체개발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II. 경영혁신 추진방향 및 세부내용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30점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DETAIL 01 · QUALITY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세부 추진내용 ① 품질 — 작업자가 답하지 못하던 질문을 지웠습니다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73936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"내가 기계를 제대로 운전하고 있나?"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048256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  소리와 감으로 판단 — 40년 공장장 머릿속에만 있었습니다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28600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NOW  지금 제대로 동작하는지 바로 확인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505456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세퍼레이터 셋팅 키오스크 · AI 헬퍼 모바일(KR/EN) · 레벨링 라인 통합 관제(20초 갱신)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54496" y="1664208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73952" y="1773936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"아까 그 불량, 그때 어떻게 돌렸더라?"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2048256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  기억에 의존 — 그래서 같은 불량이 또 났습니다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228600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NOW  문제가 생긴 지점의 분석이 가능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2505456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 구간별 속도·텐션 변화 조회 · 동일 사양 30개 코일 대비 편차 검색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" y="2944368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" y="3054096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"이건 우리 잘못인가, 원래 그랬나?"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86384" y="3328416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  숫자만으로는 표면 흠집을 가릴 수 없었습니다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86384" y="356616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NOW  불량의 원인을 규명하고 끝까지 확인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86384" y="3785616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표면 전수검사 · 운전기록 × CCTV 동일 시간축 대조 · 30분 내 원인 분석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54496" y="2944368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73952" y="3054096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"우리 품질은 괜찮은 거지?"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473952" y="3328416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  생산 당사자는 객관적 품질 확인이 불가했습니다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73952" y="356616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NOW  고객사에 객관적 분석 리포트 제공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73952" y="3785616"/>
            <a:ext cx="4956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Lot ID · 공정 · 두께 · 중량 · 결함 좌표까지 담은 품질 성적서 자동 발행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928" y="4315968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4425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공정이 표준화됐습니다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47000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경력 40년이든 입사 한 달이든 같은 화면, 같은 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10712" y="4315968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93592" y="4425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불량이 사라졌습니다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3593592" y="47000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설정값 자동 계산 도구 도입 후 기계 설정 오류 불량 소멸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54496" y="4315968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37376" y="4425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 검증 체계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437376" y="47000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표면은 전부 촬영, 운전 조건은 2초마다 기록, 이상은 자동 검출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98280" y="4315968"/>
            <a:ext cx="2651760" cy="1005840"/>
          </a:xfrm>
          <a:prstGeom prst="roundRect">
            <a:avLst>
              <a:gd name="adj" fmla="val 5455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81160" y="4425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자발적 품질 개선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9281160" y="47000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생산량이 아닌 품질지표로 관리 — 직원이 먼저 개선안을 냅니다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6928" y="5440680"/>
            <a:ext cx="11057839" cy="658368"/>
          </a:xfrm>
          <a:prstGeom prst="roundRect">
            <a:avLst>
              <a:gd name="adj" fmla="val 694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시스템을 만들지 않았습니다. 답하지 못하는 질문을 찾아, 하나씩 지웠을 뿐입니다.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II. 경영혁신 추진방향 및 세부내용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30점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DETAIL 02 · SERVICE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세부 추진내용 ② 고객이 원한 것은 '아무 때나'였습니다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394960" cy="1572768"/>
          </a:xfrm>
          <a:prstGeom prst="roundRect">
            <a:avLst>
              <a:gd name="adj" fmla="val 3488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41248" y="1773936"/>
            <a:ext cx="4846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"그냥 아무 때나 물어보고,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확인받고 싶습니다."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61518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택배는 어느 터미널에 있는지까지 확인합니다. 음식을 시켜도 조리 중인지 확인합니다.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수천만 원짜리 철강 발주는 아침 9시를 기다려야 했습니다.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63056" y="1664208"/>
            <a:ext cx="54589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37376" y="177393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24시간 중 응대가 되는 시간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37376" y="202996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9시간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6437376" y="2688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열려 있었습니다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37376" y="29809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하루의 38%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70848" y="202996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15시간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9070848" y="26883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닫혀 있었습니다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070848" y="29809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하루의 62%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31012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없는 60초 동안 주문이 작업지시가 됩니다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6928" y="3767328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" y="385876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02:14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" y="409651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" y="4425696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카톡 주문 도착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14016" y="3767328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542032" y="385876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02:14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542032" y="409651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판독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542032" y="4425696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규격 · 수량 · 납기 자동 추출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61104" y="3767328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89120" y="385876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02:15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409651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389120" y="4425696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 재고 코일 3개 확인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08192" y="3767328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6208" y="385876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02:15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236208" y="409651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초안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236208" y="4425696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작업지시 초안 · 라인 배정 완료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955280" y="3767328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FBF3E0"/>
          </a:solidFill>
          <a:ln w="12700">
            <a:solidFill>
              <a:srgbClr val="EBD9A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83296" y="385876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07:50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083296" y="409651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083296" y="4425696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하는 일은 1분간 확인뿐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802368" y="3767328"/>
            <a:ext cx="170078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930384" y="3858768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08:00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930384" y="4096512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착수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9930384" y="4425696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라인 태블릿에 자동 표시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6928" y="5120640"/>
            <a:ext cx="11055096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31520" y="519379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접수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755648" y="519379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업무시간 · 전화/팩스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2990088" y="5193792"/>
            <a:ext cx="228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3218688" y="519379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· 자동 판독 + 초안 생성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4416552" y="519379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확인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5440680" y="519379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 문의 · 담당자 확인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6675120" y="5193792"/>
            <a:ext cx="228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903720" y="519379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· 완료 예정시각 포함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8101584" y="519379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확인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9125712" y="5193792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 → 창고 확인 → 회신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10360152" y="5193792"/>
            <a:ext cx="228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10588752" y="5193792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· 위치 · 중량 · 경과일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731520" y="566928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실적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1755648" y="566928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마감 후 요청 · 정리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5669280"/>
            <a:ext cx="228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3218688" y="56692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· 엑셀 즉시 전송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4416552" y="566928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 대응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5440680" y="566928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 미확보로 항상 오성철강 귀책</a:t>
            </a:r>
            <a:endParaRPr lang="en-US" sz="850" dirty="0"/>
          </a:p>
        </p:txBody>
      </p:sp>
      <p:sp>
        <p:nvSpPr>
          <p:cNvPr id="59" name="Text 57"/>
          <p:cNvSpPr txBox="1"/>
          <p:nvPr/>
        </p:nvSpPr>
        <p:spPr>
          <a:xfrm>
            <a:off x="6675120" y="5669280"/>
            <a:ext cx="228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6903720" y="56692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 · 크기 · 영상으로 귀책 판별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8101584" y="566928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증빙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9125712" y="566928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 수단 없음</a:t>
            </a:r>
            <a:endParaRPr lang="en-US" sz="850" dirty="0"/>
          </a:p>
        </p:txBody>
      </p:sp>
      <p:sp>
        <p:nvSpPr>
          <p:cNvPr id="63" name="Text 61"/>
          <p:cNvSpPr txBox="1"/>
          <p:nvPr/>
        </p:nvSpPr>
        <p:spPr>
          <a:xfrm>
            <a:off x="10360152" y="5669280"/>
            <a:ext cx="228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10588752" y="5669280"/>
            <a:ext cx="960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성적서 자동 발행 (상세본 유상)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II. 경영혁신 추진방향 및 세부내용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30점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PARTICIPATION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자발적 참여 구조 — 이 사이클로 41개를 만들었습니다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40156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28800"/>
            <a:ext cx="384048" cy="384048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1828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아이디어가 나오면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331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현장에서든 사무실에서든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직급·국적 제한 없음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2176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80560" y="1691640"/>
            <a:ext cx="340156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18304" y="1828800"/>
            <a:ext cx="384048" cy="384048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18304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230368" y="1828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만들어 봅니다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18304" y="2331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AI로 며칠이면 시제품이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나옵니다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936992" y="2176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94192" y="1691640"/>
            <a:ext cx="340156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31936" y="1828800"/>
            <a:ext cx="384048" cy="384048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3193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18288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써 봅니다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631936" y="23317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작업에 넣어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효과를 확인합니다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3182112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E8F2EC"/>
          </a:solidFill>
          <a:ln w="12700">
            <a:solidFill>
              <a:srgbClr val="BEDAC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" y="318211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효과가 있으면 → 제대로 된 서비스로 만듭니다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163056" y="3182112"/>
            <a:ext cx="5458968" cy="960120"/>
          </a:xfrm>
          <a:prstGeom prst="roundRect">
            <a:avLst>
              <a:gd name="adj" fmla="val 5714"/>
            </a:avLst>
          </a:prstGeom>
          <a:solidFill>
            <a:srgbClr val="FBF3E0"/>
          </a:solidFill>
          <a:ln w="12700">
            <a:solidFill>
              <a:srgbClr val="EBD9A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37376" y="3182112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A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효과가 없으면 → 버리고, 새로운 방법으로 다시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431596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오성철강사에서만 이 사이클이 돌아갑니까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47731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공장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664208" y="473659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만들지 미리 다 정해야 합니다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664208" y="50474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해봐야 압니다. 계약서는 미리 적으라고 합니다.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254496" y="47731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공장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351776" y="473659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계약이 끝나면 고쳐줄 사람이 없습니다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351776" y="50474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공장은 계속 바뀌는데 프로그램은 멈춰 있습니다.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54681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오성철강사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664208" y="543153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· 로봇 · 제조 전문가를 함께 보유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664208" y="574243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 43년 + AI/로봇 28년이 한 회사 안에 있습니다.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254496" y="54681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오성철강사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351776" y="543153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직원들이 먼저 만들어 달라고 합니다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351776" y="574243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12명 중 6명이 외국인, 현장에서 요구가 올라옵니다.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III. 경영혁신 실천사례 및 참여도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50점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CASE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실천사례 ① 외국인 직원이 스스로 공정을 개선하기 시작했습니다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852160" cy="2423160"/>
          </a:xfrm>
          <a:prstGeom prst="roundRect">
            <a:avLst>
              <a:gd name="adj" fmla="val 2264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1051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예상하지 못한 일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1031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도움으로 지식과 언어의 차이가 극복되자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놀라운 변화가 일어났습니다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798064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12명 중 6명이 외국에서 오신 분들입니다. 그런데 설명서도 작업 기준도 전부 한국어였습니다 — 개선 제안이 나올 수 없는 구조였습니다.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작업에 대한 공정·품질 데이터를 언어와 지식의 한계 없이 제공받자, 직원들이 품질 향상을 위한 개선을 직접 시작했습니다.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711696" y="1664208"/>
            <a:ext cx="4910328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967728" y="181051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직원이 직접 그린 설계 도면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967728" y="2267712"/>
            <a:ext cx="18434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롤러 직경 / 길이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811158" y="2267712"/>
            <a:ext cx="25456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Ø40 mm  /  1,320 mm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967728" y="2596896"/>
            <a:ext cx="4389120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67728" y="2651760"/>
            <a:ext cx="18434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샤프트 직경 / 전장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811158" y="2651760"/>
            <a:ext cx="25456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Ø20 mm  /  1,400 mm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967728" y="2980944"/>
            <a:ext cx="4389120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67728" y="3035808"/>
            <a:ext cx="18434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베어링 규격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811158" y="3035808"/>
            <a:ext cx="25456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6204-2RS (20 ID × 47 OD × 14 W)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67728" y="3364992"/>
            <a:ext cx="4389120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67728" y="3419856"/>
            <a:ext cx="18434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재질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811158" y="3419856"/>
            <a:ext cx="25456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Mild Steel / Stainless Steel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967728" y="365760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도면을 그린 사람은 엔지니어가 아니라 저희 현장 직원입니다.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251960"/>
            <a:ext cx="267004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4352544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 경기지역 중소기업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AI전환 우수사례 공모전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488289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(大賞)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5266944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근로자와 함께 기획·개발하여 공동 수상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10712" y="4251960"/>
            <a:ext cx="267004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93592" y="4352544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제26회 한국공학대전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593592" y="488289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수상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3593592" y="5266944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외국인 직원의 기술 성과를 대외 발표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54496" y="4251960"/>
            <a:ext cx="267004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37376" y="4352544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 딥테크 스타트업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FLeX 2025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437376" y="488289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참가·발표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6437376" y="5266944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직원이 직접 무대에 올라 사례 발표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098280" y="4251960"/>
            <a:ext cx="267004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281160" y="4352544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시화·반월공단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 개방 AI 사례 전파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281160" y="4882896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주관 (2025)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9281160" y="5266944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 라인 AI 품질 측정 사례를 지역에 공유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III. 경영혁신 실천사례 및 참여도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50점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CASE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실천사례 ② 크로스 역멘토링 — 장인이 가르치고, 청년이 가르칩니다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257800" cy="2286000"/>
          </a:xfrm>
          <a:prstGeom prst="roundRect">
            <a:avLst>
              <a:gd name="adj" fmla="val 2400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82880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60대 한국인 장인  →  20대 외국인 청년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24942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 철강 가공의 암묵지(暗默知)를 직접 전수합니다.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숙련공 은퇴 전 기술을 승계할 수 있는 마지막 골든타임입니다.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1248" y="2871216"/>
            <a:ext cx="4709160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298094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20대 외국인 청년  →  60대 한국인 장인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40156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기기와 AI 조작법을 1:1로 가르칩니다.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육체노동에서 'AI 조종사'로 직무 전환하도록 돕습니다.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63056" y="1664208"/>
            <a:ext cx="5458968" cy="2286000"/>
          </a:xfrm>
          <a:prstGeom prst="roundRect">
            <a:avLst>
              <a:gd name="adj" fmla="val 240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37376" y="18105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수평적 기술 교환의 성과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37376" y="22128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▪  외국인 중간관리자 2명 승진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620256" y="24688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김영철 대리 · 멜벤 대리 — 내·외국인 동등 지휘 체계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27797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▪  60대 장인 2명 AI 조종사 전환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20256" y="30358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KT AI 전문가 밀착 코칭 월 8시간 × 6개월 = 48시간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33467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▪  노사 멘토링 6회 이상 완수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20256" y="36027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1회 정례화 · 교차 일지 작성으로 이행 관리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413308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상생파트너십 종합지원사업 — 「AI로 노동을 덜고 복지로 국경을 넘다」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" y="4553712"/>
            <a:ext cx="267004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64515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DCE5F5"/>
          </a:solidFill>
          <a:ln w="12700">
            <a:solidFill>
              <a:srgbClr val="DCE5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64515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1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4992624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조종사 직무전환 및 크로스 역멘토링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394960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1회 정례 · KT 전문가 초빙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· 대상자 전원 직무 전환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10712" y="4553712"/>
            <a:ext cx="267004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75304" y="464515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DCE5F5"/>
          </a:solidFill>
          <a:ln w="12700">
            <a:solidFill>
              <a:srgbClr val="DCE5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75304" y="464515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575304" y="4992624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AI 매뉴얼 공동 제작 · 글로벌 데이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3575304" y="5394960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직원 12명 · 월 1회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· 매뉴얼 1종 정식 발간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54496" y="4553712"/>
            <a:ext cx="267004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19088" y="464515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DCE5F5"/>
          </a:solidFill>
          <a:ln w="12700">
            <a:solidFill>
              <a:srgbClr val="DCE5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19088" y="464515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3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19088" y="4992624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안전 및 노동단축 체험 워크숍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419088" y="5394960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노사 + 외부 안전 코칭 전문가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· 체형별 안전 확보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098280" y="4553712"/>
            <a:ext cx="2670048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62872" y="4645152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DCE5F5"/>
          </a:solidFill>
          <a:ln w="12700">
            <a:solidFill>
              <a:srgbClr val="DCE5F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262872" y="464515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 4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262872" y="4992624"/>
            <a:ext cx="23408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1박 2일 노사 벤치마킹 및 종합 성과 발표회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9262872" y="5394960"/>
            <a:ext cx="2340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시화공단 영세기업 초청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· 제조기업 10개사 초청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592531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사업기간 2026. 5. 1 ~ 11. 13   |   총 예산 44,500천 원 (국고보조 40,000천 원 · 자부담 4,500천 원)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III. 경영혁신 실천사례 및 참여도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50점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EDUCATION &amp; TRAINING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경영혁신 교육·훈련 프로그램 — 언어와 지식의 벽을 회사가 없앱니다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65376"/>
            <a:ext cx="384048" cy="384048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35024" y="186537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 사내 한국어 학당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377440"/>
            <a:ext cx="4919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안산시 평생학습관과 업무협약(MOU)을 맺고 사내에서 주 2회 맞춤형 한국어 학당을 전액 무료로 운영. 단순 업무 지시를 넘어 이주노동자의 정주(定住)를 돕는 핵심 소통 채널.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4672" y="3127248"/>
            <a:ext cx="4919472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318211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2회 · 6개월 누적 576명분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54496" y="1664208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1865376"/>
            <a:ext cx="384048" cy="384048"/>
          </a:xfrm>
          <a:prstGeom prst="ellipse">
            <a:avLst/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22592" y="186537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ChatGPT 유료 서비스 전사 제공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377440"/>
            <a:ext cx="4919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근로자 전원에게 회사 비용으로 유료 계정 제공. 업무 지침의 실시간 다국어 번역, 일상 고충 상담, 현장 문제 해결을 위한 'AI 소통 툴'로 활용.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92240" y="3127248"/>
            <a:ext cx="4919472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92240" y="318211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근로자 6명 전원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675888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" y="3877056"/>
            <a:ext cx="384048" cy="38404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35024" y="387705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AI 헬퍼 · 작업 가이드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4389120"/>
            <a:ext cx="4919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헬퍼 모바일(KR/EN), 슬리터2 운행 모니터(KR/EN), 슬리터1·2 배정 변경(KR/EN) 등 영문판 3종 상시 운영. 레벨링 작업 가이드는 외국인 근로자 전용으로 별도 제작.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4672" y="5138928"/>
            <a:ext cx="4919472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" y="519379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영문판 3종 상시 가동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54496" y="3675888"/>
            <a:ext cx="539496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92240" y="3877056"/>
            <a:ext cx="384048" cy="384048"/>
          </a:xfrm>
          <a:prstGeom prst="ellipse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022592" y="387705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안전 매뉴얼 노사 공동 제작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4389120"/>
            <a:ext cx="4919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한국어 학당 시간에 현장 기술·안전 수칙을 타갈로그어·영어 등으로 노사가 함께 번역·제작. 외국인 근로자의 '안전하게 일할 권리'를 문서로 보장.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92240" y="5138928"/>
            <a:ext cx="4919472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92240" y="519379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매뉴얼 1종 정식 발간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5541264"/>
            <a:ext cx="11057839" cy="658368"/>
          </a:xfrm>
          <a:prstGeom prst="roundRect">
            <a:avLst>
              <a:gd name="adj" fmla="val 694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5541264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"직원들이 먼저 만들어 달라고 합니다."  교육은 시혜가 아니라, 개선 제안이 올라오게 만드는 투자입니다.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III. 경영혁신 실천사례 및 참여도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50점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 ·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경영혁신 성과 총괄 — 12명이 만든 변화의 밀도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2670048" cy="1463040"/>
          </a:xfrm>
          <a:prstGeom prst="roundRect">
            <a:avLst>
              <a:gd name="adj" fmla="val 375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78308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2시간 30분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395728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접수 → 작업 착수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리드타임 단축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10712" y="1664208"/>
            <a:ext cx="2670048" cy="1463040"/>
          </a:xfrm>
          <a:prstGeom prst="roundRect">
            <a:avLst>
              <a:gd name="adj" fmla="val 375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11880" y="178308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9시간 → 24시간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395728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응대 가능 시간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인력 0명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54496" y="1664208"/>
            <a:ext cx="2670048" cy="1463040"/>
          </a:xfrm>
          <a:prstGeom prst="roundRect">
            <a:avLst>
              <a:gd name="adj" fmla="val 375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55664" y="178308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54개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2395728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실가동 AI 서비스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 개발 0건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98280" y="1664208"/>
            <a:ext cx="2670048" cy="1463040"/>
          </a:xfrm>
          <a:prstGeom prst="roundRect">
            <a:avLst>
              <a:gd name="adj" fmla="val 375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99448" y="178308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187만 건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9299448" y="2395728"/>
            <a:ext cx="22677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데이터 자산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2초마다 1행 자동 기록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31012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재무 및 고용 성과 (최근 3개년)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" y="3730752"/>
            <a:ext cx="6949440" cy="1682496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37673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816352" y="3767328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2023년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3767328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047488" y="3767328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163056" y="3767328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증감 추이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6656" y="4169664"/>
            <a:ext cx="6729984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418795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매출액 (백만 원)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2816352" y="4187952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[재무제표 첨부]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4187952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[재무제표 첨부]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047488" y="4187952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923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187952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[재무제표 첨부]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" y="4572000"/>
            <a:ext cx="6729984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3232" y="459028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순이익 (백만 원)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2816352" y="4590288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[재무제표 첨부]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3931920" y="4590288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[재무제표 첨부]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047488" y="4590288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[재무제표 첨부]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6163056" y="4590288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[재무제표 첨부]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6656" y="4974336"/>
            <a:ext cx="6729984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3232" y="499262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상시 종업원 수 (명)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2816352" y="4992624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[재무제표 첨부]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3931920" y="4992624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[재무제표 첨부]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5047488" y="4992624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163056" y="4992624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7B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[재무제표 첨부]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543153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2023~2025 결산 재무제표 및 원천징수이행상황신고서를 별첨으로 제출합니다.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717536" y="3310128"/>
            <a:ext cx="3904488" cy="2395728"/>
          </a:xfrm>
          <a:prstGeom prst="roundRect">
            <a:avLst>
              <a:gd name="adj" fmla="val 2290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973568" y="3474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규모가 아니라 밀도로 봐 주십시오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7973568" y="3895344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12명이 54개 서비스를 자체 개발했습니다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응대 인력 0명으로 응대 시간을 3배로 늘렸습니다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신규 투자 없이 정밀제어 성능을 확보했습니다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 개발비 0원 — 유지보수 종속이 없습니다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IV. 경영혁신 성과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80점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 01 · PRODUCTIVITY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 — 밤에 들어온 주문이 아침 8시에 라인에 올라갑니다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916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시작까지 (00시 ~ 12시)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08483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64208" y="2121408"/>
            <a:ext cx="7863840" cy="292608"/>
          </a:xfrm>
          <a:prstGeom prst="roundRect">
            <a:avLst>
              <a:gd name="adj" fmla="val 15625"/>
            </a:avLst>
          </a:prstGeom>
          <a:solidFill>
            <a:srgbClr val="EFF2F7"/>
          </a:solidFill>
          <a:ln w="12700">
            <a:solidFill>
              <a:srgbClr val="EF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62088" y="2121408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B5342B"/>
          </a:solidFill>
          <a:ln w="12700">
            <a:solidFill>
              <a:srgbClr val="B534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44768" y="21214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09:00 접수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59368" y="21214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10:30 작업 시작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560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64208" y="2596896"/>
            <a:ext cx="7863840" cy="292608"/>
          </a:xfrm>
          <a:prstGeom prst="roundRect">
            <a:avLst>
              <a:gd name="adj" fmla="val 15625"/>
            </a:avLst>
          </a:prstGeom>
          <a:solidFill>
            <a:srgbClr val="EFF2F7"/>
          </a:solidFill>
          <a:ln w="12700">
            <a:solidFill>
              <a:srgbClr val="EFF2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38528" y="2596896"/>
            <a:ext cx="4937760" cy="292608"/>
          </a:xfrm>
          <a:prstGeom prst="roundRect">
            <a:avLst>
              <a:gd name="adj" fmla="val 15625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48256" y="25968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02:14 접수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967728" y="259689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08:00 작업 시작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351008" y="1920240"/>
            <a:ext cx="1271016" cy="1170432"/>
          </a:xfrm>
          <a:prstGeom prst="roundRect">
            <a:avLst>
              <a:gd name="adj" fmla="val 4688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351008" y="1975104"/>
            <a:ext cx="127101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2시간</a:t>
            </a:r>
            <a:endParaRPr lang="en-US" sz="18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30분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0351008" y="2706624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2E7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빨리 시작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" y="3456432"/>
            <a:ext cx="2670048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68096" y="3584448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응대 커버리지 3배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" y="4041648"/>
            <a:ext cx="2267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9시간(38%) → 24시간. 추가 응대 인력 0명.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" y="490118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쇼핑·은행·택배는 이미 24시간입니다. 철강 발주만 업무시간이었습니다.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10712" y="3456432"/>
            <a:ext cx="2670048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611880" y="3584448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확인 반나절 → 즉시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611880" y="4041648"/>
            <a:ext cx="2267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 → 담당자 창고 확인 → 회신(반나절)이 즉시 응답으로. 위치·중량·입고 경과일까지.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611880" y="490118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창고 위치 조회까지 제공합니다.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54496" y="3456432"/>
            <a:ext cx="2670048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455664" y="3584448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실적 수일 → 실시간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55664" y="4041648"/>
            <a:ext cx="2267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마감 후 자료 요청·정리(수일)를 거치던 실적 보고가 실시간 엑셀 즉시 전송으로.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55664" y="490118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마감을 기다리지 않습니다.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098280" y="3456432"/>
            <a:ext cx="2670048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9299448" y="3584448"/>
            <a:ext cx="2267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불량 소멸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299448" y="4041648"/>
            <a:ext cx="2267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설정값을 계산해 주는 도구를 만든 뒤, 기계 설정을 잘못해서 나던 불량은 사실상 없어졌습니다.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299448" y="4901184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 공장장이 암산하던 조합을 AI가 계산합니다.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6928" y="5486400"/>
            <a:ext cx="11057839" cy="658368"/>
          </a:xfrm>
          <a:prstGeom prst="roundRect">
            <a:avLst>
              <a:gd name="adj" fmla="val 694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" y="5486400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주문은 밤에 들어오고, 작업은 아침 8시에 시작됩니다. 그 사이에 사람은 없습니다.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IV. 경영혁신 성과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80점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 02 · QUALITY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— 샘플 검사에서 전수 검사로, 귀책 추궁에서 데이터 증빙으로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1055096" cy="2395728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373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578608" y="17373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53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BEFORE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784848" y="17373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9808" y="2103120"/>
            <a:ext cx="10689336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1396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 방식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578608" y="213969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샘플 검사 — 코일 내부 상태 확인 불가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784848" y="2139696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코일 표면 100% 촬영 · 결함 좌표와 크기까지 기록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" y="2578608"/>
            <a:ext cx="10689336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261518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 원인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578608" y="261518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"그때 어떻게 돌렸지"를 아무도 답하지 못함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784848" y="2615184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운전기록 × CCTV 동일 시간축 대조로 30분 내 원인 규명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" y="3054096"/>
            <a:ext cx="10689336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309067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귀책 판별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578608" y="309067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증빙 미확보로 항상 오성철강 귀책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784848" y="309067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입고 촬영본 대조로 원소재 기인 입증 · 제철소 클레임 자료 활용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9808" y="3529584"/>
            <a:ext cx="10689336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356616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증빙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578608" y="356616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 수단 없음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784848" y="356616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Lot ID · 공정 · 두께 · 중량 · 결함 좌표를 담은 성적서 자동 발행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4224528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문의에 데이터로 답합니다 — 실제 응대 예시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66928" y="4626864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4672" y="473659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"받은 코일에 스크래치가 있어요"  ·  22:35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04672" y="5029200"/>
            <a:ext cx="4919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 1622051 확인했습니다. 전수 검사에서 표면 결함 2건 기록되어 있습니다.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352 m 지점 · 스크래치 · 폭 3 mm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1,024 m 지점 · 덴트 · 지름 5 mm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63056" y="4626864"/>
            <a:ext cx="5458968" cy="1463040"/>
          </a:xfrm>
          <a:prstGeom prst="roundRect">
            <a:avLst>
              <a:gd name="adj" fmla="val 375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400800" y="473659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5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"우리 쪽 잘못인가요?"  ·  22:38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50292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건 모두 원소재 기인으로 판단됩니다. 입고 시 촬영본에 동일 위치 결함이 이미 있었고,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구간 가공 조건은 표준 범위 내였습니다. 제철소 클레임 자료로 쓰실 수 있습니다.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57607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결함이 있었는지가 아니라, 누구 책임인지를 데이터로 답합니다.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IV. 경영혁신 성과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80점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 03 · COST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원가·재무구조 개선 — 투자하지 않고 얻은 정밀제어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29584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82880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487168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신규 교체 비용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852928"/>
            <a:ext cx="3054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노후 설비를 폐기하지 않고 AI 카메라·센서를 이식하는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'디지털 레트로핏'으로 정밀제어 성능 확보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06824" y="1691640"/>
            <a:ext cx="3529584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44568" y="182880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0건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487168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외주 개발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2852928"/>
            <a:ext cx="3054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54개 서비스 전량 자체 개발. 유지보수 종속이 없고,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공장이 바뀌면 그 주에 프로그램도 바뀝니다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529584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84464" y="182880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0명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284464" y="2487168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응대 인력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84464" y="2852928"/>
            <a:ext cx="3054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응대 가능 시간을 3배로 늘리면서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채용 없이 기존 인력으로 운영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950208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손실을 막는 원가절감과, 새로 버는 매출을 동시에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" y="4352544"/>
            <a:ext cx="3529584" cy="749808"/>
          </a:xfrm>
          <a:prstGeom prst="roundRect">
            <a:avLst>
              <a:gd name="adj" fmla="val 7317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442569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 재작업·폐기 감소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4672584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불량 소멸 + 전수검사로 재작업 및 폐기 소재 감소. 철판 1코일 = 약 15톤 · 길이 2km.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06824" y="4352544"/>
            <a:ext cx="3529584" cy="749808"/>
          </a:xfrm>
          <a:prstGeom prst="roundRect">
            <a:avLst>
              <a:gd name="adj" fmla="val 7317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89704" y="442569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클레임 배상 리스크 축소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489704" y="4672584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종전에는 증빙이 없어 원소재 결함도 오성철강 귀책이었습니다. 지금은 데이터로 가립니다.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46720" y="4352544"/>
            <a:ext cx="3529584" cy="749808"/>
          </a:xfrm>
          <a:prstGeom prst="roundRect">
            <a:avLst>
              <a:gd name="adj" fmla="val 7317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0" y="442569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매출원 창출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672584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성적서 상세본 유상 발행 — 가공 외 매출 0원이던 구조에 새 수익원이 생겼습니다.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" y="5230368"/>
            <a:ext cx="3529584" cy="749808"/>
          </a:xfrm>
          <a:prstGeom prst="roundRect">
            <a:avLst>
              <a:gd name="adj" fmla="val 7317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" y="530352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기회비용 회수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5550408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실패 때 라인 중단으로 4.5억 원의 매출을 잃었습니다. 지금은 중단 이력까지 기록·관리합니다.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06824" y="5230368"/>
            <a:ext cx="3529584" cy="749808"/>
          </a:xfrm>
          <a:prstGeom prst="roundRect">
            <a:avLst>
              <a:gd name="adj" fmla="val 7317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489704" y="530352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이동·왕복 비용 소멸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489704" y="5550408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문의 대응을 위한 창고 왕복과 현장 확인 이동이 통합 관제로 사라졌습니다.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46720" y="5230368"/>
            <a:ext cx="3529584" cy="749808"/>
          </a:xfrm>
          <a:prstGeom prst="roundRect">
            <a:avLst>
              <a:gd name="adj" fmla="val 7317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0" y="5303520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행정 공수 절감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0" y="5550408"/>
            <a:ext cx="3163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마감 실적 정리, 미출고 팩스 수신, 재고 조회 회신 등 반복 행정 업무가 자동화됐습니다.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IV. 경영혁신 성과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80점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RESULTS 04 · PEOPLE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고용 성과 — 12명 전원 정규직, 평균 근속 14년, 최장 40년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2670048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78308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35915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정규직 고용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688336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비정규직 · 일용직 0명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근로자 포함 전원 직접고용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0712" y="1664208"/>
            <a:ext cx="2670048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11880" y="178308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14년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35915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근속연수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688336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생산가공팀 13년 · 사무/연구/영업 18년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최장 40년 (1985년 입사)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54496" y="1664208"/>
            <a:ext cx="2670048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55664" y="178308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235915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정년 후 계속고용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55664" y="2688336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60세 정년 도달 숙련공 3명 전원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임금 삭감 없는 정규직 재고용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98280" y="1664208"/>
            <a:ext cx="2670048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99448" y="1783080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2명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9299448" y="2359152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중간관리자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99448" y="2688336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김영철 대리 · 멜벤 대리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내·외국인 동등 지휘 체계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63931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인력 구성 현황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6928" y="4005072"/>
            <a:ext cx="6766560" cy="1755648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" y="405993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 (직군)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191256" y="405993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정규직 남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968496" y="405993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정규직 여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745736" y="40599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385816" y="40599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연령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345936" y="40599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근속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" y="4389120"/>
            <a:ext cx="6547104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6656" y="44165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생산가공팀 (공장장·현장·물류)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191256" y="44165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968496" y="44165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745736" y="441655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385816" y="441655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41세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345936" y="44165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13년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6656" y="4791456"/>
            <a:ext cx="6547104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6656" y="48188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사무 / 연구 / 영업 (대표·관리·회계)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191256" y="481888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968496" y="481888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745736" y="48188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385816" y="481888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55세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345936" y="481888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18년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76656" y="5193792"/>
            <a:ext cx="6547104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76656" y="522122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 (전체)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3191256" y="522122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3968496" y="522122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4745736" y="522122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5385816" y="522122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45세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6345936" y="522122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14년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534656" y="3639312"/>
            <a:ext cx="4087368" cy="2121408"/>
          </a:xfrm>
          <a:prstGeom prst="roundRect">
            <a:avLst>
              <a:gd name="adj" fmla="val 2586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50" name="Text 48"/>
          <p:cNvSpPr txBox="1"/>
          <p:nvPr/>
        </p:nvSpPr>
        <p:spPr>
          <a:xfrm>
            <a:off x="7790688" y="37856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임금피크제를 폐지했습니다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7790688" y="42062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초고령화 시대 현장 근로자의 일자리 불안을 해소하기 위해 사내 취업규칙을 전면 친화적으로 개정하고, 임금피크제(급여 삭감) 관행을 노사 전원 합의로 과감히 폐지했습니다.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1985년에 입사해 근 40년간 헌신한 이원춘 이사 등 60세 정년 도달 고령 숙련공 3명 전원과 '임금 불이익 없는 정규직 재고용' 근로계약을 전격 체결했습니다.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IV. 경영혁신 성과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80점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· ENVIRONMENT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환경경영 체계 — 외부 기관의 진단을 받았습니다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환경경영 목표 및 계획 수립 (2024)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31136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지속가능한 성장을 위한 전사적 ESG 경영 체계를 공식 도입하고, 외부 전문기관(안산환경재단)을 통한 'ESG 경영 진단'을 실시하여 맞춤형 ESG 경영 목표를 수립했습니다.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3054096"/>
            <a:ext cx="4754880" cy="658368"/>
          </a:xfrm>
          <a:prstGeom prst="roundRect">
            <a:avLst>
              <a:gd name="adj" fmla="val 8333"/>
            </a:avLst>
          </a:prstGeom>
          <a:solidFill>
            <a:srgbClr val="E8F2EC"/>
          </a:solidFill>
          <a:ln w="12700">
            <a:solidFill>
              <a:srgbClr val="BEDA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3054096"/>
            <a:ext cx="4462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안산환경재단 ESG 경영수준 진단  ·  B등급 획득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63056" y="1664208"/>
            <a:ext cx="5458968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19088" y="181051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환경경영 추진 조직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419088" y="2286000"/>
            <a:ext cx="10863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총괄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505395" y="2286000"/>
            <a:ext cx="38514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대표이사 남은우 — 주 1회 노사 소통 회의 직접 주재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19088" y="2615184"/>
            <a:ext cx="4937760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19088" y="2670048"/>
            <a:ext cx="10863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실무 총괄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505395" y="2670048"/>
            <a:ext cx="38514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코일센터연구실 정대균 실장 — ESG 경영 체계 수립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19088" y="2999232"/>
            <a:ext cx="4937760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19088" y="3054096"/>
            <a:ext cx="10863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실행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505395" y="3054096"/>
            <a:ext cx="38514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생산가공팀 8명 — 다국어 안내판 기반 목표 공유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19088" y="3383280"/>
            <a:ext cx="4937760" cy="0"/>
          </a:xfrm>
          <a:prstGeom prst="line">
            <a:avLst/>
          </a:prstGeom>
          <a:noFill/>
          <a:ln w="9525">
            <a:solidFill>
              <a:srgbClr val="D7DE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19088" y="3438144"/>
            <a:ext cx="10863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검증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05395" y="3438144"/>
            <a:ext cx="38514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안산환경재단 · ISO 45001 인증기관 정기 심사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041648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부문 대외 활동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66928" y="4443984"/>
            <a:ext cx="267004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455371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안산시 탄소중립 정책포럼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502920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2025. 12. 12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5266944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「AI/Robot을 이용한 탄소중립」주제로 기고 및 발표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10712" y="4443984"/>
            <a:ext cx="267004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93592" y="455371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시화공단 로봇공정 설명회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3593592" y="502920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593592" y="5266944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오성철강사 기획 총괄 — 자동화를 통한 에너지·자원 절감 사례 공유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54496" y="4443984"/>
            <a:ext cx="267004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37376" y="455371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시흥 산학연관 상생협력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로봇공정 설명회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437376" y="502920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437376" y="5266944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제조기업 대상 저탄소 스마트공정 전환 사례 발표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098280" y="4443984"/>
            <a:ext cx="267004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281160" y="455371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 개방 AI 사례 전파 행사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9281160" y="502920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281160" y="5266944"/>
            <a:ext cx="230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시화·반월공단 제조 대표 초청 — 설비 재사용형 DX 현장 공개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V. ESG — 환경 (E)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65점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· ENVIRONMENT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친환경 기술 ① 디지털 레트로핏 — 버리지 않는 것이 환경 성과입니다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1055096" cy="1600200"/>
          </a:xfrm>
          <a:prstGeom prst="roundRect">
            <a:avLst>
              <a:gd name="adj" fmla="val 3429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6968" y="1792224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 된 노후 공정에 AI 카메라와 센서를 '이식'했습니다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286000"/>
            <a:ext cx="10424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설비를 교체하는 대신 데이터를 붙였습니다. 그 결과 작업자의 근로 환경을 획기적으로 개선하면서, 동시에 불량과 폐기물을 원천 차단하는 AI 상생 구조를 만들었습니다.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제조업의 일반적인 설비 현대화는 '폐기 후 신규 도입'입니다. 오성철강사는 '유지하며 고도화'를 선택했습니다.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3429000"/>
            <a:ext cx="267004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68096" y="356616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폐설비 · 산업폐기물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4005072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1대 교체 시 발생하는 대형 철제 폐기물과 산업폐기물을 원천 회피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" y="4791456"/>
            <a:ext cx="2267712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484632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 자체를 하지 않음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10712" y="3429000"/>
            <a:ext cx="267004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611880" y="356616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설비 제조 탄소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4005072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설비를 만들기 위해 소비되는 철강·에너지·물류 탄소를 발생시키지 않음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11880" y="4791456"/>
            <a:ext cx="2267712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11880" y="484632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구매하지 않으므로 0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54496" y="3429000"/>
            <a:ext cx="267004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55664" y="356616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수명 연장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4005072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노후 장비를 정밀제어 장비로 전환하여 자산 수명을 연장, 자원 순환에 기여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55664" y="4791456"/>
            <a:ext cx="2267712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55664" y="484632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 설비 계속 가동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98280" y="3429000"/>
            <a:ext cx="267004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299448" y="356616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환경 개선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9299448" y="4005072"/>
            <a:ext cx="2267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고강도 육체노동을 AI 조종으로 대체, 노후 설비 전면 자동화에 약 2억 원 투입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299448" y="4791456"/>
            <a:ext cx="2267712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99448" y="484632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 완료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5358384"/>
            <a:ext cx="11057839" cy="658368"/>
          </a:xfrm>
          <a:prstGeom prst="roundRect">
            <a:avLst>
              <a:gd name="adj" fmla="val 694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5358384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저희의 환경 성과는 새로 산 것이 아니라, 버리지 않은 것입니다. 그리고 그것이 동시에 원가절감이었습니다.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V. ESG — 환경 (E)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65점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· ENVIRONMENT 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친환경 기술 ② 불량을 줄이는 일이 곧 자원을 아끼는 일입니다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2578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불량 · 폐기물 원천 차단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128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철판 1코일은 약 15톤, 길이 2km입니다. 한 번의 설정 오류가 수 톤의 소재를 폐기물로 만듭니다.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24912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설정값 자동 계산 도구 도입 → 설정 불량 사실상 소멸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전수검사 체계로 재작업·폐기 소재 감소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입고 시 전수 촬영으로 원소재 결함을 조기 검출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63056" y="1664208"/>
            <a:ext cx="5458968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19088" y="181051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공급망 상류(上流) 품질 개선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6419088" y="22128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오성철강사의 전수 촬영 데이터는 저희 공정만 개선하지 않습니다.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19088" y="2560320"/>
            <a:ext cx="4937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입고 시 촬영본으로 원소재 결함을 객관적으로 입증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제철소에 클레임 자료로 제공 → 상류 공정 품질 개선 유도</a:t>
            </a:r>
            <a:endParaRPr lang="en-US" sz="115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검증되지 않은 불량 소재가 건축 부자재·자동차 부품으로 흘러가는 것을 차단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4114800"/>
            <a:ext cx="3529584" cy="1719072"/>
          </a:xfrm>
          <a:prstGeom prst="roundRect">
            <a:avLst>
              <a:gd name="adj" fmla="val 3191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4242816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소모품 재사용 캠페인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4590288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제작 다국어 포스터 「REUSE &amp; REDUCE WASTE — 장갑 아껴 쓰기」를 현장에 상시 게시. 세척 → 보관 → 점검 → 재사용의 4단계를 그림으로 안내해 언어와 무관하게 전 직원이 실천.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06824" y="4114800"/>
            <a:ext cx="3529584" cy="1719072"/>
          </a:xfrm>
          <a:prstGeom prst="roundRect">
            <a:avLst>
              <a:gd name="adj" fmla="val 3191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4242816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· 에너지 저감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590288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 라인 통합 관제(20초 자동 갱신)로 현장에 가지 않고 3개 라인 상태를 확인. 고객 재고 문의 대응을 위한 창고 왕복이 사라졌습니다.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46720" y="4114800"/>
            <a:ext cx="3529584" cy="1719072"/>
          </a:xfrm>
          <a:prstGeom prst="roundRect">
            <a:avLst>
              <a:gd name="adj" fmla="val 3191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66176" y="4242816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환경 목표 공시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66176" y="4590288"/>
            <a:ext cx="3090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인원의 50%가 외국인임을 배려하여, 주요 공정 지표와 경영·안전·환경 목표를 다국어 및 시각화된 안내판으로 현장에 상시 투명 공시.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V. ESG — 환경 (E)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65점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· SOCIAL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사회(S) ① 전국 최초「이주노동자 행복일터」인증 기업입니다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1055096" cy="1051560"/>
          </a:xfrm>
          <a:prstGeom prst="roundRect">
            <a:avLst>
              <a:gd name="adj" fmla="val 5217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6968" y="17739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경기도 이주노동자 행복일터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1396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최초 인증 · 2025.09 ~ 2027.08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471416" y="17739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 45001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471416" y="21396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안전보건경영시스템 국제인증 · 2024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055864" y="17739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안산환경재단 ESG 진단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55864" y="21396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경영수준 B등급 · 2024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2926080"/>
            <a:ext cx="3529584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04672" y="3072384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언어 장벽 해소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3511296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안산시 평생학습관 MOU — 사내 '찾아가는 한국어 학당' 주 2회 전액 무료 운영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근로자 전원에게 ChatGPT 유료 서비스 회사 비용으로 제공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안전·기술 매뉴얼을 노사가 함께 번역·제작하여 정식 발간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06824" y="2926080"/>
            <a:ext cx="3529584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544568" y="3072384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 없는 일터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3511296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직원 12명 100% 정규직 — 외국인 근로자 포함 전원 직접고용, 비정규직 0명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근로자 2명을 대리(중간 관리자)로 파격 승진, 내·외국인 동등 지휘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 AI전환 우수사례 공모전 대상을 외국인 근로자와 공동 수상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2926080"/>
            <a:ext cx="3529584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84464" y="3072384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정주(定住) 지원과 화합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84464" y="3511296"/>
            <a:ext cx="30540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'글로벌 데이' — 매월 테마 국가를 지정, 외국인 직원이 호스트가 되는 화합 런천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대표이사가 직접 다국어 통역기를 들고 나서는 계층별 고충 처리 간담회 병행</a:t>
            </a:r>
            <a:endParaRPr lang="en-US" sz="10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안산시 공동근로복지기금 신규 가입 및 공식 출연 확정 (2026)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5440680"/>
            <a:ext cx="11057839" cy="658368"/>
          </a:xfrm>
          <a:prstGeom prst="roundRect">
            <a:avLst>
              <a:gd name="adj" fmla="val 6944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440680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젊은 직원이 없어 혁신이 불가능하다는 제조업에서, 외국인 근로자가 그 역할을 수행하고 있습니다.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VI. ESG — 사회 (S)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 65점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· SOCIAL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사회(S) ② 보건안전 — ISO 45001 국제인증과 체형 맞춤 안전망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3529584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792224"/>
            <a:ext cx="3054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2억 원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34086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노후 설비 자동화 투자 (2024)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70048"/>
            <a:ext cx="3054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레벨러 · 호이스트 전면 자동화 공사 완료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대형 크레인 도입 — 중대재해 원천 차단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06824" y="1664208"/>
            <a:ext cx="3529584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44568" y="1792224"/>
            <a:ext cx="3054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 45001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34086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안전보건경영시스템 국제인증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2670048"/>
            <a:ext cx="3054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 수준의 무재해 사업장 구현을 위한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문서화된 관리체계와 정기 심사 수검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664208"/>
            <a:ext cx="3529584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84464" y="1792224"/>
            <a:ext cx="3054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0건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284464" y="2340864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노사분규 · 노동관계법 위반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84464" y="2670048"/>
            <a:ext cx="3054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 · 2024 · 2025 3년 연속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분규 · 조정 · 법 위반 발생 사실 전무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657600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767328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체형 맞춤 안전 작업대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059936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내국인보다 체구가 작아 까치발을 들어야 했던 외국인 청년들의 신체적 고충을 60대 장인이 역지사지로 체험한 뒤, 체형에 맞춘 '높이 조절 안전 발판'을 노사가 공동 제작하여 추락 위험을 차단했습니다.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54496" y="3657600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3767328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복합 휴게시설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4059936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열악한 외부 공간을 폐지하고 사내에 스마트 복합 휴게시설을 구축 완료(2024). 고강도 육체노동의 피로도를 낮추는 회복 공간을 확보했습니다.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992624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4672" y="510235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기반 사고 원인 규명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5394960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슬리터 사고(2026-06-25)를 CCTV 영상 프레임 × PLC 데이터 초 단위 대조로 분석. 수동 기동이 작업자의 의도적 조작임을 동일 초 단위로 확인하는 등 30분 내 원인 규명 체계를 구축했습니다.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54496" y="4992624"/>
            <a:ext cx="5394960" cy="1170432"/>
          </a:xfrm>
          <a:prstGeom prst="roundRect">
            <a:avLst>
              <a:gd name="adj" fmla="val 4688"/>
            </a:avLst>
          </a:prstGeom>
          <a:solidFill>
            <a:srgbClr val="F2F5FA"/>
          </a:solidFill>
          <a:ln w="12700">
            <a:solidFill>
              <a:srgbClr val="D7DE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92240" y="5102352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안전 수칙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5394960"/>
            <a:ext cx="4919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한국어로만 된 안전 수칙과 일방적 업무 지시로 인한 정보 소외를 없애기 위해, 현장 기술 및 안전 수칙을 타갈로그어·영어 등으로 번역. 외국인 근로자의 '안전하게 일할 권리'를 보장합니다.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VI. ESG — 사회 (S)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 65점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· SOCIAL 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사회(S) ③ 초고령화 시대에, 임금피크제를 폐지했습니다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1055096" cy="1536192"/>
          </a:xfrm>
          <a:prstGeom prst="roundRect">
            <a:avLst>
              <a:gd name="adj" fmla="val 3571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6968" y="179222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  |  고령 숙련공 고용 안정 및 임금피크제 폐지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231136"/>
            <a:ext cx="104241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초고령화 시대 현장 근로자의 일자리 불안을 해소하기 위해 사내 취업규칙을 전면 친화적으로 개정하고, 임금피크제(급여 삭감) 관행을 노사 전원 합의로 과감히 폐지했습니다.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1985년에 입사하여 근 40년간 당사에 헌신한 이원춘 이사 등 60세 정년 도달 고령 숙련공 3명 전원에 대해 '임금 불이익(삭감) 없는 정규직 재고용' 노사 전원 합의 및 근로계약을 전격 체결했습니다.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3364992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연혁 — 무엇을 언제 했는가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3767328"/>
            <a:ext cx="352958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3767328"/>
            <a:ext cx="3529584" cy="475488"/>
          </a:xfrm>
          <a:prstGeom prst="roundRect">
            <a:avLst>
              <a:gd name="adj" fmla="val 11538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" y="37673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7673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AF0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고령 숙련공 고용 안정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4370832"/>
            <a:ext cx="309067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취업규칙 전면 친화적 개정 · 임금피크제 폐지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60세 정년 도달 숙련공 3명 전원 정규직 재고용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1회 '노사 소통 회의' 신설 및 상시 개최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06824" y="3767328"/>
            <a:ext cx="352958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06824" y="3767328"/>
            <a:ext cx="3529584" cy="475488"/>
          </a:xfrm>
          <a:prstGeom prst="roundRect">
            <a:avLst>
              <a:gd name="adj" fmla="val 11538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6280" y="37673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312664" y="37673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AF0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본격화 · 안전기반 확보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370832"/>
            <a:ext cx="309067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안산환경재단 ESG 경영수준 진단 B등급 획득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 45001 안전보건경영시스템 국제인증 획득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노후 설비 전면 자동화 약 2억 원 투입 · 대형 크레인 도입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복합 휴게시설 사내 구축 완료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3767328"/>
            <a:ext cx="3529584" cy="2212848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3767328"/>
            <a:ext cx="3529584" cy="475488"/>
          </a:xfrm>
          <a:prstGeom prst="roundRect">
            <a:avLst>
              <a:gd name="adj" fmla="val 11538"/>
            </a:avLst>
          </a:prstGeom>
          <a:solidFill>
            <a:srgbClr val="D99A1E"/>
          </a:solidFill>
          <a:ln w="12700">
            <a:solidFill>
              <a:srgbClr val="D99A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66176" y="37673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37673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AF0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이주노동자 포용 · AI 근로환경 개선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266176" y="4370832"/>
            <a:ext cx="3090672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최초「경기도 이주노동자 행복일터」인증 획득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 경기지역 중소기업 AI전환 우수사례 공모전 대상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안산시 평생학습관 MOU · 무료 사내 한국어 학당 상시 운영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40년 노후 공정에 AI 카메라·센서 '디지털 레트로핏' 적용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VI. ESG — 사회 (S)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 65점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ESG · GOVERNANCE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지배구조(G) — 매주 전 직원이 경영 현황을 봅니다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1055096" cy="1463040"/>
          </a:xfrm>
          <a:prstGeom prst="roundRect">
            <a:avLst>
              <a:gd name="adj" fmla="val 3750"/>
            </a:avLst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86968" y="1773936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1회 전 직원 참여「노사 소통 회의」상시 운영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86968" y="2231136"/>
            <a:ext cx="10424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상시 근로자 30인 미만(12명) 사업장으로 노사협의회 법적 설치 의무 대상이 아닙니다. 그러나 제도의 공백을 보완하고 무노조 사업장의 한계를 극복하기 위해,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매주 1회 경영진과 전 직원 12명이 한자리에 모여 회사의 경영 현황 · 수주 실적 · 안전 이슈를 격의 없이 투명하게 공유합니다. 대표이사가 직접 주재합니다.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3310128"/>
            <a:ext cx="539496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04672" y="3419856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의사결정 · 참여 거버넌스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767328"/>
            <a:ext cx="4919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근로자 대표 선출·운영 — 정대균 실장이 겸임, 경영진과 현장의 가교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취업규칙 전면 개정을 노사 전원 합의 절차로 진행 (2023)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분기별 ESG · AI 혁신 성과 공유회 실시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54496" y="3310128"/>
            <a:ext cx="539496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92240" y="3419856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검증 · 감사 체계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767328"/>
            <a:ext cx="4919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안산환경재단 ESG 경영수준 진단 — 외부 전문기관의 객관적 평가 수용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 45001 국제인증 — 문서화된 관리체계와 인증기관 정기 심사 수검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국고보조금 집행 관리 — 입·출금 창구 책임자(대표) 및 정산 총괄(실장) 분리 지정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4882896"/>
            <a:ext cx="539496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4992624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투명성 · 내부통제 시스템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5340096"/>
            <a:ext cx="4919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지출 사전결재 시스템 — 지출결의서 기안·승인 전자화, 계정 관리 체계 운영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계좌 손익 통합 대시보드 — 은행 거래내역 × ERP 실매출 자동 대사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거래명세서 입금 확인 — 금액·거래처·시점 자동 매칭으로 미수금 관리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54496" y="4882896"/>
            <a:ext cx="539496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  <a:effectLst>
            <a:outerShdw sx="100000" sy="100000" kx="0" ky="0" algn="bl" rotWithShape="0" blurRad="101600" dist="12700" dir="5400000">
              <a:srgbClr val="8A96AA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92240" y="4992624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투명성 · 기록주의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5340096"/>
            <a:ext cx="49194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고객사에 품질 성적서 자동 발행 — Lot ID · 공정 · 두께 · 중량 · 결함 좌표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"결함이 있었는지가 아니라, 누구 책임인지를 데이터로 답합니다"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2초마다 1행 · 187만 건 자동 기록 — 감사·추적 가능성을 시스템으로 보장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VII. ESG — 지배구조 (G)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990064" y="6309360"/>
            <a:ext cx="6634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⑧ 50점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4864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 I I I .   향 후   추 진 계 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60120"/>
            <a:ext cx="110578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1983년, 우리는 경기장을 지었습니다</a:t>
            </a:r>
            <a:endParaRPr lang="en-US" sz="3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2026년, 우리를 다시 짓습니다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3774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「제조업이 꿈꾸고 현실화할 수 있는 AI 모델공장」으로 지정해 주십시오.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2944368"/>
            <a:ext cx="3529584" cy="2057400"/>
          </a:xfrm>
          <a:prstGeom prst="roundRect">
            <a:avLst>
              <a:gd name="adj" fmla="val 2667"/>
            </a:avLst>
          </a:prstGeom>
          <a:solidFill>
            <a:srgbClr val="1B3055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307238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45643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상생 모델 완성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840480"/>
            <a:ext cx="30540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상생파트너십 4개 과제 완수 (5.1~11.13)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60대 장인 AI 조종사 직무전환 100%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다국어 안전·기술 매뉴얼 정식 발간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근로자 이직률 0% 유지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06824" y="2944368"/>
            <a:ext cx="3529584" cy="2057400"/>
          </a:xfrm>
          <a:prstGeom prst="roundRect">
            <a:avLst>
              <a:gd name="adj" fmla="val 2667"/>
            </a:avLst>
          </a:prstGeom>
          <a:solidFill>
            <a:srgbClr val="1B3055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4568" y="307238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345643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확산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44568" y="3840480"/>
            <a:ext cx="30540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시화·반월공단 2,000여 영세 뿌리기업 대상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벤치마킹 표준 모델 무상 전수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제조기업 10개사 이상 초청 성과 발표회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공장 개방 벤치마킹 상시 운영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0" y="2944368"/>
            <a:ext cx="3529584" cy="2057400"/>
          </a:xfrm>
          <a:prstGeom prst="roundRect">
            <a:avLst>
              <a:gd name="adj" fmla="val 2667"/>
            </a:avLst>
          </a:prstGeom>
          <a:solidFill>
            <a:srgbClr val="1B3055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84464" y="3072384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2028~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284464" y="3456432"/>
            <a:ext cx="3054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산업 표준화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84464" y="3840480"/>
            <a:ext cx="30540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4,000곳 철강 회사에 BM 모델 제시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"철강 제조가 첨단 AI 사업"이라는 인식 전환</a:t>
            </a:r>
            <a:endParaRPr lang="en-US" sz="1000" dirty="0"/>
          </a:p>
          <a:p>
            <a:pPr marL="342900" indent="-342900">
              <a:lnSpc>
                <a:spcPts val="15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CE5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성적서 유상 발행 등 가공 외 매출 본격화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5230368"/>
            <a:ext cx="11057839" cy="0"/>
          </a:xfrm>
          <a:prstGeom prst="line">
            <a:avLst/>
          </a:prstGeom>
          <a:noFill/>
          <a:ln w="12700">
            <a:solidFill>
              <a:srgbClr val="2E437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5376672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5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외국인 직원들에게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614416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 기술자가 될 수 있다는 꿈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306824" y="5376672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5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오성철강사에게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306824" y="5614416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우리만의 고품질 서비스를 판매하는 꿈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046720" y="5376672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5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4,000곳의 철강 회사들에게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5614416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철강 제조가 첨단 AI 사업이라는 꿈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144768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C4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새로 만드는 것이 아니라, 찾아내는 것이었습니다.  그리고 찾아내려면, 계속 물어봐야 합니다.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4739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E82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오성철강사  ·  대표이사 남은우  ·  경기도 안산시 단원구 별망로 73  ·  031-434-5230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오성철강사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제33회 기업혁신대상 활동사례 및 성과 소개자료</dc:title>
  <dc:subject>경영혁신 및 ESG경영 모범사례</dc:subject>
  <dc:creator>오성철강사</dc:creator>
  <cp:lastModifiedBy>오성철강사</cp:lastModifiedBy>
  <cp:revision>1</cp:revision>
  <dcterms:created xsi:type="dcterms:W3CDTF">2026-09-20T04:55:54Z</dcterms:created>
  <dcterms:modified xsi:type="dcterms:W3CDTF">2026-09-20T04:55:54Z</dcterms:modified>
</cp:coreProperties>
</file>