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3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43년 제조업 + AI, 그리고 다문화 상생. 세 가지 외부 인증으로 신뢰를 먼저 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칸으로 전체 서사를 압축. 실패→자산→질문→결과.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심사위원이 배점표를 들고 읽을 수 있도록 매핑을 먼저 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소개이자 위기 예고. 마지막 배너에서 '전통'을 '노후'로 재정의한다.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않고 금액까지 공개한다. 이 정직함이 뒤의 성과를 믿게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상을 받고도 매출이 안 움직인 이유 = 현장 미사용 + 고객 전달 통로 부재.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번의 사업 실패 밑에 깔린 구조적 위기 — 인력 양극화와 기술 단절.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질문의 전환이 혁신의 출발점. 목표 3개 모두 측정 지표를 붙였다.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전략의 핵심 = 버리지 않고 덧붙인다. 이것이 E 항목의 근거이기도 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조직도 자체가 혁신의 증거 — 연구실이 대표 직속이고, 그 실장이 근로자 대표를 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질문에 답할 데이터는 이미 있었다. 서비스로 만들 생각을 못 했을 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혁신의 단위는 '시스템'이 아니라 '답하지 못한 질문 하나'.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고객이 원한 건 더 좋은 기술이 아니라, 다른 데서 다 되는 것이 여기서만 안 되는 그 불편의 해소였다.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혁신을 프로젝트가 아니라 사이클로 정의. 41개는 그 사이클의 산출물.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젊은 직원이 없어 혁신이 불가능하다는 제조업에서, 외국인 근로자가 그 역할을 수행한다.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역멘토링은 구호가 아니라 예산과 목표치가 붙은 사업이다.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교육·훈련 프로그램 4종. 모두 실제 운영 중이며 예산과 횟수가 명시돼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재무 수치는 별첨 재무제표로 채운다. 발표 시 절대액이 아니라 밀도 프레임으로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40년이 걸려 쌓은 노하우를 한 달이면 배웁니다. 이것이 고령화·다문화 제조 현장에서 AX의 진짜 성과.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품질 성과의 본질은 검사율이 아니라 책임 소재를 데이터로 가린다는 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0원·0건·0명 — 투자 없이 얻은 성과라는 점이 중소기업 심사에서 강력하다.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고용 성과는 ④ 경영성과와 ⑦ 사회(S) 양쪽에서 득점한다.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환경경영은 선언이 아니라 외부 진단 등급과 지역 포럼 발표로 증명.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E의 핵심 논리: 비용을 쓰는 ESG가 아니라 돈을 버는 ESG.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자원순환을 추상적으로 말하지 않고 코일 15톤·2km라는 물리량으로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S의 최강 카드. 외부 인증 3종을 상단에 고정 배치.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안전은 투자 금액·국제인증·무재해 기록의 3종 증빙으로 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연도별 ESG 연혁을 보여줘 '올해 급조한 ESG'가 아님을 증명.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G의 핵심: 법적 의무가 없는데도 자발적으로 만든 거버넌스.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향후계획의 축 = 주문에서 고객 케어까지 전 과정 AI화. ①~④ 가동 중, ⑤만 남았다는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43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제33회 기업혁신대상 · 활동사례 및 성과 소개자료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37360"/>
            <a:ext cx="1105783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된 철판 공장이</a:t>
            </a:r>
            <a:endParaRPr lang="en-US" sz="42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서비스 회사로 다시 시작합니다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3703320"/>
            <a:ext cx="2377440" cy="0"/>
          </a:xfrm>
          <a:prstGeom prst="line">
            <a:avLst/>
          </a:prstGeom>
          <a:noFill/>
          <a:ln w="31750">
            <a:solidFill>
              <a:srgbClr val="F0C4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718304"/>
            <a:ext cx="7818120" cy="713232"/>
          </a:xfrm>
          <a:prstGeom prst="roundRect">
            <a:avLst>
              <a:gd name="adj" fmla="val 7692"/>
            </a:avLst>
          </a:prstGeom>
          <a:solidFill>
            <a:srgbClr val="3A2F17"/>
          </a:solidFill>
          <a:ln w="19050">
            <a:solidFill>
              <a:srgbClr val="F0C4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77316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 21   산업통상자원부 「M.AX CEO 해커톤」  최우수상 (장관상)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84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제조기업 50개사 중 우수사례 발표기업 2개사로 선정 — HD현대삼호중공업 · 오성철강사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931920"/>
            <a:ext cx="7818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실패, 187만 건의 데이터, 그리고 60대 장인과 20대 외국인 청년이 함께 만든 54개의 AI 서비스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723376" y="3950208"/>
            <a:ext cx="2898648" cy="402336"/>
          </a:xfrm>
          <a:prstGeom prst="roundRect">
            <a:avLst>
              <a:gd name="adj" fmla="val 50000"/>
            </a:avLst>
          </a:prstGeom>
          <a:solidFill>
            <a:srgbClr val="1F3358"/>
          </a:solidFill>
          <a:ln w="12700">
            <a:solidFill>
              <a:srgbClr val="5B7B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96528" y="3950208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경기지역 중소기업 AI전환 우수사례 공모전 대상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23376" y="4462272"/>
            <a:ext cx="2898648" cy="402336"/>
          </a:xfrm>
          <a:prstGeom prst="roundRect">
            <a:avLst>
              <a:gd name="adj" fmla="val 50000"/>
            </a:avLst>
          </a:prstGeom>
          <a:solidFill>
            <a:srgbClr val="1F3358"/>
          </a:solidFill>
          <a:ln w="12700">
            <a:solidFill>
              <a:srgbClr val="5B7BB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96528" y="4462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최초「경기도 이주노동자 행복일터」인증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723376" y="4974336"/>
            <a:ext cx="2898648" cy="402336"/>
          </a:xfrm>
          <a:prstGeom prst="roundRect">
            <a:avLst>
              <a:gd name="adj" fmla="val 50000"/>
            </a:avLst>
          </a:prstGeom>
          <a:solidFill>
            <a:srgbClr val="1F3358"/>
          </a:solidFill>
          <a:ln w="12700">
            <a:solidFill>
              <a:srgbClr val="5B7BB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96528" y="4974336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 안전보건경영시스템 국제인증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5760720"/>
            <a:ext cx="11057839" cy="0"/>
          </a:xfrm>
          <a:prstGeom prst="line">
            <a:avLst/>
          </a:prstGeom>
          <a:noFill/>
          <a:ln w="12700">
            <a:solidFill>
              <a:srgbClr val="2E43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5897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766767" y="60350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 남은우   |   경기도 안산시 단원구 별망로 73   |   2026. 9.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PAGE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자산을 남겼고, AI가 그 자산을 서비스로 바꿨습니다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0428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69748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고성능 장비 도입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↑ · 단가 동결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" y="3611880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−32.7억 원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10712" y="1691640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1188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30428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69748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설비 · 품질 데이터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한 줄씩 누적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3611880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54496" y="1691640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55664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230428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질문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269748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무엇을 모르는가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무엇을 원하는가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55664" y="3611880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전환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098280" y="1691640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29944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230428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되었나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99448" y="269748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 · 기술 내재화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서비스 회사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99448" y="3611880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99448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54개 서비스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66928" y="484632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84632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장비로 높은 생산성을 내는 것은 기본입니다.  AI는 지속 가능한 고품질 생산과 24시간 서비스를 가능하게 합니다.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READ THIS DECK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486400" cy="475488"/>
          </a:xfrm>
          <a:prstGeom prst="roundRect">
            <a:avLst>
              <a:gd name="adj" fmla="val 1153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6420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혁신 부문  ·  1차 220점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139696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30428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추진배경 및 목표설정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2304288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 – 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798064"/>
            <a:ext cx="521208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871216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추진방향 및 세부내용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871216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p.9 – 13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" y="3364992"/>
            <a:ext cx="521208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438144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실천사례 및 참여도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901184" y="343814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p.14 – 17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" y="3931920"/>
            <a:ext cx="521208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4005072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경영혁신 성과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4005072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p.18 – 22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" y="4498848"/>
            <a:ext cx="521208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4572000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향후 추진계획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01184" y="4572000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37376" y="1664208"/>
            <a:ext cx="5184648" cy="475488"/>
          </a:xfrm>
          <a:prstGeom prst="roundRect">
            <a:avLst>
              <a:gd name="adj" fmla="val 1153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0256" y="1664208"/>
            <a:ext cx="4818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부문  ·  1차 180점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37376" y="2139696"/>
            <a:ext cx="518464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38544" y="2304288"/>
            <a:ext cx="2903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환경 (E)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533248" y="2304288"/>
            <a:ext cx="9850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p.23 – 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74536" y="2798064"/>
            <a:ext cx="4910328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38544" y="2871216"/>
            <a:ext cx="2903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사회 (S)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533248" y="2871216"/>
            <a:ext cx="9850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p.26 – 28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74536" y="3364992"/>
            <a:ext cx="4910328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38544" y="3438144"/>
            <a:ext cx="2903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⑧ 지배구조 (G)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533248" y="3438144"/>
            <a:ext cx="9850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저희는 잠실 주경기장 지붕을 만들었습니다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59152"/>
            <a:ext cx="1163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04365" y="2359152"/>
            <a:ext cx="3683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 5월 10일 (43년)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2670048"/>
            <a:ext cx="484632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724912"/>
            <a:ext cx="1163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04365" y="2724912"/>
            <a:ext cx="3683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· 철판 임가공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3035808"/>
            <a:ext cx="484632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090672"/>
            <a:ext cx="1163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주생산품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04365" y="3090672"/>
            <a:ext cx="3683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및 건축용 철판 (냉간 압연·압출)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4632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456432"/>
            <a:ext cx="1163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004365" y="3456432"/>
            <a:ext cx="3683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안산시 단원구 별망로 73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3056" y="1664208"/>
            <a:ext cx="5458968" cy="2148840"/>
          </a:xfrm>
          <a:prstGeom prst="roundRect">
            <a:avLst>
              <a:gd name="adj" fmla="val 2553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37376" y="18288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20만 톤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3957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생산 설비 · 3개 가공 라인 (레벨링 / 슬리팅1 / 슬리팅2)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834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 차체와 고층 건물 골조가 되기 전, 모든 철판은 이 공정을 반드시 거칩니다.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완성차가 세계에서 경쟁하려면 고품질 소재가 적정한 가격에 안정적으로 공급되어야 합니다.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773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경력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0657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 창립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10712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3410712" y="4773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로봇 경력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50657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前 KT AI/ROBOT 기술팀장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54496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</a:t>
            </a:r>
            <a:endParaRPr lang="en-US" sz="3800" dirty="0"/>
          </a:p>
        </p:txBody>
      </p:sp>
      <p:sp>
        <p:nvSpPr>
          <p:cNvPr id="28" name="Text 26"/>
          <p:cNvSpPr txBox="1"/>
          <p:nvPr/>
        </p:nvSpPr>
        <p:spPr>
          <a:xfrm>
            <a:off x="6254496" y="4773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· 100% 정규직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54496" y="50657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내국인 6 : 외국인 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14년</a:t>
            </a:r>
            <a:endParaRPr lang="en-US" sz="38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4773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근속연수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50657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최장 40년 (1985년 입사)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전통의 회사가 아닙니다. 회사도, 기계도, 사람도 오래되었습니다. 그래서 다시 짓기로 했습니다.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실패 — 장비를 바꿨지만, 단가는 그대로였습니다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투자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늘었습니다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10712" y="1645920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7830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123944" y="2103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올랐습니다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54496" y="1645920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17830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가격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7728" y="2103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그대로였습니다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098280" y="1645920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99448" y="17830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 비용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299448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811512" y="2103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과다 발생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12724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계산해 보면 — 32.7억 원 손실입니다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11055096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785616"/>
            <a:ext cx="2311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및 구축 비용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152668" y="3785616"/>
            <a:ext cx="8195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10억 원 + 장비 부지 18억 원 (180평 × 1천만 원)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1248" y="4133088"/>
            <a:ext cx="1050645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4187952"/>
            <a:ext cx="2311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 비용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152668" y="4187952"/>
            <a:ext cx="8195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중단에 따른 매출 손실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1248" y="4535424"/>
            <a:ext cx="1050645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4590288"/>
            <a:ext cx="2311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운영비 증가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152668" y="4590288"/>
            <a:ext cx="8195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안정화 및 테스트에 추가 비용 발생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070848" y="37856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− 28억 원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070848" y="41879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− 4.5억 원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70848" y="45902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− 0.2억 원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4956048"/>
            <a:ext cx="11055096" cy="420624"/>
          </a:xfrm>
          <a:prstGeom prst="roundRect">
            <a:avLst>
              <a:gd name="adj" fmla="val 10870"/>
            </a:avLst>
          </a:prstGeom>
          <a:solidFill>
            <a:srgbClr val="FBEEEC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49560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결론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796528" y="49560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− 32.7억 원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566928" y="553212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53212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저희가 어떤 기계를 쓰는지 볼 방법이 없었습니다. 생산성은 저희 안에서만 올랐습니다.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실패 — 대상(大賞)까지 받았지만, 매출은 그대로였습니다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937760" cy="3200400"/>
          </a:xfrm>
          <a:prstGeom prst="roundRect">
            <a:avLst>
              <a:gd name="adj" fmla="val 1714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9EBE1"/>
          </a:solidFill>
          <a:ln w="12700">
            <a:solidFill>
              <a:srgbClr val="D9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성공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8600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 시스템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43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250m로 회전하는 철판 표면을 AI가 전수 촬영하고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결함의 좌표와 크기까지 기록합니다. 사람의 눈은 깜빡이지만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깜빡이지 않습니다.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3858768"/>
            <a:ext cx="4389120" cy="621792"/>
          </a:xfrm>
          <a:prstGeom prst="roundRect">
            <a:avLst>
              <a:gd name="adj" fmla="val 7353"/>
            </a:avLst>
          </a:prstGeom>
          <a:solidFill>
            <a:srgbClr val="FBF3E0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385876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경기지역 중소기업 AI전환 우수사례 공모전  대상(大賞) 수상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61888" y="16642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7DEDB"/>
          </a:solidFill>
          <a:ln w="12700">
            <a:solidFill>
              <a:srgbClr val="F7DE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61888" y="1664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사업은 실패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1888" y="2212848"/>
            <a:ext cx="384048" cy="384048"/>
          </a:xfrm>
          <a:prstGeom prst="ellipse">
            <a:avLst/>
          </a:prstGeom>
          <a:solidFill>
            <a:srgbClr val="B5342B"/>
          </a:solidFill>
          <a:ln w="12700">
            <a:solidFill>
              <a:srgbClr val="B534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6188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1396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쓰지 않았습니다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25420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분석에만 집중하고 사용성은 고려하지 않았습니다.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지속적으로 사용해야 품질이 향상된다는 것을 몰랐습니다.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1888" y="3383280"/>
            <a:ext cx="384048" cy="384048"/>
          </a:xfrm>
          <a:prstGeom prst="ellipse">
            <a:avLst/>
          </a:prstGeom>
          <a:solidFill>
            <a:srgbClr val="B5342B"/>
          </a:solidFill>
          <a:ln w="12700">
            <a:solidFill>
              <a:srgbClr val="B534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6188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33101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알지 못했습니다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37124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검사를 한다는 사실이 고객에게 전달될 통로가 없었습니다.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61888" y="4480560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44768" y="448056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그래서 매출은 그대로였습니다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기술을 만들었지만, 고이 금고에 모셔놓기만 했습니다.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REAL CRISIS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깊은 위기 — 장인과 청년 사이에서 기술이 끊기고 있었습니다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18464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한국인 장인 (50%)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철강 암묵지 보유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기기·IT 조작에 두려움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머지않아 현장을 떠납니다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37376" y="1664208"/>
            <a:ext cx="518464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93408" y="182880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20대 외국인 청년 (50%)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93408" y="23317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기기 수용력 우수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서툴러 노하우 전수 불가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설명서·작업기준이 전부 한국어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57216" y="2487168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B5342B"/>
          </a:solidFill>
          <a:ln w="12700">
            <a:solidFill>
              <a:srgbClr val="B534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57216" y="24871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단절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1148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12명 중 6명이 외국인입니다. 그런데 설명서도 작업 기준도 전부 한국어였습니다 — 개선 제안이 나올 수 없는 구조였습니다.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57200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7091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기계를 다룰 줄 아는</a:t>
            </a:r>
            <a:endParaRPr lang="en-US" sz="14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한 분뿐이었습니다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541324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그만두시면 회사 기술도 같이 사라집니다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06824" y="457200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47091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 할 수 있는</a:t>
            </a:r>
            <a:endParaRPr lang="en-US" sz="14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무기가 없었습니다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541324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깎는 것 말고는 내세울 게 없었습니다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457200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7091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잘해도 고객이</a:t>
            </a:r>
            <a:endParaRPr lang="en-US" sz="14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수 없었습니다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541324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만들어도 보여줄 곳이 없었습니다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TURNING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바꿨습니다 — 그리고 세 가지 혁신 목표를 세웠습니다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1325880"/>
          </a:xfrm>
          <a:prstGeom prst="roundRect">
            <a:avLst>
              <a:gd name="adj" fmla="val 413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37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trike="sngStrike" dirty="0">
                <a:solidFill>
                  <a:srgbClr val="8FA5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"무엇을 도입하면 경쟁력이 생길까"  —  두 번 다 틀렸습니다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1762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우리는 무엇을 모르는가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안을 보는 질문 → 품질이 완벽해집니다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1762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우리 고객들은 무엇을 원하는가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327648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밖을 보는 질문 → 제값을 받을 수 있습니다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3580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혁신 목표와 측정 지표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493008"/>
            <a:ext cx="352958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57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CE5F5"/>
          </a:solidFill>
          <a:ln w="12700">
            <a:solidFill>
              <a:srgbClr val="DCE5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657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406908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품질의 내재화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681728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감(感)으로 하던 작업을 숫자로 전환해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작업해도 같은 기준이 되게 한다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5376672"/>
            <a:ext cx="3072384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544982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지표  ·  설정 불량 · 전수검사 적용률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06824" y="3493008"/>
            <a:ext cx="352958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35424" y="3657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35424" y="3657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35424" y="406908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응답하는 소재 서비스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4681728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가공업체가 아니라 고객이 아무 때나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묻고 바로 확인받는 서비스 기업이 된다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35424" y="5376672"/>
            <a:ext cx="3072384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35424" y="544982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지표  ·  응대 가능 시간 · 리드타임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493008"/>
            <a:ext cx="352958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75320" y="3657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9EBE1"/>
          </a:solidFill>
          <a:ln w="12700">
            <a:solidFill>
              <a:srgbClr val="D9EB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3657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406908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세대·국적을 넘는 기술 승계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681728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장인의 암묵지와 20대 외국인의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수용력을 서로 교환하게 한다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75320" y="5376672"/>
            <a:ext cx="3072384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544982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지표  ·  직무 전환율 · 이직률 · 근속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전략「AI Inside」— 설비를 바꾸지 않습니다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57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제조 장비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70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된 노후 설비도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교체하지 않습니다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18304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 · DATA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157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Inside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2670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장비에 데이터 수집·분석을 붙여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제어로 바꿉니다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36992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94192" y="1691640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31936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31936" y="2157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관제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2670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라인 전 잔업을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확인합니다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675888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822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통신사가 하던 통합 관제를, 오성철강사에 적용합니다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22452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통신사는 모든 장비를 네트워크로 연결해 현장에 가지 않아도 24시간 관제합니다.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오성철강사는 기존 장비에 AI가 데이터 수집·분석을 붙여 같은 방식의 통합 관제를 구현했습니다.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前 KT AI/ROBOT 기술팀장 28년 경력의 직접 이전입니다.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63056" y="3675888"/>
            <a:ext cx="545896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37376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전략이 곧 환경 성과입니다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42428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1대 교체 시 발생하는 폐설비·산업폐기물을 원천 회피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설비 제조 과정의 탄소 배출을 발생시키지 않음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투자비를 쓰지 않고 정밀제어 성능을 확보 — 원가절감과 동시 달성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생산에 몰입하면 품질 확인이 어렵습니다. 통신사가 통신망을 관제하듯, 품질 관리자가 공정을 관제합니다.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조직을 다시 설계했습니다 —「코일센터연구실」과 직무 재설계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신설 :「코일센터연구실」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 직속으로 신설. 실장은 前 KT AI/ROBOT 기술팀장 28년 경력의 정대균 실장이며, 동시에 전 직원이 선출한 근로자 대표를 겸임합니다.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999232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29992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43년  ＋  AI · 로봇 28년  =  한 회사 안의 두 기술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3056" y="1664208"/>
            <a:ext cx="5458968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37376" y="1828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재설계 — 두 방향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 → 화면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560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공장장 머릿속의 암산과 감(感)을 화면의 숫자로. 경력 40년이든 입사 한 달이든 같은 화면, 같은 값.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3072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육체노동 → AI 조종사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34670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장인을 고강도 육체노동에서 첨단 터치패널을 다루는 'AI 조종사'로 전환. KT AI 전문가 밀착 코칭 월 8시간 × 6개월.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04164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12명 · 100% 정규직 · 내국인 6 : 외국인 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남은우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총괄 · 주 1회 노사 소통 회의 직접 주재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98064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62656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· 마케팅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62656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이원춘 이사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962656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1985년 입사 · 40년 장기근속 · 국내외 판로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3792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코일센터연구실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193792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정대균 실장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현장 도입 기획 · ESG 체계 수립 · 근로자 대표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0336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24928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 · 경리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24928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정연희 과장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424928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 · 회계 · 인사 · 노무 행정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91472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56064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생산가공팀 (8명)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656064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내국인 2 · 외국인 6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656064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전부영 · 물류 이정설 (60대 숙련공)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김영철 · 멜벤 대리 (외국인 중간관리자)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AI·디지털 혁신 계획 — 4개 데이터 계층에 187만 건을 쌓았습니다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70048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55648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EA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그린ERP 미러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860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작업지시서 · 생산 · 입출고 재고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 · 미수금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8096" y="3072384"/>
            <a:ext cx="2267712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310896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474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 자동 동기화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84048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물건 지금 어디까지?"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1691640"/>
            <a:ext cx="2670048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10712" y="169164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EA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 실측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2860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· 절단길이 · 사이클타임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가동/정지 · 부하율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11880" y="3072384"/>
            <a:ext cx="2267712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21608" y="310896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182만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3721608" y="3474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누적 · 2초마다 1행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384048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 코일 중단된 적 있나?"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54496" y="1691640"/>
            <a:ext cx="2670048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54496" y="169164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55664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EA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전수검사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22860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위치 · 전후 영상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실측 프로파일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55664" y="3072384"/>
            <a:ext cx="2267712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310896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6565392" y="3474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 아님 · 모든 코일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384048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"표면 결함 있었나?"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98280" y="1691640"/>
            <a:ext cx="2670048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98280" y="169164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99448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028700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3EA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· 카메라 OCR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299448" y="22860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장력 6개 값 · 코일 외경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신뢰도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299448" y="3072384"/>
            <a:ext cx="2267712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09176" y="310896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409176" y="3474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 수집 · 노후 장비도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299448" y="384048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"장력은 적정했나?"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452628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8096" y="46177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768096" y="5074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 자산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410712" y="452628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11880" y="46177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계층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3611880" y="5074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· 공정 · 품질 · 설비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54496" y="452628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55664" y="46177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54개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6455664" y="5074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가동 서비스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098280" y="452628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99448" y="46177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9299448" y="5074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 — 전량 자체개발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DETAIL 01 ·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추진내용 ① 품질 — 작업자가 답하지 못하던 질문을 지웠습니다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7393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"내가 기계를 제대로 운전하고 있나?"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4825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 소리와 감으로 판단 — 40년 공장장 머릿속에만 있었습니다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8600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  지금 제대로 동작하는지 바로 확인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0545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키오스크 · AI 헬퍼 모바일(KR/EN) · 레벨링 라인 통합 관제(20초 갱신)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54496" y="166420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77393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"아까 그 불량, 그때 어떻게 돌렸더라?"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04825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 기억에 의존 — 그래서 같은 불량이 또 났습니다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28600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  문제가 생긴 지점의 분석이 가능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50545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구간별 속도·텐션 변화 조회 · 동일 사양 30개 코일 대비 편차 검색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94436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305409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우리 잘못인가, 원래 그랬나?"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332841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 숫자만으로는 표면 흠집을 가릴 수 없었습니다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356616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  불량의 원인을 규명하고 끝까지 확인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378561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 · 운전기록 × CCTV 동일 시간축 대조 · 30분 내 원인 분석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4496" y="294436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305409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품질은 괜찮은 거지?"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332841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 생산 당사자는 객관적 품질 확인이 불가했습니다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356616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  고객사에 객관적 분석 리포트 제공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378561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ID · 공정 · 두께 · 중량 · 결함 좌표까지 담은 품질 성적서 자동 발행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공정이 표준화됐습니다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700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40년이든 입사 한 달이든 같은 화면, 같은 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43159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93592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불량이 사라졌습니다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593592" y="4700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 자동 계산 도구 도입 후 기계 설정 오류 불량 소멸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54496" y="43159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37376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검증 체계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37376" y="4700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표면은 전부 촬영, 운전 조건은 2초마다 기록, 이상은 자동 검출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43159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81160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자발적 품질 개선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281160" y="4700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생산량이 아닌 품질지표로 관리 — 직원이 먼저 개선안을 냅니다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시스템을 만들지 않았습니다. 답하지 못하는 질문을 찾아, 하나씩 지웠을 뿐입니다.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DETAIL 02 · SERVICE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추진내용 ② 고객이 원한 것은 '아무 때나'였습니다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73936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"그냥 아무 때나 물어보고,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확인받고 싶습니다."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6151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택배는 어느 터미널에 있는지까지 확인합니다. 음식을 시켜도 조리 중인지 확인합니다.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수천만 원짜리 철강 발주는 아침 9시를 기다려야 했습니다.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63056" y="1664208"/>
            <a:ext cx="54589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7376" y="17739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24시간 중 응대가 되는 시간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20299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9시간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437376" y="2688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 있었습니다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2980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하루의 38%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70848" y="20299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15시간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070848" y="2688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닫혀 있었습니다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070848" y="2980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하루의 62%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101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없는 60초 동안 주문이 작업지시가 됩니다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주문 도착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14016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42032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542032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542032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규격 · 수량 · 납기 자동 추출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61104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재고 코일 3개 확인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8192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6208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 초안 · 라인 배정 완료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55280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BF3E0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83296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07:50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083296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하는 일은 1분간 확인뿐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802368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30384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08:00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930384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930384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태블릿에 자동 표시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5120640"/>
            <a:ext cx="11055096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1937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접수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755648" y="51937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· 전화/팩스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2990088" y="5193792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218688" y="519379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· 자동 판독 + 초안 생성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416552" y="51937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확인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40680" y="51937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문의 · 담당자 확인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675120" y="5193792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903720" y="519379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· 완료 예정시각 포함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101584" y="51937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확인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9125712" y="51937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→ 창고 확인 → 회신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10360152" y="5193792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88752" y="519379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· 위치 · 중량 · 경과일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56692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1755648" y="56692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후 요청 · 정리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5669280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3218688" y="56692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· 엑셀 즉시 전송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4416552" y="56692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대응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5440680" y="56692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 미확보로 항상 오성철강 귀책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6675120" y="5669280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903720" y="56692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· 크기 · 영상으로 귀책 판별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8101584" y="56692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증빙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9125712" y="56692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수단 없음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10360152" y="5669280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10588752" y="56692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성적서 자동 발행 (상세본 유상)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자발적 참여 구조 — 이 사이클로 41개를 만들었습니다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015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384048" cy="38404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아이디어가 나오면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현장에서든 사무실에서든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직급·국적 제한 없음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4015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1828800"/>
            <a:ext cx="384048" cy="38404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18304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만들어 봅니다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며칠이면 시제품이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나옵니다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936992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94192" y="1691640"/>
            <a:ext cx="34015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31936" y="1828800"/>
            <a:ext cx="384048" cy="38404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319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써 봅니다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31936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작업에 넣어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효과를 확인합니다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182112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E8F2EC"/>
          </a:solidFill>
          <a:ln w="12700">
            <a:solidFill>
              <a:srgbClr val="BEDAC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18211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효과가 있으면 → 제대로 된 서비스로 만듭니다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63056" y="3182112"/>
            <a:ext cx="5458968" cy="960120"/>
          </a:xfrm>
          <a:prstGeom prst="roundRect">
            <a:avLst>
              <a:gd name="adj" fmla="val 5714"/>
            </a:avLst>
          </a:prstGeom>
          <a:solidFill>
            <a:srgbClr val="FBF3E0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318211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효과가 없으면 → 버리고, 새로운 방법으로 다시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3159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오성철강사에서만 이 사이클이 돌아갑니까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73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664208" y="47365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만들지 미리 다 정해야 합니다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664208" y="50474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해봐야 압니다. 계약서는 미리 적으라고 합니다.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54496" y="4773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351776" y="47365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끝나면 고쳐줄 사람이 없습니다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50474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공장은 계속 바뀌는데 프로그램은 멈춰 있습니다.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4681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664208" y="54315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로봇 · 제조 전문가를 함께 보유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664208" y="57424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43년 + AI/로봇 28년이 한 회사 안에 있습니다.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254496" y="54681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51776" y="54315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직원들이 먼저 만들어 달라고 합니다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351776" y="57424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 중 6명이 외국인, 현장에서 요구가 올라옵니다.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경영혁신 실천사례 및 참여도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실천사례 ① 외국인 직원이 스스로 공정을 개선하기 시작했습니다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852160" cy="2423160"/>
          </a:xfrm>
          <a:prstGeom prst="roundRect">
            <a:avLst>
              <a:gd name="adj" fmla="val 2264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105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예상하지 못한 일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03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도움으로 지식과 언어의 차이가 극복되자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놀라운 변화가 일어났습니다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98064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6명이 외국에서 오신 분들입니다. 그런데 설명서도 작업 기준도 전부 한국어였습니다 — 개선 제안이 나올 수 없는 구조였습니다.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작업에 대한 공정·품질 데이터를 언어와 지식의 한계 없이 제공받자, 직원들이 품질 향상을 위한 개선을 직접 시작했습니다.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11696" y="1664208"/>
            <a:ext cx="4910328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67728" y="36576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도면을 그린 사람은 엔지니어가 아니라 저희 현장 직원입니다.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251960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352544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산업통상자원부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「M.AX CEO 해커톤」2026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8828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최우수상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2669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제조기업 50개사 중 우수사례 발표 2개사 선정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장관 앞 발표 · 장관상 수상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10712" y="4251960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93592" y="4352544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경기지역 중소기업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AI전환 우수사례 공모전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593592" y="48828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(大賞)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593592" y="52669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근로자와 함께 기획·개발하여 공동 수상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54496" y="4251960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37376" y="4352544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제26회 한국공학대전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37376" y="48828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437376" y="52669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외국인 직원의 기술 성과를 대외 발표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98280" y="4251960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81160" y="4352544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시화·반월공단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개방 AI 사례 전파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81160" y="48828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 (2025)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281160" y="52669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 라인 AI 품질 측정 사례를 지역에 공유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경영혁신 실천사례 및 참여도</a:t>
            </a:r>
            <a:endParaRPr lang="en-US" sz="1000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7EA88A56-1AB6-638E-2328-71EC02F79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472" y="1664208"/>
            <a:ext cx="4821552" cy="20600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실천사례 ② 크로스 역멘토링 — 장인이 가르치고, 청년이 가르칩니다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7"/>
            <a:ext cx="5257800" cy="4040195"/>
          </a:xfrm>
          <a:prstGeom prst="roundRect">
            <a:avLst>
              <a:gd name="adj" fmla="val 2400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한국인 장인  →  20대 외국인 청년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494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철강 가공의 암묵지(暗默知)를 직접 전수합니다.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숙련공 은퇴 전 기술을 승계할 수 있는 마지막 골든타임입니다.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0135" y="3602736"/>
            <a:ext cx="470916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6864" y="390297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20대 외국인 청년  →  60대 한국인 장인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16864" y="432359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기기와 AI 조작법을 1:1로 가르칩니다.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육체노동에서 'AI 조종사'로 직무 전환하도록 돕습니다.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664208"/>
            <a:ext cx="5458968" cy="4040194"/>
          </a:xfrm>
          <a:prstGeom prst="roundRect">
            <a:avLst>
              <a:gd name="adj" fmla="val 24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37376" y="18105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수평적 기술 교환의 성과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715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 외국인 중간관리자 2명 승진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0256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김영철 대리 · 멜벤 대리 — 내·외국인 동등 지휘 체계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2826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 60대 장인 2명 AI 조종사 전환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0256" y="3538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 AI 전문가 </a:t>
            </a:r>
            <a:r>
              <a:rPr lang="en-US" sz="1050" dirty="0" err="1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밀착</a:t>
            </a: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코칭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3849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 노사 멘토링 6회 이상 완수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20256" y="4105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1회 정례화 · 교차 일지 작성으로 이행 관리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경영혁신 실천사례 및 참여도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EDUCATION &amp; TRAINING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경영혁신 교육·훈련 프로그램 — 언어와 지식의 벽을 회사가 없앱니다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65376"/>
            <a:ext cx="384048" cy="38404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8653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사내 한국어 학당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7744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평생학습관과 업무협약(MOU)을 맺고 사내에서 주 2회 맞춤형 한국어 학당을 전액 무료로 운영. 단순 업무 지시를 넘어 이주노동자의 정주(定住)를 돕는 핵심 소통 채널.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3127248"/>
            <a:ext cx="491947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18211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2회 · 6개월 누적 576명분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166420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865376"/>
            <a:ext cx="384048" cy="384048"/>
          </a:xfrm>
          <a:prstGeom prst="ellipse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8653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 유료 </a:t>
            </a:r>
            <a:r>
              <a:rPr lang="en-US" sz="1500" b="1" dirty="0" err="1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</a:t>
            </a: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제공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37744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 err="1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</a:t>
            </a: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근로자에게</a:t>
            </a: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회사 비용으로 유료 계정 제공. 업무 지침의 실시간 다국어 번역, 일상 고충 상담, 현장 문제 해결을 위한 'AI 소통 툴'로 활용.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127248"/>
            <a:ext cx="491947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18211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</a:t>
            </a:r>
            <a:r>
              <a:rPr lang="en-US" sz="1100" b="1" dirty="0" err="1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근로자</a:t>
            </a:r>
            <a:r>
              <a:rPr lang="en-US" sz="1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67588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877056"/>
            <a:ext cx="384048" cy="38404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38770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AI 헬퍼 · 작업 가이드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38912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모바일(KR/EN), 슬리터2 운행 모니터(KR/EN), 슬리터1·2 배정 변경(KR/EN) 등 영문판 3종 상시 운영. 레벨링 작업 가이드는 외국인 근로자 전용으로 별도 제작.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" y="5138928"/>
            <a:ext cx="491947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519379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영문판 3종 상시 가동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54496" y="367588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3877056"/>
            <a:ext cx="384048" cy="384048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38770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안전 매뉴얼 노사 공동 제작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38912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한국어 학당 시간에 현장 기술·안전 수칙을 타갈로그어·영어 등으로 노사가 함께 번역·제작. 외국인 근로자의 '안전하게 일할 권리'를 문서로 보장.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92240" y="5138928"/>
            <a:ext cx="491947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519379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1종 정식 발간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541264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54126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"직원들이 먼저 만들어 달라고 합니다."  교육은 시혜가 아니라, 개선 제안이 올라오게 만드는 투자입니다.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경영혁신 실천사례 및 참여도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·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경영혁신 성과 총괄 — 12명이 만든 변화의 밀도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24개월 → 1개월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9572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 작업자 양성 기간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1/24 로 단축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664208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 0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9572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 자동 계산 도입 후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 설정 오류 불량 소멸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4496" y="1664208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55664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전수검사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39572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 검사 → 전 코일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100% 촬영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98280" y="1664208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99448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9299448" y="239572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데이터 자산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1행 자동 기록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57282" y="3310128"/>
            <a:ext cx="11264742" cy="2395728"/>
          </a:xfrm>
          <a:prstGeom prst="roundRect">
            <a:avLst>
              <a:gd name="adj" fmla="val 2290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4537" y="3456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성과는 장관 앞에서 검증되었습니다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720620" y="3895344"/>
            <a:ext cx="106362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 21 산업통상자원부「M.AX CEO 해커톤」최우수상(장관상)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제조기업 50개사 중 우수사례 발표 2개사로 선정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12명이 54개 서비스를 자체 개발했습니다 — 외주 0건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신규 투자 0원으로 정밀제어를 확보했습니다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FE4257D8-B171-D0F0-5EAE-B83026413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748" y="3246120"/>
            <a:ext cx="2412613" cy="333756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AB6F790-284F-FA0B-5140-13BFEC4C5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406" y="3332988"/>
            <a:ext cx="2669397" cy="32506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01 ·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— 24개월 걸리던 일을, 한 달이면 합니다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642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 작업자 한 명을 양성하는 데 걸리던 시간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482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64208" y="2084832"/>
            <a:ext cx="8412480" cy="329184"/>
          </a:xfrm>
          <a:prstGeom prst="roundRect">
            <a:avLst>
              <a:gd name="adj" fmla="val 13889"/>
            </a:avLst>
          </a:prstGeom>
          <a:solidFill>
            <a:srgbClr val="B5342B"/>
          </a:solidFill>
          <a:ln w="12700">
            <a:solidFill>
              <a:srgbClr val="B534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65376" y="2084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24개월 — 소리와 감(感)으로 배웁니다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560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64208" y="2596896"/>
            <a:ext cx="8412480" cy="329184"/>
          </a:xfrm>
          <a:prstGeom prst="roundRect">
            <a:avLst>
              <a:gd name="adj" fmla="val 13889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4208" y="2596896"/>
            <a:ext cx="365760" cy="329184"/>
          </a:xfrm>
          <a:prstGeom prst="roundRect">
            <a:avLst>
              <a:gd name="adj" fmla="val 13889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259689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 — 화면의 숫자로 배웁니다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351008" y="1938528"/>
            <a:ext cx="1271016" cy="1097280"/>
          </a:xfrm>
          <a:prstGeom prst="roundRect">
            <a:avLst>
              <a:gd name="adj" fmla="val 5000"/>
            </a:avLst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351008" y="2011680"/>
            <a:ext cx="1271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1/24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0351008" y="261518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BE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단축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12724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이 시간을 줄였습니까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3547872"/>
            <a:ext cx="3529584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" y="367588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 → 화면의 숫자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078224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공장장의 머릿속에만 있던 암산과 감(感)을 화면으로 옮겼습니다. 경력 40년이든 입사 한 달이든 같은 화면, 같은 값을 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" y="4864608"/>
            <a:ext cx="3054096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491947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설정값을 AI가 계산합니다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06824" y="3547872"/>
            <a:ext cx="3529584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44568" y="367588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언어의 벽 제거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4078224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AI 헬퍼(KR/EN) 3종과 외국인 근로자 전용 레벨링 작업 가이드를 상시 운영합니다. 한국어가 서툴러도 동일한 기준으로 작업합니다.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44568" y="4864608"/>
            <a:ext cx="3054096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44568" y="491947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6명이 외국인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3547872"/>
            <a:ext cx="3529584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84464" y="367588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단절 → 기술 승계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284464" y="4078224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 숙련공이 은퇴해도 노하우가 회사에 남습니다. 사람에 종속되던 기술이 데이터로 조직에 축적됩니다.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84464" y="4864608"/>
            <a:ext cx="3054096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4464" y="491947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장인 2명 AI 조종사 전환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285232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FBF3E0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285232"/>
            <a:ext cx="10543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사례는 2026. 9. 21 산업통상자원부「M.AX CEO 해커톤」에서 우수사례로 발표되어 최우수상(장관상)을 수상했습니다.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02 ·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— 불량이 사라졌고, 원인을 데이터로 가립니다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578608" y="1737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84848" y="1737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2103120"/>
            <a:ext cx="1068933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1396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방식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21396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 검사 — 코일 내부 상태 확인 불가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213969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코일 표면 100% 촬영 · 결함 좌표와 크기까지 기록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2578608"/>
            <a:ext cx="1068933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6151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원인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261518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"그때 어떻게 돌렸지"를 아무도 답하지 못함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84848" y="261518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운전기록 × CCTV 동일 시간축 대조로 30분 내 원인 규명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3054096"/>
            <a:ext cx="1068933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0906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귀책 판별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578608" y="309067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 미확보로 항상 오성철강 귀책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906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촬영본 대조로 원소재 기인 입증 · 제철소 클레임 자료 활용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3529584"/>
            <a:ext cx="1068933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35661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증빙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578608" y="356616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수단 없음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5661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ID · 공정 · 두께 · 중량 · 결함 좌표를 담은 성적서 자동 발행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2245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문의에 데이터로 답합니다 — 실제 응대 예시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4626864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73659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"받은 코일에 스크래치가 있어요"  ·  22:35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502920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1622051 확인했습니다. 전수 검사에서 표면 결함 2건 기록되어 있습니다.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352 m 지점 · 스크래치 · 폭 3 mm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1,024 m 지점 · 덴트 · 지름 5 mm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63056" y="4626864"/>
            <a:ext cx="545896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0800" y="47365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A5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쪽 잘못인가요?"  ·  22:38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50292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건 모두 원소재 기인으로 판단됩니다. 입고 시 촬영본에 동일 위치 결함이 이미 있었고,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구간 가공 조건은 표준 범위 내였습니다. 제철소 클레임 자료로 쓰실 수 있습니다.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760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결함이 있었는지가 아니라, 누구 책임인지를 데이터로 답합니다.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03 · 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원가·재무구조 개선 — 투자하지 않고 얻은 정밀제어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8716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신규 교체 비용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52928"/>
            <a:ext cx="3054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설비를 폐기하지 않고 AI 카메라·센서를 이식하는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'디지털 레트로핏'으로 정밀제어 성능 확보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44568" y="18288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48716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</a:t>
            </a: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b="1" dirty="0" err="1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00" b="1" dirty="0" err="1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외주개발없이</a:t>
            </a:r>
            <a:r>
              <a:rPr lang="ko-KR" alt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b="1" dirty="0" err="1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바이브</a:t>
            </a:r>
            <a:r>
              <a:rPr lang="ko-KR" alt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코딩</a:t>
            </a:r>
            <a:r>
              <a:rPr lang="en-US" altLang="ko-KR" sz="1400" b="1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852928"/>
            <a:ext cx="3054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ko-KR" alt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</a:t>
            </a: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자체 개발. 유지보수 종속이 없고,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공장이 바뀌면 그 주에 프로그램도 바뀝니다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84464" y="18288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0명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48716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응대 인력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852928"/>
            <a:ext cx="3054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 가능 시간을 3배로 늘리면서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채용 없이 기존 인력으로 운영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95020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손실을 막는 원가절감과, 새로 버는 매출을 동시에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4352544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4256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재작업·폐기 감소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67258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 소멸 + 전수검사로 재작업 및 폐기 소재 감소. 철판 1코일 = 약 15톤 · 길이 2km.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06824" y="4352544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9704" y="44256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클레임 배상 리스크 축소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9704" y="467258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종전에는 증빙이 없어 원소재 결함도 오성철강 귀책이었습니다. 지금은 데이터로 가립니다.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46720" y="4352544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44256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매출원 창출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67258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성적서 상세본 유상 발행 — 가공 외 매출 0원이던 구조에 새 수익원이 생겼습니다.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5230368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53035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기회비용 회수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55040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실패 때 라인 중단으로 4.5억 원의 매출을 잃었습니다. 지금은 중단 이력까지 기록·관리합니다.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06824" y="5230368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89704" y="53035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이동·왕복 비용 소멸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489704" y="555040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문의 대응을 위한 창고 왕복과 현장 확인 이동이 통합 관제로 사라졌습니다.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5230368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0" y="53035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공수 절감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555040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실적 정리, 미출고 팩스 수신, 재고 조회 회신 등 반복 행정 업무가 자동화됐습니다.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04 · PEOPLE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고용 성과 — 12명 전원 정규직, 평균 근속 14년, 최장 40년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5915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정규직 고용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68833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비정규직 · 일용직 0명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 포함 전원 직접고용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664208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14년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35915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근속연수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68833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생산가공팀 13년 · 사무/연구/영업 18년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최장 40년 (1985년 입사)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664208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35915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정년 후 계속고용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68833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60세 정년 도달 숙련공 3명 전원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 삭감 없는 정규직 재고용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664208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99448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299448" y="235915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중간관리자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9448" y="268833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김영철 대리 · 멜벤 대리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내·외국인 동등 지휘 체계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6393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구성 현황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005072"/>
            <a:ext cx="676656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405993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(직군)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191256" y="40599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정규직 남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968496" y="40599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정규직 여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745736" y="40599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385816" y="40599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연령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45936" y="40599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근속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" y="4389120"/>
            <a:ext cx="6547104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" y="44165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생산가공팀 (공장장·현장·물류)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191256" y="4416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68496" y="4416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45736" y="44165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385816" y="44165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41세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45936" y="44165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" y="4791456"/>
            <a:ext cx="6547104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" y="48188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 / 연구 / 영업 (대표·관리·회계)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191256" y="48188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968496" y="48188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745736" y="4818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385816" y="48188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55세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45936" y="4818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18년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" y="5193792"/>
            <a:ext cx="6547104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6656" y="52212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 (전체)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191256" y="52212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968496" y="52212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745736" y="5221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385816" y="522122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45세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345936" y="52212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14년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34656" y="3639312"/>
            <a:ext cx="4087368" cy="2121408"/>
          </a:xfrm>
          <a:prstGeom prst="roundRect">
            <a:avLst>
              <a:gd name="adj" fmla="val 2586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7790688" y="37856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임금피크제를 폐지했습니다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7790688" y="4206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초고령화 시대 현장 근로자의 일자리 불안을 해소하기 위해 사내 취업규칙을 전면 친화적으로 개정하고, 임금피크제(급여 삭감) 관행을 노사 전원 합의로 과감히 폐지했습니다.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1985년에 입사해 근 40년간 헌신한 이원춘 이사 등 60세 정년 도달 고령 숙련공 3명 전원과 '임금 불이익 없는 정규직 재고용' 근로계약을 전격 체결했습니다.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80점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ENVIRONMENT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환경경영 체계 — 외부 기관의 진단을 받았습니다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환경경영 목표 및 계획 수립 (2024)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31136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지속가능한 성장을 위한 전사적 ESG 경영 체계를 공식 도입하고, 외부 전문기관(안산환경재단)을 통한 'ESG 경영 진단'을 실시하여 맞춤형 ESG 경영 목표를 수립했습니다.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054096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E8F2EC"/>
          </a:solidFill>
          <a:ln w="12700">
            <a:solidFill>
              <a:srgbClr val="BE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3054096"/>
            <a:ext cx="4462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ESG 경영수준 진단  ·  B등급 획득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3056" y="1664208"/>
            <a:ext cx="54589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19088" y="18105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환경경영 추진 조직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2286000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05395" y="2286000"/>
            <a:ext cx="3851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 남은우 — 주 1회 노사 소통 회의 직접 주재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19088" y="2615184"/>
            <a:ext cx="493776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2670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총괄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05395" y="2670048"/>
            <a:ext cx="3851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코일센터연구실 정대균 실장 — ESG 경영 체계 수립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19088" y="2999232"/>
            <a:ext cx="493776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3054096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505395" y="3054096"/>
            <a:ext cx="3851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생산가공팀 8명 — 다국어 안내판 기반 목표 공유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19088" y="3383280"/>
            <a:ext cx="493776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3438144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검증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05395" y="3438144"/>
            <a:ext cx="3851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· ISO 45001 인증기관 정기 심사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04164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부문 대외 활동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4443984"/>
            <a:ext cx="26700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553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탄소중립 정책포럼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0292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2025. 12. 12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2669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「AI/Robot을 이용한 탄소중립」주제로 기고 및 발표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10712" y="4443984"/>
            <a:ext cx="26700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93592" y="4553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시화공단 로봇공정 설명회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593592" y="50292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593592" y="52669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 기획 총괄 — 자동화를 통한 에너지·자원 절감 사례 공유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4496" y="4443984"/>
            <a:ext cx="26700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37376" y="4553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시흥 산학연관 상생협력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로봇공정 설명회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37376" y="50292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37376" y="52669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제조기업 대상 저탄소 스마트공정 전환 사례 발표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98280" y="4443984"/>
            <a:ext cx="26700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81160" y="4553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개방 AI 사례 전파 행사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281160" y="50292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52669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시화·반월공단 제조 대표 초청 — 설비 재사용형 DX 현장 공개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ESG — 환경 (E)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65점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ENVIRONMENT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친환경 기술 ① 디지털 레트로핏 — 버리지 않는 것이 환경 성과입니다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1600200"/>
          </a:xfrm>
          <a:prstGeom prst="roundRect">
            <a:avLst>
              <a:gd name="adj" fmla="val 3429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9222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된 노후 공정에 AI 카메라와 센서를 '이식'했습니다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8600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설비를 교체하는 대신 데이터를 붙였습니다. 그 결과 작업자의 근로 환경을 획기적으로 개선하면서, 동시에 불량과 폐기물을 원천 차단하는 AI 상생 구조를 만들었습니다.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제조업의 일반적인 설비 현대화는 '폐기 후 신규 도입'입니다. 오성철강사는 '유지하며 고도화'를 선택했습니다.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429000"/>
            <a:ext cx="267004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폐설비 · 산업폐기물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00507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1대 교체 시 발생하는 대형 철제 폐기물과 산업폐기물을 원천 회피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" y="4791456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48463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자체를 하지 않음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0712" y="3429000"/>
            <a:ext cx="267004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11880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설비 제조 탄소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400507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설비를 만들기 위해 소비되는 철강·에너지·물류 탄소를 발생시키지 않음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4791456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11880" y="48463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구매하지 않으므로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4496" y="3429000"/>
            <a:ext cx="267004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55664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수명 연장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400507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장비를 정밀제어 장비로 전환하여 자산 수명을 연장, 자원 순환에 기여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55664" y="4791456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48463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설비 계속 가동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8280" y="3429000"/>
            <a:ext cx="267004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299448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환경 개선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400507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고강도 육체노동을 AI 조종으로 대체, 노후 설비 전면 자동화에 약 2억 원 투입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99448" y="4791456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99448" y="48463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완료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35838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저희의 환경 성과는 새로 산 것이 아니라, 버리지 않은 것입니다. 그리고 그것이 동시에 원가절감이었습니다.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ESG — 환경 (E)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65점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ENVIRONMENT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친환경 기술 ② 불량을 줄이는 일이 곧 자원을 아끼는 일입니다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· 폐기물 원천 차단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 1코일은 약 15톤, 길이 2km입니다. 한 번의 설정 오류가 수 톤의 소재를 폐기물로 만듭니다.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 자동 계산 도구 도입 → 설정 불량 사실상 소멸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전수검사 체계로 재작업·폐기 소재 감소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시 전수 촬영으로 원소재 결함을 조기 검출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63056" y="1664208"/>
            <a:ext cx="54589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19088" y="18105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공급망 상류(上流) 품질 개선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2212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오성철강사의 전수 촬영 데이터는 저희 공정만 개선하지 않습니다.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2560320"/>
            <a:ext cx="4937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시 촬영본으로 원소재 결함을 객관적으로 입증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제철소에 클레임 자료로 제공 → 상류 공정 품질 개선 유도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검증되지 않은 불량 소재가 건축 부자재·자동차 부품으로 흘러가는 것을 차단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3529584" cy="1719072"/>
          </a:xfrm>
          <a:prstGeom prst="roundRect">
            <a:avLst>
              <a:gd name="adj" fmla="val 3191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2428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소모품 재사용 캠페인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59028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제작 다국어 포스터 「REUSE &amp; REDUCE WASTE — 장갑 아껴 쓰기」를 현장에 상시 게시. 세척 → 보관 → 점검 → 재사용의 4단계를 그림으로 안내해 언어와 무관하게 전 직원이 실천.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06824" y="4114800"/>
            <a:ext cx="3529584" cy="1719072"/>
          </a:xfrm>
          <a:prstGeom prst="roundRect">
            <a:avLst>
              <a:gd name="adj" fmla="val 3191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42428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· 에너지 저감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9028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통합 관제(20초 자동 갱신)로 현장에 가지 않고 3개 라인 상태를 확인. 고객 재고 문의 대응을 위한 창고 왕복이 사라졌습니다.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4114800"/>
            <a:ext cx="3529584" cy="1719072"/>
          </a:xfrm>
          <a:prstGeom prst="roundRect">
            <a:avLst>
              <a:gd name="adj" fmla="val 3191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6176" y="42428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환경 목표 공시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459028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인원의 50%가 외국인임을 배려하여, 주요 공정 지표와 경영·안전·환경 목표를 다국어 및 시각화된 안내판으로 현장에 상시 투명 공시.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ESG — 환경 (E)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65점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SOCIAL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사회(S) ① 「이주노동자 행복일터」인증 기업입니다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73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이주노동자 행복일터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139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</a:t>
            </a: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2025.09 ~ 2027.08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71416" y="1773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71416" y="2139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안전보건경영시스템 국제인증 · 2024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55864" y="1773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ESG 진단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55864" y="2139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경영수준 B등급 · 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352958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307238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장벽 해소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511296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평생학습관 MOU — 사내 '찾아가는 한국어 학당' 주 2회 전액 무료 운영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 전원에게 ChatGPT 유료 서비스 회사 비용으로 제공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안전·기술 매뉴얼을 노사가 함께 번역·제작하여 정식 발간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6824" y="2926080"/>
            <a:ext cx="352958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44568" y="307238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 없는 일터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3511296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12명 100% 정규직 — 외국인 근로자 포함 전원 직접고용, 비정규직 0명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 2명을 대리(중간 관리자)로 파격 승진, 내·외국인 동등 지휘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AI전환 우수사례 공모전 대상을 외국인 근로자와 공동 수상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2926080"/>
            <a:ext cx="352958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84464" y="307238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정주(定住) 지원과 화합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3511296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'글로벌 데이' — 매월 테마 국가를 지정, 외국인 직원이 호스트가 되는 화합 런천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대표이사가 직접 다국어 통역기를 들고 나서는 계층별 고충 처리 간담회 병행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공동근로복지기금 신규 가입 및 공식 출연 확정 (2026)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젊은 직원이 없어 혁신이 불가능하다는 제조업에서, 외국인 근로자가 그 역할을 수행하고 있습니다.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ESG — 사회 (S)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65점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SOCIAL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사회(S) ② 보건안전 — ISO 45001 국제인증과 체형 맞춤 안전망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792224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2억 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4086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설비 자동화 투자 (2024)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70048"/>
            <a:ext cx="3054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레벨러 · 호이스트 전면 자동화 공사 완료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대형 크레인 도입 — 중대재해 원천 차단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6824" y="1664208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44568" y="1792224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4086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안전보건경영시스템 국제인증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670048"/>
            <a:ext cx="3054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수준의 무재해 사업장 구현을 위한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문서화된 관리체계와 정기 심사 수검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64208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84464" y="1792224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34086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노사분규 · 노동관계법 위반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670048"/>
            <a:ext cx="3054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 · 2024 · 2025 3년 연속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분규 · 조정 · 법 위반 발생 사실 전무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76732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체형 맞춤 안전 작업대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0599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내국인보다 체구가 작아 까치발을 들어야 했던 외국인 청년들의 신체적 고충을 60대 장인이 역지사지로 체험한 뒤, 체형에 맞춘 '높이 조절 안전 발판'을 노사가 공동 제작하여 추락 위험을 차단했습니다.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4496" y="365760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76732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복합 휴게시설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0599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열악한 외부 공간을 폐지하고 사내에 스마트 복합 휴게시설을 구축 완료(2024). 고강도 육체노동의 피로도를 낮추는 회복 공간을 확보했습니다.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992624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10235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사고 원인 규명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394960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 사고(2026-06-25)를 CCTV 영상 프레임 × PLC 데이터 초 단위 대조로 분석. 수동 기동이 작업자의 의도적 조작임을 동일 초 단위로 확인하는 등 30분 내 원인 규명 체계를 구축했습니다.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4496" y="4992624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510235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안전 수칙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394960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한국어로만 된 안전 수칙과 일방적 업무 지시로 인한 정보 소외를 없애기 위해, 현장 기술 및 안전 수칙을 타갈로그어·영어 등으로 번역. 외국인 근로자의 '안전하게 일할 권리'를 보장합니다.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ESG — 사회 (S)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65점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SOCIAL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사회(S) ③ 초고령화 시대에, 임금피크제를 폐지했습니다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1536192"/>
          </a:xfrm>
          <a:prstGeom prst="roundRect">
            <a:avLst>
              <a:gd name="adj" fmla="val 3571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9222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  |  고령 숙련공 고용 안정 및 임금피크제 폐지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31136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초고령화 시대 현장 근로자의 일자리 불안을 해소하기 위해 사내 취업규칙을 전면 친화적으로 개정하고, 임금피크제(급여 삭감) 관행을 노사 전원 합의로 과감히 폐지했습니다.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1985년에 입사하여 근 40년간 당사에 헌신한 이원춘 이사 등 60세 정년 도달 고령 숙련공 3명 전원에 대해 '임금 불이익(삭감) 없는 정규직 재고용' 노사 전원 합의 및 근로계약을 전격 체결했습니다.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364992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연혁 — 무엇을 언제 했는가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767328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767328"/>
            <a:ext cx="3529584" cy="475488"/>
          </a:xfrm>
          <a:prstGeom prst="roundRect">
            <a:avLst>
              <a:gd name="adj" fmla="val 11538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7673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767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 숙련공 고용 안정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370832"/>
            <a:ext cx="30906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취업규칙 전면 친화적 개정 · 임금피크제 폐지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60세 정년 도달 숙련공 3명 전원 정규직 재고용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1회 '노사 소통 회의' 신설 및 상시 개최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6824" y="3767328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6824" y="3767328"/>
            <a:ext cx="3529584" cy="475488"/>
          </a:xfrm>
          <a:prstGeom prst="roundRect">
            <a:avLst>
              <a:gd name="adj" fmla="val 1153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37673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12664" y="3767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본격화 · 안전기반 확보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370832"/>
            <a:ext cx="30906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ESG 경영수준 진단 B등급 획득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 안전보건경영시스템 국제인증 획득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설비 전면 자동화 약 2억 원 투입 · 대형 크레인 도입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복합 휴게시설 사내 구축 완료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3767328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3767328"/>
            <a:ext cx="3529584" cy="475488"/>
          </a:xfrm>
          <a:prstGeom prst="roundRect">
            <a:avLst>
              <a:gd name="adj" fmla="val 11538"/>
            </a:avLst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37673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767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이주노동자 포용 · AI 근로환경 개선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4370832"/>
            <a:ext cx="30906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최초「경기도 이주노동자 행복일터」인증 획득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경기지역 중소기업 AI전환 우수사례 공모전 대상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평생학습관 MOU · 무료 사내 한국어 학당 상시 운영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노후 공정에 AI 카메라·센서 '디지털 레트로핏' 적용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ESG — 사회 (S)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65점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지배구조(G) — 매주 전 직원이 경영 현황을 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1회 전 직원 참여「노사 소통 회의」상시 운영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31136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근로자 30인 미만(12명) 사업장으로 노사협의회 법적 설치 의무 대상이 아닙니다. 그러나 제도의 공백을 보완하고 무노조 사업장의 한계를 극복하기 위해,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1회 경영진과 전 직원 12명이 한자리에 모여 회사의 경영 현황 · 수주 실적 · 안전 이슈를 격의 없이 투명하게 공유합니다. 대표이사가 직접 주재합니다.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310128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341985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· 참여 거버넌스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67328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근로자 대표 선출·운영 — 정대균 실장이 겸임, 경영진과 현장의 가교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취업규칙 전면 개정을 노사 전원 합의 절차로 진행 (2023)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분기별 ESG · AI 혁신 성과 공유회 실시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4496" y="3310128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341985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검증 · 감사 체계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767328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ESG 경영수준 진단 — 외부 전문기관의 객관적 평가 수용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 국제인증 — 문서화된 관리체계와 인증기관 정기 심사 수검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국고보조금 집행 관리 — 입·출금 창구 책임자(대표) 및 정산 총괄(실장) 분리 지정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882896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499262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투명성 · 내부통제 시스템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5340096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지출 사전결재 시스템 — 지출결의서 기안·승인 전자화, 계정 관리 체계 운영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손익 통합 대시보드 — 은행 거래내역 × ERP 실매출 자동 대사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거래명세서 입금 확인 — 금액·거래처·시점 자동 매칭으로 미수금 관리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4496" y="4882896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01600" dist="12700" dir="5400000" algn="bl" rotWithShape="0">
              <a:srgbClr val="8A96A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99262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투명성 · 기록주의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340096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고객사에 품질 성적서 자동 발행 — Lot ID · 공정 · 두께 · 중량 · 결함 좌표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"결함이 있었는지가 아니라, 누구 책임인지를 데이터로 답합니다"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1행 · 187만 건 자동 기록 — 감사·추적 가능성을 시스템으로 보장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VII. ESG — 지배구조 (G)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⑧ 50점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 I I I .   향 후   추 진 계 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우리는 경기장을 지었습니다</a:t>
            </a:r>
            <a:endParaRPr lang="en-US" sz="29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2026년, 24시간 서비스 회사가 됩니다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39696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접수부터 사후 고객 케어까지, 고객과 만나는 모든 접점을 AI로 전환합니다.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78608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1B3055"/>
          </a:solidFill>
          <a:ln w="12700">
            <a:solidFill>
              <a:srgbClr val="3E5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주문 접수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9260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· 팩스 · 이메일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판독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D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중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670048" y="29443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98064" y="2578608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1B3055"/>
          </a:solidFill>
          <a:ln w="12700">
            <a:solidFill>
              <a:srgbClr val="3E5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4368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재고 · 납기 응답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9260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코일 즉시 조회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자리에서 회신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D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중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901184" y="29443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2578608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1B3055"/>
          </a:solidFill>
          <a:ln w="12700">
            <a:solidFill>
              <a:srgbClr val="3E5C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5504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작업 배정 · 진행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29260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 초안 자동 생성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진행률 제공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D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중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9443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60336" y="2578608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1B3055"/>
          </a:solidFill>
          <a:ln w="12700">
            <a:solidFill>
              <a:srgbClr val="3E5C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완료 · 품질 증빙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9260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즉시 통보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성적서 자동 발행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D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중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363456" y="29443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2578608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3A2F17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37776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사후 고객 케어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29260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귀책 판별 · 재고 소진 예측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선제 발주 제안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637776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 완성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3858768"/>
            <a:ext cx="3529584" cy="1627632"/>
          </a:xfrm>
          <a:prstGeom prst="roundRect">
            <a:avLst>
              <a:gd name="adj" fmla="val 3371"/>
            </a:avLst>
          </a:prstGeom>
          <a:solidFill>
            <a:srgbClr val="16294A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" y="39684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1938528" y="40050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 확대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04672" y="4407408"/>
            <a:ext cx="30540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접수 자동화 전 채널 확대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포털 전 거래처 개방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상생파트너십 4개 과제 완수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06824" y="3858768"/>
            <a:ext cx="3529584" cy="1627632"/>
          </a:xfrm>
          <a:prstGeom prst="roundRect">
            <a:avLst>
              <a:gd name="adj" fmla="val 3371"/>
            </a:avLst>
          </a:prstGeom>
          <a:solidFill>
            <a:srgbClr val="16294A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44568" y="39684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5678424" y="40050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케어 AI 완성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44568" y="4407408"/>
            <a:ext cx="30540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문의 자동 응답 가동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소진 예측 · 선제 발주 제안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제조기업 10개사 무상 전수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3858768"/>
            <a:ext cx="3529584" cy="1627632"/>
          </a:xfrm>
          <a:prstGeom prst="roundRect">
            <a:avLst>
              <a:gd name="adj" fmla="val 3371"/>
            </a:avLst>
          </a:prstGeom>
          <a:solidFill>
            <a:srgbClr val="16294A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84464" y="39684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2028~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9418320" y="40050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 표준화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284464" y="4407408"/>
            <a:ext cx="30540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4,000곳 · 뿌리기업 2,000곳에 모델 제시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「AI 모델공장」 지정 추진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성적서 유상 발행 등 가공 외 매출 본격화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650992"/>
            <a:ext cx="11057839" cy="0"/>
          </a:xfrm>
          <a:prstGeom prst="line">
            <a:avLst/>
          </a:prstGeom>
          <a:noFill/>
          <a:ln w="12700">
            <a:solidFill>
              <a:srgbClr val="2E437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" y="57607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동안 철판을 잘라서 팔았습니다.  앞으로는 24시간 열려 있는 서비스를 팝니다.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089904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「제조업이 꿈꾸고 현실화할 수 있는 AI 모델공장」으로 지정해 주십시오.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82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  ·  대표이사 남은우  ·  경기도 안산시 단원구 별망로 73  ·  031-434-5230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5652</Words>
  <Application>Microsoft Office PowerPoint</Application>
  <PresentationFormat>와이드스크린</PresentationFormat>
  <Paragraphs>865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오성철강사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제33회 기업혁신대상 활동사례 및 성과 소개자료</dc:title>
  <dc:subject>경영혁신 및 ESG경영 모범사례</dc:subject>
  <dc:creator>오성철강사</dc:creator>
  <cp:lastModifiedBy>대균 정</cp:lastModifiedBy>
  <cp:revision>8</cp:revision>
  <dcterms:created xsi:type="dcterms:W3CDTF">2026-09-22T07:18:02Z</dcterms:created>
  <dcterms:modified xsi:type="dcterms:W3CDTF">2026-09-22T07:43:20Z</dcterms:modified>
</cp:coreProperties>
</file>