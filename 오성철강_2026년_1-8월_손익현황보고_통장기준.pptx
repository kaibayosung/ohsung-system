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총매출</c:v>
                </c:pt>
              </c:strCache>
            </c:strRef>
          </c:tx>
          <c:spPr>
            <a:solidFill>
              <a:srgbClr val="0F2647"/>
            </a:solidFill>
            <a:ln w="31750" cap="flat">
              <a:solidFill>
                <a:srgbClr val="0F2647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F2647"/>
              </a:solidFill>
              <a:ln w="9525" cap="flat">
                <a:solidFill>
                  <a:srgbClr val="0F264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1월</c:v>
                  </c:pt>
                  <c:pt idx="1">
                    <c:v>2월</c:v>
                  </c:pt>
                  <c:pt idx="2">
                    <c:v>3월</c:v>
                  </c:pt>
                  <c:pt idx="3">
                    <c:v>4월</c:v>
                  </c:pt>
                  <c:pt idx="4">
                    <c:v>5월</c:v>
                  </c:pt>
                  <c:pt idx="5">
                    <c:v>6월</c:v>
                  </c:pt>
                  <c:pt idx="6">
                    <c:v>7월</c:v>
                  </c:pt>
                  <c:pt idx="7">
                    <c:v>8월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76711800</c:v>
                </c:pt>
                <c:pt idx="1">
                  <c:v>54514650</c:v>
                </c:pt>
                <c:pt idx="2">
                  <c:v>75263285</c:v>
                </c:pt>
                <c:pt idx="3">
                  <c:v>68145145</c:v>
                </c:pt>
                <c:pt idx="4">
                  <c:v>85872065</c:v>
                </c:pt>
                <c:pt idx="5">
                  <c:v>79638555</c:v>
                </c:pt>
                <c:pt idx="6">
                  <c:v>73029450</c:v>
                </c:pt>
                <c:pt idx="7">
                  <c:v>71045580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영업비용</c:v>
                </c:pt>
              </c:strCache>
            </c:strRef>
          </c:tx>
          <c:spPr>
            <a:solidFill>
              <a:srgbClr val="B91C1C"/>
            </a:solidFill>
            <a:ln w="31750" cap="flat">
              <a:solidFill>
                <a:srgbClr val="B91C1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B91C1C"/>
              </a:solidFill>
              <a:ln w="9525" cap="flat">
                <a:solidFill>
                  <a:srgbClr val="B91C1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1월</c:v>
                  </c:pt>
                  <c:pt idx="1">
                    <c:v>2월</c:v>
                  </c:pt>
                  <c:pt idx="2">
                    <c:v>3월</c:v>
                  </c:pt>
                  <c:pt idx="3">
                    <c:v>4월</c:v>
                  </c:pt>
                  <c:pt idx="4">
                    <c:v>5월</c:v>
                  </c:pt>
                  <c:pt idx="5">
                    <c:v>6월</c:v>
                  </c:pt>
                  <c:pt idx="6">
                    <c:v>7월</c:v>
                  </c:pt>
                  <c:pt idx="7">
                    <c:v>8월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70338524</c:v>
                </c:pt>
                <c:pt idx="1">
                  <c:v>82584837</c:v>
                </c:pt>
                <c:pt idx="2">
                  <c:v>70961860</c:v>
                </c:pt>
                <c:pt idx="3">
                  <c:v>63793546</c:v>
                </c:pt>
                <c:pt idx="4">
                  <c:v>59745896</c:v>
                </c:pt>
                <c:pt idx="5">
                  <c:v>76780449</c:v>
                </c:pt>
                <c:pt idx="6">
                  <c:v>94554314</c:v>
                </c:pt>
                <c:pt idx="7">
                  <c:v>73371083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#,##0,,&quot;백만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4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6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264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989320"/>
            <a:ext cx="12188952" cy="54864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777240"/>
            <a:ext cx="960120" cy="960120"/>
          </a:xfrm>
          <a:prstGeom prst="ellipse">
            <a:avLst/>
          </a:prstGeom>
          <a:solidFill>
            <a:srgbClr val="B45309"/>
          </a:solidFill>
          <a:ln/>
        </p:spPr>
      </p:sp>
      <p:pic>
        <p:nvPicPr>
          <p:cNvPr id="5" name="Image 0" descr="/sessions/happy-laughing-euler/mnt/outputs/ceo_deck/icons/bar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" y="996696"/>
            <a:ext cx="521208" cy="5212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0116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손익 현황 보고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22960" y="242316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2026년 1-8월 손익 현황 (통장 내역 기준)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822960" y="32461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4F6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2026년 1월 ~ 8월 · 통장 입출금 기록만으로 계산 (현금 매출 미반영)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22960" y="6126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작성일  2026-09-01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229600" y="61264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오성철강 ERP2.0 · 경영보고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704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70432"/>
            <a:ext cx="12188952" cy="54864"/>
          </a:xfrm>
          <a:prstGeom prst="rect">
            <a:avLst/>
          </a:prstGeom>
          <a:solidFill>
            <a:srgbClr val="0F2647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19456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목차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457200"/>
            <a:ext cx="10789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26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오늘 보고 드릴 내용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02920" y="1737360"/>
            <a:ext cx="111556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737360"/>
            <a:ext cx="109728" cy="1051560"/>
          </a:xfrm>
          <a:prstGeom prst="rect">
            <a:avLst/>
          </a:prstGeom>
          <a:solidFill>
            <a:srgbClr val="0F2647"/>
          </a:solidFill>
          <a:ln/>
        </p:spPr>
      </p:sp>
      <p:sp>
        <p:nvSpPr>
          <p:cNvPr id="8" name="Shape 6"/>
          <p:cNvSpPr/>
          <p:nvPr/>
        </p:nvSpPr>
        <p:spPr>
          <a:xfrm>
            <a:off x="822960" y="1883664"/>
            <a:ext cx="749808" cy="749808"/>
          </a:xfrm>
          <a:prstGeom prst="ellipse">
            <a:avLst/>
          </a:prstGeom>
          <a:solidFill>
            <a:srgbClr val="0F2647"/>
          </a:solidFill>
          <a:ln/>
        </p:spPr>
      </p:sp>
      <p:pic>
        <p:nvPicPr>
          <p:cNvPr id="9" name="Image 0" descr="/sessions/happy-laughing-euler/mnt/outputs/ceo_deck/icons/money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" y="2103120"/>
            <a:ext cx="310896" cy="31089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828800" y="182880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6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2834640" y="1810512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26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개요 및 핵심 요약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2834640" y="2267712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계산 기준 · 총매출/영업비용/손익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502920" y="2971800"/>
            <a:ext cx="111556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02920" y="2971800"/>
            <a:ext cx="109728" cy="105156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5" name="Shape 12"/>
          <p:cNvSpPr/>
          <p:nvPr/>
        </p:nvSpPr>
        <p:spPr>
          <a:xfrm>
            <a:off x="822960" y="3118104"/>
            <a:ext cx="749808" cy="749808"/>
          </a:xfrm>
          <a:prstGeom prst="ellipse">
            <a:avLst/>
          </a:prstGeom>
          <a:solidFill>
            <a:srgbClr val="B45309"/>
          </a:solidFill>
          <a:ln/>
        </p:spPr>
      </p:sp>
      <p:pic>
        <p:nvPicPr>
          <p:cNvPr id="16" name="Image 1" descr="/sessions/happy-laughing-euler/mnt/outputs/ceo_deck/icons/chart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" y="3337560"/>
            <a:ext cx="310896" cy="310896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828800" y="306324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400" dirty="0"/>
          </a:p>
        </p:txBody>
      </p:sp>
      <p:sp>
        <p:nvSpPr>
          <p:cNvPr id="18" name="Text 14"/>
          <p:cNvSpPr/>
          <p:nvPr/>
        </p:nvSpPr>
        <p:spPr>
          <a:xfrm>
            <a:off x="2834640" y="3044952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26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월별 추이</a:t>
            </a:r>
            <a:endParaRPr lang="en-US" sz="1900" dirty="0"/>
          </a:p>
        </p:txBody>
      </p:sp>
      <p:sp>
        <p:nvSpPr>
          <p:cNvPr id="19" name="Text 15"/>
          <p:cNvSpPr/>
          <p:nvPr/>
        </p:nvSpPr>
        <p:spPr>
          <a:xfrm>
            <a:off x="2834640" y="3502152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1-8월 매출·비용·손익 흐름</a:t>
            </a:r>
            <a:endParaRPr lang="en-US" sz="1250" dirty="0"/>
          </a:p>
        </p:txBody>
      </p:sp>
      <p:sp>
        <p:nvSpPr>
          <p:cNvPr id="20" name="Shape 16"/>
          <p:cNvSpPr/>
          <p:nvPr/>
        </p:nvSpPr>
        <p:spPr>
          <a:xfrm>
            <a:off x="502920" y="4206240"/>
            <a:ext cx="111556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B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502920" y="4206240"/>
            <a:ext cx="109728" cy="1051560"/>
          </a:xfrm>
          <a:prstGeom prst="rect">
            <a:avLst/>
          </a:prstGeom>
          <a:solidFill>
            <a:srgbClr val="2D5DA1"/>
          </a:solidFill>
          <a:ln/>
        </p:spPr>
      </p:sp>
      <p:sp>
        <p:nvSpPr>
          <p:cNvPr id="22" name="Shape 18"/>
          <p:cNvSpPr/>
          <p:nvPr/>
        </p:nvSpPr>
        <p:spPr>
          <a:xfrm>
            <a:off x="822960" y="4352544"/>
            <a:ext cx="749808" cy="749808"/>
          </a:xfrm>
          <a:prstGeom prst="ellipse">
            <a:avLst/>
          </a:prstGeom>
          <a:solidFill>
            <a:srgbClr val="2D5DA1"/>
          </a:solidFill>
          <a:ln/>
        </p:spPr>
      </p:sp>
      <p:pic>
        <p:nvPicPr>
          <p:cNvPr id="23" name="Image 2" descr="/sessions/happy-laughing-euler/mnt/outputs/ceo_deck/icons/coins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16" y="4572000"/>
            <a:ext cx="310896" cy="310896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1828800" y="429768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5DA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400" dirty="0"/>
          </a:p>
        </p:txBody>
      </p:sp>
      <p:sp>
        <p:nvSpPr>
          <p:cNvPr id="25" name="Text 20"/>
          <p:cNvSpPr/>
          <p:nvPr/>
        </p:nvSpPr>
        <p:spPr>
          <a:xfrm>
            <a:off x="2834640" y="4279392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26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비용 구조 및 특이월</a:t>
            </a:r>
            <a:endParaRPr lang="en-US" sz="1900" dirty="0"/>
          </a:p>
        </p:txBody>
      </p:sp>
      <p:sp>
        <p:nvSpPr>
          <p:cNvPr id="26" name="Text 21"/>
          <p:cNvSpPr/>
          <p:nvPr/>
        </p:nvSpPr>
        <p:spPr>
          <a:xfrm>
            <a:off x="2834640" y="4736592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영업비용 상위 항목 · 2월/5월/7월/8월 설명</a:t>
            </a:r>
            <a:endParaRPr lang="en-US" sz="1250" dirty="0"/>
          </a:p>
        </p:txBody>
      </p:sp>
      <p:sp>
        <p:nvSpPr>
          <p:cNvPr id="27" name="Shape 22"/>
          <p:cNvSpPr/>
          <p:nvPr/>
        </p:nvSpPr>
        <p:spPr>
          <a:xfrm>
            <a:off x="502920" y="5440680"/>
            <a:ext cx="111556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B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502920" y="5440680"/>
            <a:ext cx="109728" cy="1051560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29" name="Shape 24"/>
          <p:cNvSpPr/>
          <p:nvPr/>
        </p:nvSpPr>
        <p:spPr>
          <a:xfrm>
            <a:off x="822960" y="5586984"/>
            <a:ext cx="749808" cy="749808"/>
          </a:xfrm>
          <a:prstGeom prst="ellipse">
            <a:avLst/>
          </a:prstGeom>
          <a:solidFill>
            <a:srgbClr val="15803D"/>
          </a:solidFill>
          <a:ln/>
        </p:spPr>
      </p:sp>
      <p:pic>
        <p:nvPicPr>
          <p:cNvPr id="30" name="Image 3" descr="/sessions/happy-laughing-euler/mnt/outputs/ceo_deck/icons/check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2416" y="5806440"/>
            <a:ext cx="310896" cy="310896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1828800" y="553212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58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400" dirty="0"/>
          </a:p>
        </p:txBody>
      </p:sp>
      <p:sp>
        <p:nvSpPr>
          <p:cNvPr id="32" name="Text 26"/>
          <p:cNvSpPr/>
          <p:nvPr/>
        </p:nvSpPr>
        <p:spPr>
          <a:xfrm>
            <a:off x="2834640" y="5513832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26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한계 및 결론</a:t>
            </a:r>
            <a:endParaRPr lang="en-US" sz="1900" dirty="0"/>
          </a:p>
        </p:txBody>
      </p:sp>
      <p:sp>
        <p:nvSpPr>
          <p:cNvPr id="33" name="Text 27"/>
          <p:cNvSpPr/>
          <p:nvPr/>
        </p:nvSpPr>
        <p:spPr>
          <a:xfrm>
            <a:off x="2834640" y="5971032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자료 한계, 확인 필요 사항, 결론</a:t>
            </a:r>
            <a:endParaRPr lang="en-US" sz="1250" dirty="0"/>
          </a:p>
        </p:txBody>
      </p:sp>
      <p:sp>
        <p:nvSpPr>
          <p:cNvPr id="34" name="Text 28"/>
          <p:cNvSpPr/>
          <p:nvPr/>
        </p:nvSpPr>
        <p:spPr>
          <a:xfrm>
            <a:off x="365760" y="654710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오성철강 손익 현황 보고 (통장기준)</a:t>
            </a:r>
            <a:endParaRPr lang="en-US" sz="900" dirty="0"/>
          </a:p>
        </p:txBody>
      </p:sp>
      <p:sp>
        <p:nvSpPr>
          <p:cNvPr id="35" name="Text 29"/>
          <p:cNvSpPr/>
          <p:nvPr/>
        </p:nvSpPr>
        <p:spPr>
          <a:xfrm>
            <a:off x="1152144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704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70432"/>
            <a:ext cx="12188952" cy="54864"/>
          </a:xfrm>
          <a:prstGeom prst="rect">
            <a:avLst/>
          </a:prstGeom>
          <a:solidFill>
            <a:srgbClr val="0F2647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19456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개요 · 핵심 요약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457200"/>
            <a:ext cx="10789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26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통장 내역 기준 1-8월 손익 요약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02920" y="1371600"/>
            <a:ext cx="11155680" cy="566928"/>
          </a:xfrm>
          <a:prstGeom prst="rect">
            <a:avLst/>
          </a:prstGeom>
          <a:solidFill>
            <a:srgbClr val="EAF0FA"/>
          </a:solidFill>
          <a:ln w="12700">
            <a:solidFill>
              <a:srgbClr val="2D5DA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371600"/>
            <a:ext cx="10698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5D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총매출 = ERP매출 + 스크랩매출(은행입금분)  ·  스크랩 현금 매출·계좌간 이체·투자활동·CAPEX는 제외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2194560"/>
            <a:ext cx="35661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2194560"/>
            <a:ext cx="3566160" cy="91440"/>
          </a:xfrm>
          <a:prstGeom prst="rect">
            <a:avLst/>
          </a:prstGeom>
          <a:solidFill>
            <a:srgbClr val="0F2647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395728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총매출 (8개월)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269748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6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584,220,530원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731520" y="33832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ERP매출 + 스크랩매출(은행)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270248" y="2194560"/>
            <a:ext cx="35661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70248" y="2194560"/>
            <a:ext cx="3566160" cy="91440"/>
          </a:xfrm>
          <a:prstGeom prst="rect">
            <a:avLst/>
          </a:prstGeom>
          <a:solidFill>
            <a:srgbClr val="0F2647"/>
          </a:solidFill>
          <a:ln/>
        </p:spPr>
      </p:sp>
      <p:sp>
        <p:nvSpPr>
          <p:cNvPr id="15" name="Text 13"/>
          <p:cNvSpPr/>
          <p:nvPr/>
        </p:nvSpPr>
        <p:spPr>
          <a:xfrm>
            <a:off x="4498848" y="2395728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영업비용 (8개월)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498848" y="269748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6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592,130,509원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4498848" y="33832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인건비·이자·공과금 등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037576" y="2194560"/>
            <a:ext cx="35661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37576" y="2194560"/>
            <a:ext cx="3566160" cy="9144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20" name="Text 18"/>
          <p:cNvSpPr/>
          <p:nvPr/>
        </p:nvSpPr>
        <p:spPr>
          <a:xfrm>
            <a:off x="8266176" y="2395728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손익 (8개월)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266176" y="269748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9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-7,909,979원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8266176" y="33832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5개월 흑자 · 3개월 적자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02920" y="4160520"/>
            <a:ext cx="11155680" cy="1371600"/>
          </a:xfrm>
          <a:prstGeom prst="rect">
            <a:avLst/>
          </a:prstGeom>
          <a:solidFill>
            <a:srgbClr val="FEF3E2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31520" y="4370832"/>
            <a:ext cx="731520" cy="731520"/>
          </a:xfrm>
          <a:prstGeom prst="ellipse">
            <a:avLst/>
          </a:prstGeom>
          <a:solidFill>
            <a:srgbClr val="B45309"/>
          </a:solidFill>
          <a:ln/>
        </p:spPr>
      </p:sp>
      <p:pic>
        <p:nvPicPr>
          <p:cNvPr id="25" name="Image 0" descr="/sessions/happy-laughing-euler/mnt/outputs/ceo_deck/icons/warning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" y="4590288"/>
            <a:ext cx="292608" cy="292608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1691640" y="4261104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현금 매출 미반영 안내</a:t>
            </a:r>
            <a:endParaRPr lang="en-US" sz="1500" dirty="0"/>
          </a:p>
        </p:txBody>
      </p:sp>
      <p:sp>
        <p:nvSpPr>
          <p:cNvPr id="27" name="Text 24"/>
          <p:cNvSpPr/>
          <p:nvPr/>
        </p:nvSpPr>
        <p:spPr>
          <a:xfrm>
            <a:off x="1691640" y="4599432"/>
            <a:ext cx="9692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스크랩(고철) 매출 중 현금으로 직접 수령한 부분(확인된 것만 7월 5,396,000원)은 통장 기록이 없어 이 자료에는 포함하지 않았습니다. 이를 포함하면 실제 손익은 이 자료보다 더 나은 수치가 됩니다.</a:t>
            </a:r>
            <a:endParaRPr lang="en-US" sz="1250" dirty="0"/>
          </a:p>
        </p:txBody>
      </p:sp>
      <p:sp>
        <p:nvSpPr>
          <p:cNvPr id="28" name="Text 25"/>
          <p:cNvSpPr/>
          <p:nvPr/>
        </p:nvSpPr>
        <p:spPr>
          <a:xfrm>
            <a:off x="365760" y="654710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오성철강 손익 현황 보고 (통장기준)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152144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704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70432"/>
            <a:ext cx="12188952" cy="54864"/>
          </a:xfrm>
          <a:prstGeom prst="rect">
            <a:avLst/>
          </a:prstGeom>
          <a:solidFill>
            <a:srgbClr val="0F2647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19456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월별 추이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457200"/>
            <a:ext cx="10789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26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월별 매출·비용·손익 추이 (1-8월)</a:t>
            </a:r>
            <a:endParaRPr lang="en-US" sz="27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02920" y="1417320"/>
          <a:ext cx="11155680" cy="3063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502920" y="4709160"/>
            <a:ext cx="11155680" cy="1463040"/>
          </a:xfrm>
          <a:prstGeom prst="rect">
            <a:avLst/>
          </a:prstGeom>
          <a:solidFill>
            <a:srgbClr val="FDEBEB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31520" y="4937760"/>
            <a:ext cx="731520" cy="731520"/>
          </a:xfrm>
          <a:prstGeom prst="ellipse">
            <a:avLst/>
          </a:prstGeom>
          <a:solidFill>
            <a:srgbClr val="B91C1C"/>
          </a:solidFill>
          <a:ln/>
        </p:spPr>
      </p:sp>
      <p:pic>
        <p:nvPicPr>
          <p:cNvPr id="9" name="Image 0" descr="/sessions/happy-laughing-euler/mnt/outputs/ceo_deck/icons/warning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" y="5157216"/>
            <a:ext cx="292608" cy="29260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691640" y="482803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2월 · 7월 · 8월이 적자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1691640" y="5166360"/>
            <a:ext cx="9692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2월은 부가가치세 분기 납부, 7-8월은 영업비용 증가와 스크랩 현금매출 미반영이 주요 원인입니다. 5개월은 흑자였으며 5월이 가장 좋았습니다(+26,126,169원).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365760" y="654710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오성철강 손익 현황 보고 (통장기준)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1152144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704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70432"/>
            <a:ext cx="12188952" cy="54864"/>
          </a:xfrm>
          <a:prstGeom prst="rect">
            <a:avLst/>
          </a:prstGeom>
          <a:solidFill>
            <a:srgbClr val="0F2647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19456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비용 구조 · 특이월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457200"/>
            <a:ext cx="10789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26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영업비용 구조 및 특이월 설명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02920" y="14173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6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영업비용 상위 항목 (8개월 합계)</a:t>
            </a:r>
            <a:endParaRPr lang="en-US" sz="15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783080"/>
          <a:ext cx="5669280" cy="3200400"/>
        </p:xfrm>
        <a:graphic>
          <a:graphicData uri="http://schemas.openxmlformats.org/drawingml/2006/table">
            <a:tbl>
              <a:tblPr/>
              <a:tblGrid>
                <a:gridCol w="3108960"/>
                <a:gridCol w="1554480"/>
                <a:gridCol w="1005840"/>
              </a:tblGrid>
              <a:tr h="355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항목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64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금액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64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비중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647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인건비-급여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F1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285,671,780원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F1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48.2%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이자비용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F1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58,250,637원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F1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인건비-4대보험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F1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48,057,590원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F1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수도광열비-전기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F1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45,142,950원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F1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카드대금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F1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42,246,390원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F1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세금과공과-부가가치세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F1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29,284,630원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F1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외주가공비/자재비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F1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18,365,924원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F1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기타 23개 항목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F1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65,110,608원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F1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6446520" y="141732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6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특이월 설명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446520" y="1783080"/>
            <a:ext cx="52120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46520" y="1783080"/>
            <a:ext cx="91440" cy="713232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11" name="Text 8"/>
          <p:cNvSpPr/>
          <p:nvPr/>
        </p:nvSpPr>
        <p:spPr>
          <a:xfrm>
            <a:off x="6720840" y="1837944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2월 · -28,070,187원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720840" y="2148840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부가가치세 분기 납부 집중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446520" y="2624328"/>
            <a:ext cx="52120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446520" y="2624328"/>
            <a:ext cx="91440" cy="71323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15" name="Text 12"/>
          <p:cNvSpPr/>
          <p:nvPr/>
        </p:nvSpPr>
        <p:spPr>
          <a:xfrm>
            <a:off x="6720840" y="2679192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8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5월 · +26,126,169원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720840" y="2990088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스크랩(은행) 매출 최대, 비용 최저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6446520" y="3465576"/>
            <a:ext cx="52120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B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446520" y="3465576"/>
            <a:ext cx="91440" cy="713232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19" name="Text 16"/>
          <p:cNvSpPr/>
          <p:nvPr/>
        </p:nvSpPr>
        <p:spPr>
          <a:xfrm>
            <a:off x="6720840" y="352044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7월 · -21,524,864원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6720840" y="3831336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영업비용 8개월 중 최고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6446520" y="4306824"/>
            <a:ext cx="52120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B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446520" y="4306824"/>
            <a:ext cx="91440" cy="713232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23" name="Text 20"/>
          <p:cNvSpPr/>
          <p:nvPr/>
        </p:nvSpPr>
        <p:spPr>
          <a:xfrm>
            <a:off x="6720840" y="4361688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8월 · -2,325,503원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6720840" y="4672584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7월 대비 크게 개선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365760" y="654710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오성철강 손익 현황 보고 (통장기준)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1152144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704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70432"/>
            <a:ext cx="12188952" cy="54864"/>
          </a:xfrm>
          <a:prstGeom prst="rect">
            <a:avLst/>
          </a:prstGeom>
          <a:solidFill>
            <a:srgbClr val="0F2647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19456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한계 및 결론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457200"/>
            <a:ext cx="10789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26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한계, 확인 필요 사항, 결론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02920" y="14173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6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한계 및 확인 필요 사항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109728" cy="109728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73736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스크랩 현금매출(확인된 것만 7월 5,396,000원) 미반영 — 포함 시 실제 손익 개선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441448"/>
            <a:ext cx="109728" cy="109728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304288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스크랩 매출 부가가치세(VAT) 부분은 통장 입금 기록이 없어 별도 확인 필요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008376"/>
            <a:ext cx="109728" cy="109728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871216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SAMSUN 5건(월 870,600원, 단체보험 추정)은 아직 성격 확인 미완료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575304"/>
            <a:ext cx="109728" cy="109728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438144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매출(발생주의)·비용(현금주의) 기준 혼재 — 확정 손익은 세무/회계 결산 자료로 별도 확인 필요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02920" y="4206240"/>
            <a:ext cx="11155680" cy="1920240"/>
          </a:xfrm>
          <a:prstGeom prst="rect">
            <a:avLst/>
          </a:prstGeom>
          <a:solidFill>
            <a:srgbClr val="E8F5EC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" y="4434840"/>
            <a:ext cx="777240" cy="777240"/>
          </a:xfrm>
          <a:prstGeom prst="ellipse">
            <a:avLst/>
          </a:prstGeom>
          <a:solidFill>
            <a:srgbClr val="15803D"/>
          </a:solidFill>
          <a:ln/>
        </p:spPr>
      </p:sp>
      <p:pic>
        <p:nvPicPr>
          <p:cNvPr id="17" name="Image 0" descr="/sessions/happy-laughing-euler/mnt/outputs/ceo_deck/icons/check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" y="4654296"/>
            <a:ext cx="338328" cy="338328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737360" y="4343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8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결론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1737360" y="4709160"/>
            <a:ext cx="9601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1-8월 통장 기준 손익은 총매출 584,220,530원 - 영업비용 592,130,509원 = -7,909,979원로 소폭의 적자입니다. 8개월 중 5개월은 흑자, 3개월(2월·7월·8월)은 적자였으며, 현금으로 받는 스크랩 매출을 포함하면 이 적자 폭은 줄어듭니다.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365760" y="654710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오성철강 손익 현황 보고 (통장기준)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152144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2026-09-01T04:30:41Z</dcterms:created>
  <dcterms:modified xsi:type="dcterms:W3CDTF">2026-09-01T04:30:41Z</dcterms:modified>
</cp:coreProperties>
</file>