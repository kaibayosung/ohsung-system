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생산합계금액(원)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7월(상)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60827800</c:v>
                </c:pt>
                <c:pt idx="1">
                  <c:v>48882650</c:v>
                </c:pt>
                <c:pt idx="2">
                  <c:v>66159085</c:v>
                </c:pt>
                <c:pt idx="3">
                  <c:v>58653145</c:v>
                </c:pt>
                <c:pt idx="4">
                  <c:v>67029165</c:v>
                </c:pt>
                <c:pt idx="5">
                  <c:v>65218555</c:v>
                </c:pt>
                <c:pt idx="6">
                  <c:v>38095530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7"/>
              </a:solidFill>
              <a:prstDash val="solid"/>
              <a:round/>
            </a:ln>
          </c:spPr>
        </c:majorGridlines>
        <c:numFmt formatCode="#,##0,,&quot;백만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65D"/>
              </a:solidFill>
              <a:effectLst/>
            </c:spPr>
          </c:dPt>
          <c:dPt>
            <c:idx val="1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(주)대한강재</c:v>
                </c:pt>
                <c:pt idx="1">
                  <c:v>기타 거래처 합계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6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65D"/>
                </a:solidFill>
                <a:latin typeface="Arial"/>
              </a:rPr>
              <a:t>미수금 TOP 5 거래처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미수금액(원)</c:v>
                </c:pt>
              </c:strCache>
            </c:strRef>
          </c:tx>
          <c:spPr>
            <a:solidFill>
              <a:srgbClr val="DD6B20"/>
            </a:solidFill>
            <a:effectLst/>
          </c:spPr>
          <c:invertIfNegative val="0"/>
          <c:dLbls>
            <c:numFmt formatCode="#,##0,,&quot;백만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대한강재</c:v>
                  </c:pt>
                  <c:pt idx="1">
                    <c:v>유창</c:v>
                  </c:pt>
                  <c:pt idx="2">
                    <c:v>DBS브릿지스틸</c:v>
                  </c:pt>
                  <c:pt idx="3">
                    <c:v>대한에스엔디</c:v>
                  </c:pt>
                  <c:pt idx="4">
                    <c:v>대산공업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897183664</c:v>
                </c:pt>
                <c:pt idx="1">
                  <c:v>322745746</c:v>
                </c:pt>
                <c:pt idx="2">
                  <c:v>205120936</c:v>
                </c:pt>
                <c:pt idx="3">
                  <c:v>110484399</c:v>
                </c:pt>
                <c:pt idx="4">
                  <c:v>104586720</c:v>
                </c:pt>
              </c:numCache>
            </c:numRef>
          </c:val>
        </c:ser>
        <c:dLbls>
          <c:numFmt formatCode="#,##0,,&quot;백만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2F7"/>
              </a:solidFill>
              <a:prstDash val="solid"/>
              <a:round/>
            </a:ln>
          </c:spPr>
        </c:majorGridlines>
        <c:numFmt formatCode="#,##0,,&quot;백만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그린피 ERP 심층 분석 &amp; 데이터 상세 검토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화면·실데이터 실사 기반  ·  1단계(조회연동) → 2단계(완전이관) 수용 로드맵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828800" cy="0"/>
          </a:xfrm>
          <a:prstGeom prst="line">
            <a:avLst/>
          </a:prstGeom>
          <a:noFill/>
          <a:ln w="31750">
            <a:solidFill>
              <a:srgbClr val="DD6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전체기능기획자 · 개발자 · DB아키텍트 · 시퀀스다이어그램 매니저 · 그린피 실사용자 합동 TF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다룰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ERP 전체 구조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167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대메뉴 · 30개 이상 화면 실사 결과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2491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523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상세 검토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생산·재고·미수금 원본 데이터 분석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6674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94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문제점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0507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 중 발견한 5가지 리스크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07992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0857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6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스마트ERP 수용 방안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9926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조회연동 → 2단계 완전이관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449824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5040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5448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로드맵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59344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일정과 확인 필요 사항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6391656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 개요 — 어떻게 확인했는가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추정이 아닌 실제 로그인을 통해 8개 대메뉴, 30개 이상 화면을 하나씩 직접 열람했습니다. 로그인 계정은 실사용자와 동일 계정이며, 확인한 수치는 실사 시점(2026-07-17) 기준 스냅샷입니다.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880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621938"/>
            <a:ext cx="24231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대메뉴 실사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(상품입고·생산·출고·재고·미수금·경리·거래명세서·세금계산서)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2743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880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30개+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3621938"/>
            <a:ext cx="24231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열람한 개별 화면 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2743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9944" y="2880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700개+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9944" y="3621938"/>
            <a:ext cx="24231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재고장부에서 확인된 상품코드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2743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72016" y="2880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140개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72016" y="3621938"/>
            <a:ext cx="242316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미수금현황에 등록된 거래처 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세금계산서 발행 이력 등 일부 화면은 자바스크립트 달력 위젯 제약으로 이번 실사에서 상세 수치를 확보하지 못했으며, 화면 구조와 국세청 연동 여부만 확인했습니다.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그린피 ERP 전체 기능 지도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72237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대메뉴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기능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상품입고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거래처가 맡긴 원자재 코일 접수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작업지시서 등록 → 생산전표(가공비 확정) → 현황 집계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가공 완료품을 거래처로 반출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코일 잔량을 상품코드 단위로 실시간 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미수금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거래처별 외상매출금 현황 및 입금 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현금출납 및 생산액-입금 대사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거래명세서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 발송용 명세서 및 거래처원장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세금계산서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국세청 전자세금계산서 발행(스마일EDI 연동)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위탁가공 업무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상품입고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(원자재 접수)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84248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16836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2556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(잔량 관리)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98164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0752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DD6B20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(지시→전표)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4668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0388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(반출)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25996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58584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거래명세서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(증빙)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9912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72500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8220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(법정발행)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3828" y="3515868"/>
            <a:ext cx="1325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86416" y="30632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15294A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32136" y="3108960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미수금·경리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(대금회수)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모듈이 매출(스마트ERP sales_records)의 직접 원천이며, 이후 모든 증빙·수금 프로세스가 여기서 파생됩니다.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 모듈 — 작업지시서 ↔ 생산전표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화면이 많고(9개) 핵심적인 모듈입니다. 생산전표 입력 화면에는 "작업지시서 불러오기" 버튼이 있어 지시서 데이터를 그대로 실적으로 전환할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 (계획)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작업일자 · 작업번호 · 우선순위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업체명 · 작업구분(SLITING/LEVELLING/SLITING2)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작업상태: 작업준비 → 작업완료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규격 · 길이 · 원중량 · 사용중량 · 매수 · 단가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 결과: 최근 2주간 약 200건 등록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237744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(실적 = 매출 원천)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"작업지시서 불러오기" 버튼으로 지시서 → 전표 전환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생산일자 · 전표번호 · 업체명 · 금액 · 구분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 구간(7/10~7/16) 합계 15,114,210원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스마트ERP sales_records와 1:1 대응되는 핵심 원천 데이터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불러오기 기능을 모르면 동일 데이터를 두 번 입력하는 이중입력 위험 확인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DEEP-DIVE 1 /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생산 실적 추이 (2026년)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"월별 생산합계금액" 화면에서 실제로 확인한 수치입니다. 1~7월(7월은 상반월만) 누계 404,865,930원.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7589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1488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03920" y="2286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4.05억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03920" y="2715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1~7월 상반 누계 매출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32004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03920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6,700만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03920" y="37673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최고(5월)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66760" y="4251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4389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503920" y="4818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최대~최소 변동폭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366760" y="53035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2월에 저점(4,888만)을 찍고 5월에 고점(6,703만)을 찍는 계절성이 관찰됩니다. 스마트ERP 리포트에서 전월 대비·전년 동월 대비 비교가 유용할 것으로 판단됩니다.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DEEP-DIVE 2 /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집중도 — 특정 고객사 의존도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리스트(7/10~7/16, 표본 약 90건)를 건수 기준으로 집계한 결과입니다. 1주일 표본 기준으로, 연간 정밀 통계는 아니며 방향성 참고용입니다.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2286000"/>
            <a:ext cx="6400800" cy="3840480"/>
          </a:xfrm>
          <a:prstGeom prst="roundRect">
            <a:avLst>
              <a:gd name="adj" fmla="val 1429"/>
            </a:avLst>
          </a:prstGeom>
          <a:solidFill>
            <a:srgbClr val="F7FAF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514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 표본 상세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(주)대한강재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72건 (80%)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(주)유창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4건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정현철강(주)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0392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대산공업(주)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039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6건 (LEVELLING 위주)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(주)미래이엔아이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0392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0" y="54406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단일 거래처 의존도가 높아, 해당 거래처의 발주 변동이 전체 매출에 미치는 영향이 큽니다. 거래처 다변화 또는 리스크 모니터링이 필요합니다.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DEEP-DIVE 3 /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가공 단가 구조 — 작업구분별 과금 방식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"기간별 생산현황" 원본 데이터에서 확인한 실제 단가 패턴입니다. 작업구분에 따라 과금 방식 자체가 다릅니다.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12원/kg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표준적인 절단 가공. 중량 비례 과금.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4688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15~23원/kg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규격이 더 세밀하거나 복잡한 절단. 단가가 SLITING 대비 25~90% 높음.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2402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4688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60~90원/kg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SKID 정액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평탄화 가공. 중량 비례 과금과 별개로 SKID(받침대) 처리에 45,000~95,000원 정액 요금이 별도로 부과됨.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LEVELLING의 이원화된 과금(중량+정액) 구조를 스마트ERP 매출 입력 화면이 그대로 반영하지 못하면 가공비 계산 오류가 발생할 수 있습니다.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DEEP-DIVE 4 /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재고 데이터 현황 — 규모와 노후 재고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700개+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재고장부에 등록된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상품코드 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8288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5,967,947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2542032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재고중량 합계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(재고장부 리스트 하단 표기)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8288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92440" y="2542032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오래된 미사용 재고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(2020-08-31 입고, 전량 미사용)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확인된 최고령 재고 사례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931920"/>
          <a:ext cx="1051560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1828800"/>
                <a:gridCol w="155448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입고일자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원중량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재고중량(현재)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(주)신신강업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K044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2020-08-31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3,660 (100% 미사용)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(주)대한강재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1Y858L1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2021-03-02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7,860 (100% 미사용)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(주)대한강재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E2J8201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2022-02-24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11,580 (100% 미사용)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입고 후 수년째 전혀 사용되지 않은 재고가 다수 존재합니다 — 스마트ERP 재고 화면에 "장기체류 재고" 경고 로직을 넣을 근거가 되는 실제 사례입니다.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DEEP-DIVE 5 /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미수금 현황 — 자금관리 사각지대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"현재 미수금현황 리스트"를 실제로 열람해 140개 거래처 전체를 확인했습니다. 이 데이터는 현재 스마트ERP 어디에도 반영되어 있지 않습니다.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4028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240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2377440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18120" y="2892247"/>
            <a:ext cx="329184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미수금 합계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3383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18120" y="3520440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818120" y="4035247"/>
            <a:ext cx="329184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TOP5 거래처 집중 비중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4526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1A365D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18120" y="4663440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6곳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818120" y="5178247"/>
            <a:ext cx="329184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음수(과입금·크레딧) 잔액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수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음수 잔액 사례: 영재철강 -814,100 / 디비에스스틸 -2,974,800 / 미강철강 -285,000 / 오성철강사(자체) -159,330 — 미정산 크레딧으로 추정, 별도 확인 필요.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실사에서 발견한 핵심 문제점 5가지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15294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587752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이중입력 위험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90088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작업지시서·생산전표 필드가 거의 동일해 "불러오기" 기능을 모르면 중복 입력 발생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05656" y="196596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15294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8536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88536" y="2587752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검색성 저하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88536" y="2990088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700개+ 품목이 필터 없이 한 화면에 나열, 실사용자는 Ctrl+F로 검색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08392" y="196596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15294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91272" y="2587752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 사각지대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91272" y="2990088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30억 원 규모 미수금이 스마트ERP 어디에도 반영되지 않음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15294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782312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집중 리스크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184648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표본상 특정 1개 거래처가 매출 건수의 약 80%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105656" y="41605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15294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88536" y="4782312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 제약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88536" y="5184648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국세청 스마일EDI 연동 기능이라 완전 자체 개발로 대체 불가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PLAN · PHASE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1단계 — 그린피 입력 유지 + 자동 수집·리포트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습관은 바꾸지 않고, 스마트ERP가 주기적으로 화면을 조회해 스테이징 테이블에 적재 후 통합 리포트를 제공합니다.</a:t>
            </a:r>
            <a:endParaRPr lang="en-US" sz="1300" dirty="0"/>
          </a:p>
        </p:txBody>
      </p:sp>
      <p:pic>
        <p:nvPicPr>
          <p:cNvPr id="5" name="Image 0" descr="/tmp/seq_phas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48840"/>
            <a:ext cx="103327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PLAN · PHASE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2단계 — 스마트ERP 완전 입력 전환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현장·영업 담당자가 직접 스마트ERP에 입력합니다. 그린피는 세금계산서 등 법정 발행 채널로만 최소 유지합니다.</a:t>
            </a:r>
            <a:endParaRPr lang="en-US" sz="1300" dirty="0"/>
          </a:p>
        </p:txBody>
      </p:sp>
      <p:pic>
        <p:nvPicPr>
          <p:cNvPr id="5" name="Image 0" descr="/tmp/seq_phas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03120"/>
            <a:ext cx="106070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지출결의서 통합 시 재무적 이점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 순이익 실시간화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577840" y="180136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매출(그린피 연동)에서 결재완료 비용(지출결의서)을 즉시 차감해 매일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700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 리스크 조기 인지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577840" y="267004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30억 원 미수금 상황을 비용 지출 계획과 함께 보며 자금 경색 예방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387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계정과목별 원가 분석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577840" y="35387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10개 계정과목과 그린피 매출을 묶어 거래처·설비별 실질 마진 분석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074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 없는 지출 유입 차단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577840" y="44074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지출결의서를 거치지 않은 비용은 자동 반영되지 않아 매출-비용 대사 과정에서 통제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0" cy="4352544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920240"/>
            <a:ext cx="164592" cy="16459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88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자격증명 환경변수 이전 · 비밀번호 변경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" y="2542032"/>
            <a:ext cx="164592" cy="164592"/>
          </a:xfrm>
          <a:prstGeom prst="ellipse">
            <a:avLst/>
          </a:prstGeom>
          <a:solidFill>
            <a:srgbClr val="1A36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048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1단계-A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404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4048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· 미수금 우선 연동 + 대시보드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" y="3163824"/>
            <a:ext cx="164592" cy="164592"/>
          </a:xfrm>
          <a:prstGeom prst="ellipse">
            <a:avLst/>
          </a:prstGeom>
          <a:solidFill>
            <a:srgbClr val="1A36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0266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1단계-B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026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0266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스테이징 테이블 + 통합 리포트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" y="3785616"/>
            <a:ext cx="164592" cy="164592"/>
          </a:xfrm>
          <a:prstGeom prst="ellipse">
            <a:avLst/>
          </a:prstGeom>
          <a:solidFill>
            <a:srgbClr val="1A36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484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1단계-C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36484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6484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지출결의서(비용) + 매출 통합 순이익 대시보드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" y="4407408"/>
            <a:ext cx="164592" cy="164592"/>
          </a:xfrm>
          <a:prstGeom prst="ellipse">
            <a:avLst/>
          </a:prstGeom>
          <a:solidFill>
            <a:srgbClr val="4A55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2702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2단계-A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4270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2702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작업지시-완료-생산전표 자동생성 화면 개발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" y="5029200"/>
            <a:ext cx="164592" cy="164592"/>
          </a:xfrm>
          <a:prstGeom prst="ellipse">
            <a:avLst/>
          </a:prstGeom>
          <a:solidFill>
            <a:srgbClr val="4A55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2단계-B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468880" y="4892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4892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재고·입고·출고·미수금·경리 화면 신규 개발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" y="5650992"/>
            <a:ext cx="164592" cy="164592"/>
          </a:xfrm>
          <a:prstGeom prst="ellipse">
            <a:avLst/>
          </a:prstGeom>
          <a:solidFill>
            <a:srgbClr val="DD6B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5138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2단계-C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68880" y="55138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5513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컷오버 — 그린피는 조회전용+세금계산서 전용으로 축소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OPEN QUESTIONS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 및 확인 필요 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DE2E2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재확인 — 자격증명 노출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자동화 스크립트에 그린피·스마트ERP 로그인 정보가 평문으로 포함되어 있던 사실이 이번 TF에서도 최우선 리스크로 재확인되었습니다. 비밀번호 변경이 안 되어 있다면 우선 진행을 권장드립니다.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82296" cy="822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017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화면 구조가 사전 공지 없이 바뀔 경우 1단계 조회연동이 즉시 중단될 수 있음 — 실패 알림 체계 필요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82296" cy="822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844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미수금(30억 원 규모) 등 민감 데이터는 접근 권한을 경영지원팀·경리팀으로 제한 권장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82296" cy="822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15137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컷오버 시점(그린피 입력 중단일)은 현장 준비 상태를 보아 별도 협의 필요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55464"/>
            <a:ext cx="82296" cy="822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71830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 발행 채널은 국세청 인증 요건상 완전 자체 개발 불가 — 계속 유지 여부 확정 필요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422392"/>
            <a:ext cx="82296" cy="822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5285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집중도(80%) 분석은 1주일 표본 기준 — 연간 데이터 기반 정밀 검증 필요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ERP 심층 분석 · 데이터 상세 검토 · 스마트ERP 2.0 수용 방안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828800" cy="0"/>
          </a:xfrm>
          <a:prstGeom prst="line">
            <a:avLst/>
          </a:prstGeom>
          <a:noFill/>
          <a:ln w="31750">
            <a:solidFill>
              <a:srgbClr val="DD6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내용은 별첨 기획서(오성철강_그린피ERP분석_스마트ERP수용방안.docx) 참조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2026-07-17T14:40:24Z</dcterms:created>
  <dcterms:modified xsi:type="dcterms:W3CDTF">2026-07-17T14:40:24Z</dcterms:modified>
</cp:coreProperties>
</file>